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8"/>
  </p:notesMasterIdLst>
  <p:sldIdLst>
    <p:sldId id="258" r:id="rId2"/>
    <p:sldId id="373" r:id="rId3"/>
    <p:sldId id="374" r:id="rId4"/>
    <p:sldId id="259" r:id="rId5"/>
    <p:sldId id="372" r:id="rId6"/>
    <p:sldId id="371" r:id="rId7"/>
    <p:sldId id="260" r:id="rId8"/>
    <p:sldId id="263" r:id="rId9"/>
    <p:sldId id="264" r:id="rId10"/>
    <p:sldId id="267" r:id="rId11"/>
    <p:sldId id="268" r:id="rId12"/>
    <p:sldId id="270" r:id="rId13"/>
    <p:sldId id="271" r:id="rId14"/>
    <p:sldId id="274" r:id="rId15"/>
    <p:sldId id="275" r:id="rId16"/>
    <p:sldId id="276" r:id="rId17"/>
    <p:sldId id="278" r:id="rId18"/>
    <p:sldId id="279" r:id="rId19"/>
    <p:sldId id="280" r:id="rId20"/>
    <p:sldId id="281" r:id="rId21"/>
    <p:sldId id="284" r:id="rId22"/>
    <p:sldId id="285" r:id="rId23"/>
    <p:sldId id="287" r:id="rId24"/>
    <p:sldId id="288" r:id="rId25"/>
    <p:sldId id="291" r:id="rId26"/>
    <p:sldId id="292" r:id="rId27"/>
    <p:sldId id="294" r:id="rId28"/>
    <p:sldId id="295" r:id="rId29"/>
    <p:sldId id="297" r:id="rId30"/>
    <p:sldId id="298" r:id="rId31"/>
    <p:sldId id="300" r:id="rId32"/>
    <p:sldId id="301" r:id="rId33"/>
    <p:sldId id="308" r:id="rId34"/>
    <p:sldId id="309" r:id="rId35"/>
    <p:sldId id="310" r:id="rId36"/>
    <p:sldId id="313" r:id="rId37"/>
    <p:sldId id="314" r:id="rId38"/>
    <p:sldId id="317" r:id="rId39"/>
    <p:sldId id="318" r:id="rId40"/>
    <p:sldId id="330" r:id="rId41"/>
    <p:sldId id="342" r:id="rId42"/>
    <p:sldId id="332" r:id="rId43"/>
    <p:sldId id="333" r:id="rId44"/>
    <p:sldId id="334" r:id="rId45"/>
    <p:sldId id="335" r:id="rId46"/>
    <p:sldId id="336" r:id="rId47"/>
  </p:sldIdLst>
  <p:sldSz cx="6858000" cy="9144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C3AB68F2-8ADD-FE4E-AC48-723F45009116}">
          <p14:sldIdLst/>
        </p14:section>
        <p14:section name="Untitled Section" id="{3E40576E-86F3-BE48-81EB-1010E3E97621}">
          <p14:sldIdLst>
            <p14:sldId id="258"/>
            <p14:sldId id="373"/>
            <p14:sldId id="374"/>
            <p14:sldId id="259"/>
            <p14:sldId id="372"/>
            <p14:sldId id="371"/>
            <p14:sldId id="260"/>
            <p14:sldId id="263"/>
            <p14:sldId id="264"/>
            <p14:sldId id="267"/>
            <p14:sldId id="268"/>
            <p14:sldId id="270"/>
            <p14:sldId id="271"/>
            <p14:sldId id="274"/>
            <p14:sldId id="275"/>
            <p14:sldId id="276"/>
            <p14:sldId id="278"/>
            <p14:sldId id="279"/>
            <p14:sldId id="280"/>
            <p14:sldId id="281"/>
            <p14:sldId id="284"/>
            <p14:sldId id="285"/>
            <p14:sldId id="287"/>
            <p14:sldId id="288"/>
            <p14:sldId id="291"/>
            <p14:sldId id="292"/>
            <p14:sldId id="294"/>
            <p14:sldId id="295"/>
            <p14:sldId id="297"/>
            <p14:sldId id="298"/>
            <p14:sldId id="300"/>
            <p14:sldId id="301"/>
            <p14:sldId id="308"/>
            <p14:sldId id="309"/>
            <p14:sldId id="310"/>
            <p14:sldId id="313"/>
            <p14:sldId id="314"/>
            <p14:sldId id="317"/>
            <p14:sldId id="318"/>
            <p14:sldId id="330"/>
            <p14:sldId id="342"/>
            <p14:sldId id="332"/>
            <p14:sldId id="333"/>
            <p14:sldId id="334"/>
            <p14:sldId id="335"/>
            <p14:sldId id="336"/>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6" roundtripDataSignature="AMtx7mgjoOzfykEg+H6Nde1ML1s5P3qVP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A00"/>
    <a:srgbClr val="C078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C760E6-1B21-447E-AD2F-912B2140AA3E}">
  <a:tblStyle styleId="{CAC760E6-1B21-447E-AD2F-912B2140AA3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6208"/>
  </p:normalViewPr>
  <p:slideViewPr>
    <p:cSldViewPr snapToGrid="0">
      <p:cViewPr varScale="1">
        <p:scale>
          <a:sx n="93" d="100"/>
          <a:sy n="93" d="100"/>
        </p:scale>
        <p:origin x="2864" y="20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10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110"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10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93ad95d09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g93ad95d091_0_0: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84d7870085_0_6: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g84d7870085_0_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g84d7870085_0_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2: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3: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7787bb92c3_0_4: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g7787bb92c3_0_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g7787bb92c3_0_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7d70e11da_0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g77d70e11da_0_2: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77d70e11da_0_9: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77d70e11da_0_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g77d70e11da_0_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77d70e11da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g77d70e11da_0_15: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782f7d498b_0_14: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g782f7d498b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782f7d498b_0_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782f7d498b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g782f7d498b_0_27: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782f7d498b_0_34: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782f7d498b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g782f7d498b_0_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783ce67ac1_0_5: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783ce67ac1_0_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783ce67ac1_0_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783ce67ac1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783ce67ac1_0_21: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8701af7b45_0_59: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g8701af7b45_0_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8701af7b45_0_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8701af7b45_0_69: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g8701af7b45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g8701af7b45_0_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783ce67ac1_0_38: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g783ce67ac1_0_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783ce67ac1_0_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783ce67ac1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g783ce67ac1_0_47: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783ce67ac1_0_54: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g783ce67ac1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g783ce67ac1_0_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4: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8701af7b45_0_79: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g8701af7b45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g8701af7b45_0_7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783ce67ac1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6" name="Google Shape;366;g783ce67ac1_0_107: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783ce67ac1_0_114: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g783ce67ac1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g783ce67ac1_0_1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783ce67ac1_0_1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g783ce67ac1_0_152: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783ce67ac1_0_159: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g783ce67ac1_0_1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g783ce67ac1_0_1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783ce67ac1_0_1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2" name="Google Shape;412;g783ce67ac1_0_174: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8701af7b45_0_85: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g8701af7b45_0_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1" name="Google Shape;421;g8701af7b45_0_8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783ce67ac1_0_1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5" name="Google Shape;435;g783ce67ac1_0_199: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783ce67ac1_0_213: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g783ce67ac1_0_2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g783ce67ac1_0_2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32</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8701af7b45_0_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5" name="Google Shape;495;g8701af7b45_0_3: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p5: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783ce67ac1_0_242: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9" name="Google Shape;519;g783ce67ac1_0_2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0" name="Google Shape;520;g783ce67ac1_0_2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35</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783ce67ac1_0_2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g783ce67ac1_0_258: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783ce67ac1_0_265: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9" name="Google Shape;549;g783ce67ac1_0_2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0" name="Google Shape;550;g783ce67ac1_0_2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37</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783ce67ac1_0_2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5" name="Google Shape;575;g783ce67ac1_0_275: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783ce67ac1_0_282: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3" name="Google Shape;583;g783ce67ac1_0_2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4" name="Google Shape;584;g783ce67ac1_0_2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39</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g8701af7b45_0_1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5" name="Google Shape;705;g8701af7b45_0_117: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8701af7b45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8701af7b45_0_29: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93109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p6: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7" name="Google Shape;757;p7: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p8: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p9: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p10: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12"/>
          <p:cNvSpPr txBox="1">
            <a:spLocks noGrp="1"/>
          </p:cNvSpPr>
          <p:nvPr>
            <p:ph type="title"/>
          </p:nvPr>
        </p:nvSpPr>
        <p:spPr>
          <a:xfrm>
            <a:off x="541735" y="5875867"/>
            <a:ext cx="5829300" cy="18161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body" idx="1"/>
          </p:nvPr>
        </p:nvSpPr>
        <p:spPr>
          <a:xfrm>
            <a:off x="541735" y="3875619"/>
            <a:ext cx="5829300" cy="2000249"/>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18" name="Google Shape;18;p12"/>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20" name="Google Shape;20;p12"/>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342900" y="366184"/>
            <a:ext cx="6172200" cy="1524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342900" y="2133602"/>
            <a:ext cx="6172200" cy="6034617"/>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26" name="Google Shape;26;p14"/>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13"/>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3"/>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30" name="Google Shape;30;p13"/>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1"/>
        <p:cNvGrpSpPr/>
        <p:nvPr/>
      </p:nvGrpSpPr>
      <p:grpSpPr>
        <a:xfrm>
          <a:off x="0" y="0"/>
          <a:ext cx="0" cy="0"/>
          <a:chOff x="0" y="0"/>
          <a:chExt cx="0" cy="0"/>
        </a:xfrm>
      </p:grpSpPr>
      <p:sp>
        <p:nvSpPr>
          <p:cNvPr id="32" name="Google Shape;32;p15"/>
          <p:cNvSpPr txBox="1">
            <a:spLocks noGrp="1"/>
          </p:cNvSpPr>
          <p:nvPr>
            <p:ph type="ctrTitle"/>
          </p:nvPr>
        </p:nvSpPr>
        <p:spPr>
          <a:xfrm>
            <a:off x="514350" y="2840569"/>
            <a:ext cx="5829300" cy="1960033"/>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5"/>
          <p:cNvSpPr txBox="1">
            <a:spLocks noGrp="1"/>
          </p:cNvSpPr>
          <p:nvPr>
            <p:ph type="subTitle" idx="1"/>
          </p:nvPr>
        </p:nvSpPr>
        <p:spPr>
          <a:xfrm>
            <a:off x="1028700" y="5181600"/>
            <a:ext cx="4800600" cy="23368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4" name="Google Shape;34;p15"/>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36" name="Google Shape;36;p15"/>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6"/>
          <p:cNvSpPr txBox="1">
            <a:spLocks noGrp="1"/>
          </p:cNvSpPr>
          <p:nvPr>
            <p:ph type="title"/>
          </p:nvPr>
        </p:nvSpPr>
        <p:spPr>
          <a:xfrm>
            <a:off x="342900" y="366184"/>
            <a:ext cx="6172200" cy="1524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body" idx="1"/>
          </p:nvPr>
        </p:nvSpPr>
        <p:spPr>
          <a:xfrm>
            <a:off x="342901" y="2133602"/>
            <a:ext cx="3028950" cy="6034617"/>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16"/>
          <p:cNvSpPr txBox="1">
            <a:spLocks noGrp="1"/>
          </p:cNvSpPr>
          <p:nvPr>
            <p:ph type="body" idx="2"/>
          </p:nvPr>
        </p:nvSpPr>
        <p:spPr>
          <a:xfrm>
            <a:off x="3486150" y="2133602"/>
            <a:ext cx="3028950" cy="6034617"/>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16"/>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43" name="Google Shape;43;p16"/>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7"/>
          <p:cNvSpPr txBox="1">
            <a:spLocks noGrp="1"/>
          </p:cNvSpPr>
          <p:nvPr>
            <p:ph type="title"/>
          </p:nvPr>
        </p:nvSpPr>
        <p:spPr>
          <a:xfrm>
            <a:off x="342900" y="366184"/>
            <a:ext cx="6172200" cy="1524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7"/>
          <p:cNvSpPr txBox="1">
            <a:spLocks noGrp="1"/>
          </p:cNvSpPr>
          <p:nvPr>
            <p:ph type="body" idx="1"/>
          </p:nvPr>
        </p:nvSpPr>
        <p:spPr>
          <a:xfrm>
            <a:off x="342901" y="2046817"/>
            <a:ext cx="3030141" cy="853016"/>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7" name="Google Shape;47;p17"/>
          <p:cNvSpPr txBox="1">
            <a:spLocks noGrp="1"/>
          </p:cNvSpPr>
          <p:nvPr>
            <p:ph type="body" idx="2"/>
          </p:nvPr>
        </p:nvSpPr>
        <p:spPr>
          <a:xfrm>
            <a:off x="342901" y="2899833"/>
            <a:ext cx="3030141" cy="5268384"/>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8" name="Google Shape;48;p17"/>
          <p:cNvSpPr txBox="1">
            <a:spLocks noGrp="1"/>
          </p:cNvSpPr>
          <p:nvPr>
            <p:ph type="body" idx="3"/>
          </p:nvPr>
        </p:nvSpPr>
        <p:spPr>
          <a:xfrm>
            <a:off x="3483770" y="2046817"/>
            <a:ext cx="3031331" cy="853016"/>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17"/>
          <p:cNvSpPr txBox="1">
            <a:spLocks noGrp="1"/>
          </p:cNvSpPr>
          <p:nvPr>
            <p:ph type="body" idx="4"/>
          </p:nvPr>
        </p:nvSpPr>
        <p:spPr>
          <a:xfrm>
            <a:off x="3483770" y="2899833"/>
            <a:ext cx="3031331" cy="5268384"/>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17"/>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52" name="Google Shape;52;p17"/>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8"/>
          <p:cNvSpPr txBox="1">
            <a:spLocks noGrp="1"/>
          </p:cNvSpPr>
          <p:nvPr>
            <p:ph type="title"/>
          </p:nvPr>
        </p:nvSpPr>
        <p:spPr>
          <a:xfrm>
            <a:off x="342900" y="366184"/>
            <a:ext cx="6172200" cy="1524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8"/>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57" name="Google Shape;57;p18"/>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342900" y="364067"/>
            <a:ext cx="2256235" cy="1549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2681288" y="364067"/>
            <a:ext cx="3833813" cy="7804151"/>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19"/>
          <p:cNvSpPr txBox="1">
            <a:spLocks noGrp="1"/>
          </p:cNvSpPr>
          <p:nvPr>
            <p:ph type="body" idx="2"/>
          </p:nvPr>
        </p:nvSpPr>
        <p:spPr>
          <a:xfrm>
            <a:off x="342900" y="1913468"/>
            <a:ext cx="2256235" cy="625475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19"/>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64" name="Google Shape;64;p19"/>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1344216" y="6400801"/>
            <a:ext cx="4114800" cy="755651"/>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0"/>
          <p:cNvSpPr>
            <a:spLocks noGrp="1"/>
          </p:cNvSpPr>
          <p:nvPr>
            <p:ph type="pic" idx="2"/>
          </p:nvPr>
        </p:nvSpPr>
        <p:spPr>
          <a:xfrm>
            <a:off x="1344216" y="817033"/>
            <a:ext cx="4114800" cy="54864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20"/>
          <p:cNvSpPr txBox="1">
            <a:spLocks noGrp="1"/>
          </p:cNvSpPr>
          <p:nvPr>
            <p:ph type="body" idx="1"/>
          </p:nvPr>
        </p:nvSpPr>
        <p:spPr>
          <a:xfrm>
            <a:off x="1344216" y="7156452"/>
            <a:ext cx="4114800" cy="1073149"/>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0"/>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71" name="Google Shape;71;p20"/>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342900" y="366184"/>
            <a:ext cx="6172200" cy="1524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1"/>
          <p:cNvSpPr txBox="1">
            <a:spLocks noGrp="1"/>
          </p:cNvSpPr>
          <p:nvPr>
            <p:ph type="body" idx="1"/>
          </p:nvPr>
        </p:nvSpPr>
        <p:spPr>
          <a:xfrm rot="5400000">
            <a:off x="411692" y="2064810"/>
            <a:ext cx="6034617" cy="61722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1"/>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77" name="Google Shape;77;p21"/>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rot="5400000">
            <a:off x="1842558" y="3495678"/>
            <a:ext cx="7802033" cy="15430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2"/>
          <p:cNvSpPr txBox="1">
            <a:spLocks noGrp="1"/>
          </p:cNvSpPr>
          <p:nvPr>
            <p:ph type="body" idx="1"/>
          </p:nvPr>
        </p:nvSpPr>
        <p:spPr>
          <a:xfrm rot="5400000">
            <a:off x="-1300692" y="2009778"/>
            <a:ext cx="7802033" cy="451485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2"/>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V9B</a:t>
            </a:r>
            <a:endParaRPr/>
          </a:p>
        </p:txBody>
      </p:sp>
      <p:sp>
        <p:nvSpPr>
          <p:cNvPr id="83" name="Google Shape;83;p22"/>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8CB3E3"/>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342900" y="366184"/>
            <a:ext cx="6172200" cy="1524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1"/>
          <p:cNvSpPr txBox="1">
            <a:spLocks noGrp="1"/>
          </p:cNvSpPr>
          <p:nvPr>
            <p:ph type="body" idx="1"/>
          </p:nvPr>
        </p:nvSpPr>
        <p:spPr>
          <a:xfrm>
            <a:off x="342900" y="2133602"/>
            <a:ext cx="6172200" cy="6034617"/>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342900" y="8475135"/>
            <a:ext cx="1600200" cy="48683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2343150" y="8475135"/>
            <a:ext cx="2171700" cy="486833"/>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V9B</a:t>
            </a:r>
            <a:endParaRPr/>
          </a:p>
        </p:txBody>
      </p:sp>
      <p:sp>
        <p:nvSpPr>
          <p:cNvPr id="14" name="Google Shape;14;p11"/>
          <p:cNvSpPr txBox="1">
            <a:spLocks noGrp="1"/>
          </p:cNvSpPr>
          <p:nvPr>
            <p:ph type="sldNum" idx="12"/>
          </p:nvPr>
        </p:nvSpPr>
        <p:spPr>
          <a:xfrm>
            <a:off x="4914900" y="8475135"/>
            <a:ext cx="1600200" cy="486833"/>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neighborhoodatlas.medicine.wisc.edu/mapping" TargetMode="External"/><Relationship Id="rId7"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hyperlink" Target="https://ndot.maps.arcgis.com/apps/webappviewer/index.html?id=00d23dc547eb4382bef9beabe07eaefd"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neighborhoodatlas.medicine.wisc.edu/mappin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neighborhoodatlas.medicine.wisc.edu/mapping" TargetMode="External"/><Relationship Id="rId7"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https://ndot.maps.arcgis.com/apps/webappviewer/index.html?id=00d23dc547eb4382bef9beabe07eaefd"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data.census.gov/cedsci/map?q=S0801&amp;g=0500000US32003.14000&amp;layer=VT_2017_140_00_PY_D1&amp;vintage=2017&amp;tid=ACSST5Y2017.S0801&amp;cid=S0801_C01_011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neighborhoodatlas.medicine.wisc.edu/mapping" TargetMode="External"/><Relationship Id="rId7"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s://ndot.maps.arcgis.com/apps/webappviewer/index.html?id=00d23dc547eb4382bef9beabe07eaefd"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data.census.gov/cedsci/map?q=S0801&amp;tid=ACSST5Y2017.S0801&amp;vintage=2017&amp;layer=VT_2017_140_00_PY_D1&amp;cid=S0801_C01_010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neighborhoodatlas.medicine.wisc.edu/mapping" TargetMode="External"/><Relationship Id="rId7"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hyperlink" Target="https://ndot.maps.arcgis.com/apps/webappviewer/index.html?id=00d23dc547eb4382bef9beabe07eaefd"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ndot.maps.arcgis.com/apps/webappviewer/index.html?id=00d23dc547eb4382bef9beabe07eaefd"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neighborhoodatlas.medicine.wisc.edu/mapping" TargetMode="External"/><Relationship Id="rId7"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hyperlink" Target="https://ndot.maps.arcgis.com/apps/webappviewer/index.html?id=00d23dc547eb4382bef9beabe07eaefd"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ndot.maps.arcgis.com/apps/webappviewer/index.html?id=00d23dc547eb4382bef9beabe07eaefd"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neighborhoodatlas.medicine.wisc.edu/mapping" TargetMode="External"/><Relationship Id="rId7"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hyperlink" Target="https://ndot.maps.arcgis.com/apps/webappviewer/index.html?id=00d23dc547eb4382bef9beabe07eaefd"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hyperlink" Target="https://geoview-lasvegasnevada-gov.appspot.com/"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hyperlink" Target="https://geoview-lasvegasnevada-gov.appspot.com/"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geoview-lasvegasnevada-gov.appspot.com/"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hyperlink" Target="https://geoview-lasvegasnevada-gov.appspot.com/"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geoview-lasvegasnevada-gov.appspot.com/"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hyperlink" Target="https://geoview-lasvegasnevada-gov.appspot.com/"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geoview-lasvegasnevada-gov.appspot.com/"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geodata.epa.gov/arcgis/rest/services/OA/SmartLocationDatabase/MapServer"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hyperlink" Target="https://geoview-lasvegasnevada-gov.appspot.com/"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geoview-lasvegasnevada-gov.appspot.com/"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geodata.epa.gov/arcgis/rest/services/OA/WalkabilityIndex/MapServer"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s://drjimsallis.org/measure_maps.html#MAPSMINI"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geodata.epa.gov/arcgis/rest/services/OA/WalkabilityIndex/MapServer"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geodata.epa.gov/arcgis/rest/services/OA/WalkabilityIndex/MapServer"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hyperlink" Target="https://drjimsallis.org/measure_maps.html#MAPSMINI"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rtcsnv.maps.arcgis.com/apps/webappviewer/index.html?id=f3ee5b445fdf48d18e6969ef106c5e09"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geodata.epa.gov/arcgis/rest/services/OA/WalkabilityIndex/MapServer"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hyperlink" Target="https://drjimsallis.org/measure_maps.html#MAPSMINI"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drjimsallis.org/measure_maps.html#MAPSMINI"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g93ad95d091_0_0"/>
          <p:cNvSpPr txBox="1">
            <a:spLocks noGrp="1"/>
          </p:cNvSpPr>
          <p:nvPr>
            <p:ph type="title"/>
          </p:nvPr>
        </p:nvSpPr>
        <p:spPr>
          <a:xfrm>
            <a:off x="541735" y="5875867"/>
            <a:ext cx="5829300" cy="1816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3600"/>
              <a:buFont typeface="Calibri"/>
              <a:buNone/>
            </a:pPr>
            <a:r>
              <a:rPr lang="en-US" sz="3600" dirty="0"/>
              <a:t>DECISION SUPPORT TOOL</a:t>
            </a:r>
          </a:p>
        </p:txBody>
      </p:sp>
      <p:sp>
        <p:nvSpPr>
          <p:cNvPr id="102" name="Google Shape;102;g93ad95d091_0_0"/>
          <p:cNvSpPr txBox="1">
            <a:spLocks noGrp="1"/>
          </p:cNvSpPr>
          <p:nvPr>
            <p:ph type="body" idx="1"/>
          </p:nvPr>
        </p:nvSpPr>
        <p:spPr>
          <a:xfrm>
            <a:off x="541735" y="3875619"/>
            <a:ext cx="5829300" cy="20001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88888"/>
              </a:buClr>
              <a:buSzPts val="2000"/>
              <a:buNone/>
            </a:pPr>
            <a:r>
              <a:rPr lang="en-US" dirty="0"/>
              <a:t>Version 9B</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62BE-CBF1-484B-9DDE-942EC9AE687A}"/>
              </a:ext>
            </a:extLst>
          </p:cNvPr>
          <p:cNvSpPr>
            <a:spLocks noGrp="1"/>
          </p:cNvSpPr>
          <p:nvPr>
            <p:ph type="title"/>
          </p:nvPr>
        </p:nvSpPr>
        <p:spPr/>
        <p:txBody>
          <a:bodyPr/>
          <a:lstStyle/>
          <a:p>
            <a:r>
              <a:rPr lang="en-US" dirty="0"/>
              <a:t>Description</a:t>
            </a:r>
          </a:p>
        </p:txBody>
      </p:sp>
      <p:sp>
        <p:nvSpPr>
          <p:cNvPr id="3" name="Text Placeholder 2">
            <a:extLst>
              <a:ext uri="{FF2B5EF4-FFF2-40B4-BE49-F238E27FC236}">
                <a16:creationId xmlns:a16="http://schemas.microsoft.com/office/drawing/2014/main" id="{EEA3BD3C-28CA-8E4E-AF43-BFE5D604848F}"/>
              </a:ext>
            </a:extLst>
          </p:cNvPr>
          <p:cNvSpPr>
            <a:spLocks noGrp="1"/>
          </p:cNvSpPr>
          <p:nvPr>
            <p:ph type="body" idx="1"/>
          </p:nvPr>
        </p:nvSpPr>
        <p:spPr>
          <a:xfrm>
            <a:off x="372396" y="1890184"/>
            <a:ext cx="6172200" cy="6782761"/>
          </a:xfrm>
        </p:spPr>
        <p:txBody>
          <a:bodyPr>
            <a:normAutofit/>
          </a:bodyPr>
          <a:lstStyle/>
          <a:p>
            <a:r>
              <a:rPr lang="en-US" sz="2000" dirty="0"/>
              <a:t>The Decision Support Tool (DST) is a tool for planning, public works and transportation professionals to integrate health and equity into land use decisions to promote safe, walkable, bikeable, and connected communities. </a:t>
            </a:r>
          </a:p>
          <a:p>
            <a:r>
              <a:rPr lang="en-US" sz="2000" dirty="0"/>
              <a:t>The DST uses a three-step process to identify recommendations for a specific geographic area. </a:t>
            </a:r>
          </a:p>
          <a:p>
            <a:pPr lvl="1"/>
            <a:r>
              <a:rPr lang="en-US" sz="1600" dirty="0"/>
              <a:t>Step 1 uses secondary data related to health, equity, active transport, crashes, land use features, and connectivity to assess an area’s existing needs.</a:t>
            </a:r>
          </a:p>
          <a:p>
            <a:pPr lvl="1"/>
            <a:r>
              <a:rPr lang="en-US" sz="1600" dirty="0"/>
              <a:t>Step 2 uses secondary data and built environment audits to assess an area’s existing walking and biking infrastructure. </a:t>
            </a:r>
          </a:p>
          <a:p>
            <a:pPr lvl="1"/>
            <a:r>
              <a:rPr lang="en-US" sz="1600" dirty="0"/>
              <a:t>Results from Steps 1 and 2 yield recommendations for how to modify the area to promote walking and biking, including recommendations related to traffic calming, visibility, crosswalks and signalized intersections, bicycle and pedestrian connectivity, asset management, and aesthetics. </a:t>
            </a:r>
          </a:p>
          <a:p>
            <a:pPr lvl="1"/>
            <a:r>
              <a:rPr lang="en-US" sz="1600" dirty="0"/>
              <a:t>In general, the higher an area’s existing need and the less the area is conducive to walking and biking, the more the recommendations aim to promote active transport. </a:t>
            </a:r>
          </a:p>
        </p:txBody>
      </p:sp>
    </p:spTree>
    <p:extLst>
      <p:ext uri="{BB962C8B-B14F-4D97-AF65-F5344CB8AC3E}">
        <p14:creationId xmlns:p14="http://schemas.microsoft.com/office/powerpoint/2010/main" val="1754711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62BE-CBF1-484B-9DDE-942EC9AE687A}"/>
              </a:ext>
            </a:extLst>
          </p:cNvPr>
          <p:cNvSpPr>
            <a:spLocks noGrp="1"/>
          </p:cNvSpPr>
          <p:nvPr>
            <p:ph type="title"/>
          </p:nvPr>
        </p:nvSpPr>
        <p:spPr/>
        <p:txBody>
          <a:bodyPr/>
          <a:lstStyle/>
          <a:p>
            <a:r>
              <a:rPr lang="en-US" dirty="0"/>
              <a:t>Disclaimer</a:t>
            </a:r>
          </a:p>
        </p:txBody>
      </p:sp>
      <p:sp>
        <p:nvSpPr>
          <p:cNvPr id="3" name="Text Placeholder 2">
            <a:extLst>
              <a:ext uri="{FF2B5EF4-FFF2-40B4-BE49-F238E27FC236}">
                <a16:creationId xmlns:a16="http://schemas.microsoft.com/office/drawing/2014/main" id="{EEA3BD3C-28CA-8E4E-AF43-BFE5D604848F}"/>
              </a:ext>
            </a:extLst>
          </p:cNvPr>
          <p:cNvSpPr>
            <a:spLocks noGrp="1"/>
          </p:cNvSpPr>
          <p:nvPr>
            <p:ph type="body" idx="1"/>
          </p:nvPr>
        </p:nvSpPr>
        <p:spPr>
          <a:xfrm>
            <a:off x="372396" y="3923075"/>
            <a:ext cx="6172200" cy="2064772"/>
          </a:xfrm>
        </p:spPr>
        <p:txBody>
          <a:bodyPr>
            <a:normAutofit/>
          </a:bodyPr>
          <a:lstStyle/>
          <a:p>
            <a:pPr marL="114300" indent="0">
              <a:buNone/>
            </a:pPr>
            <a:r>
              <a:rPr lang="en-US" sz="1800" i="1" u="sng" dirty="0"/>
              <a:t>Disclaimer</a:t>
            </a:r>
            <a:r>
              <a:rPr lang="en-US" sz="1800" i="1" dirty="0"/>
              <a:t>: This Decision Support Tool relies on external sources of information, data, and analysis. The accuracy, recency, and availability of this information, data, and analysis depends on the organizations that maintain them. DST sources should be periodically verified and the DST updated to reflect any changes. </a:t>
            </a:r>
          </a:p>
        </p:txBody>
      </p:sp>
    </p:spTree>
    <p:extLst>
      <p:ext uri="{BB962C8B-B14F-4D97-AF65-F5344CB8AC3E}">
        <p14:creationId xmlns:p14="http://schemas.microsoft.com/office/powerpoint/2010/main" val="378512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84d7870085_0_6"/>
          <p:cNvSpPr txBox="1">
            <a:spLocks noGrp="1"/>
          </p:cNvSpPr>
          <p:nvPr>
            <p:ph type="title"/>
          </p:nvPr>
        </p:nvSpPr>
        <p:spPr>
          <a:xfrm>
            <a:off x="342900" y="84054"/>
            <a:ext cx="6172200" cy="861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a:t>Instructions</a:t>
            </a:r>
            <a:endParaRPr/>
          </a:p>
        </p:txBody>
      </p:sp>
      <p:sp>
        <p:nvSpPr>
          <p:cNvPr id="109" name="Google Shape;109;g84d7870085_0_6"/>
          <p:cNvSpPr txBox="1">
            <a:spLocks noGrp="1"/>
          </p:cNvSpPr>
          <p:nvPr>
            <p:ph type="body" idx="1"/>
          </p:nvPr>
        </p:nvSpPr>
        <p:spPr>
          <a:xfrm>
            <a:off x="390525" y="860625"/>
            <a:ext cx="6172200" cy="7708500"/>
          </a:xfrm>
          <a:prstGeom prst="rect">
            <a:avLst/>
          </a:prstGeom>
          <a:noFill/>
          <a:ln>
            <a:noFill/>
          </a:ln>
        </p:spPr>
        <p:txBody>
          <a:bodyPr spcFirstLastPara="1" wrap="square" lIns="91425" tIns="45700" rIns="91425" bIns="45700" anchor="t" anchorCtr="0">
            <a:noAutofit/>
          </a:bodyPr>
          <a:lstStyle/>
          <a:p>
            <a:pPr marL="0" lvl="0" indent="0" algn="l" rtl="0">
              <a:lnSpc>
                <a:spcPct val="107916"/>
              </a:lnSpc>
              <a:spcBef>
                <a:spcPts val="0"/>
              </a:spcBef>
              <a:spcAft>
                <a:spcPts val="0"/>
              </a:spcAft>
              <a:buSzPts val="1800"/>
              <a:buNone/>
            </a:pPr>
            <a:r>
              <a:rPr lang="en-US" sz="1500" u="sng" dirty="0"/>
              <a:t>The Big Picture</a:t>
            </a:r>
            <a:endParaRPr sz="1500" u="sng" dirty="0"/>
          </a:p>
          <a:p>
            <a:pPr marL="457200" lvl="0" indent="-323850" algn="l" rtl="0">
              <a:lnSpc>
                <a:spcPct val="107916"/>
              </a:lnSpc>
              <a:spcBef>
                <a:spcPts val="0"/>
              </a:spcBef>
              <a:spcAft>
                <a:spcPts val="0"/>
              </a:spcAft>
              <a:buSzPts val="1500"/>
              <a:buFont typeface="Calibri"/>
              <a:buChar char="●"/>
            </a:pPr>
            <a:r>
              <a:rPr lang="en-US" sz="1500" dirty="0"/>
              <a:t>The purpose of this Decision Support Tool is to consider health when assessing, designing, and building land use projects. </a:t>
            </a:r>
            <a:endParaRPr sz="1500" dirty="0"/>
          </a:p>
          <a:p>
            <a:pPr marL="457200" lvl="0" indent="-323850" algn="l" rtl="0">
              <a:lnSpc>
                <a:spcPct val="107916"/>
              </a:lnSpc>
              <a:spcBef>
                <a:spcPts val="0"/>
              </a:spcBef>
              <a:spcAft>
                <a:spcPts val="0"/>
              </a:spcAft>
              <a:buSzPts val="1500"/>
              <a:buFont typeface="Calibri"/>
              <a:buChar char="●"/>
            </a:pPr>
            <a:r>
              <a:rPr lang="en-US" sz="1500" dirty="0"/>
              <a:t>Step 1 of this Tool considers active transportation, equity, crashes, land use, and connectivity. Step 2 assesses existing infrastructure. Step 3 provides recommendations that take health into account. </a:t>
            </a:r>
            <a:endParaRPr sz="1500" dirty="0"/>
          </a:p>
          <a:p>
            <a:pPr marL="0" lvl="0" indent="0" algn="l" rtl="0">
              <a:lnSpc>
                <a:spcPct val="107916"/>
              </a:lnSpc>
              <a:spcBef>
                <a:spcPts val="0"/>
              </a:spcBef>
              <a:spcAft>
                <a:spcPts val="0"/>
              </a:spcAft>
              <a:buSzPts val="1800"/>
              <a:buNone/>
            </a:pPr>
            <a:endParaRPr sz="1500" dirty="0"/>
          </a:p>
          <a:p>
            <a:pPr marL="0" lvl="0" indent="0" algn="l" rtl="0">
              <a:lnSpc>
                <a:spcPct val="107916"/>
              </a:lnSpc>
              <a:spcBef>
                <a:spcPts val="0"/>
              </a:spcBef>
              <a:spcAft>
                <a:spcPts val="0"/>
              </a:spcAft>
              <a:buSzPts val="1800"/>
              <a:buNone/>
            </a:pPr>
            <a:r>
              <a:rPr lang="en-US" sz="1500" u="sng" dirty="0"/>
              <a:t>Using the Tool</a:t>
            </a:r>
            <a:endParaRPr sz="1500" u="sng" dirty="0"/>
          </a:p>
          <a:p>
            <a:pPr marL="457200" lvl="0" indent="-323850" algn="l" rtl="0">
              <a:lnSpc>
                <a:spcPct val="107916"/>
              </a:lnSpc>
              <a:spcBef>
                <a:spcPts val="0"/>
              </a:spcBef>
              <a:spcAft>
                <a:spcPts val="0"/>
              </a:spcAft>
              <a:buSzPts val="1500"/>
              <a:buFont typeface="Calibri"/>
              <a:buChar char="●"/>
            </a:pPr>
            <a:r>
              <a:rPr lang="en-US" sz="1500" dirty="0"/>
              <a:t>Before using this tool, please identify a specific geographic area for a land use project.</a:t>
            </a:r>
            <a:endParaRPr sz="1500" dirty="0"/>
          </a:p>
          <a:p>
            <a:pPr marL="457200" lvl="0" indent="-323850" algn="l" rtl="0">
              <a:lnSpc>
                <a:spcPct val="107916"/>
              </a:lnSpc>
              <a:spcBef>
                <a:spcPts val="0"/>
              </a:spcBef>
              <a:spcAft>
                <a:spcPts val="0"/>
              </a:spcAft>
              <a:buSzPts val="1500"/>
              <a:buFont typeface="Calibri"/>
              <a:buChar char="●"/>
            </a:pPr>
            <a:r>
              <a:rPr lang="en-US" sz="1500" dirty="0"/>
              <a:t>Next, complete Steps 1 and 2, which involve gathering information through a series of questions. </a:t>
            </a:r>
            <a:endParaRPr sz="1500" dirty="0"/>
          </a:p>
          <a:p>
            <a:pPr marL="457200" lvl="0" indent="-323850" algn="l" rtl="0">
              <a:lnSpc>
                <a:spcPct val="107916"/>
              </a:lnSpc>
              <a:spcBef>
                <a:spcPts val="0"/>
              </a:spcBef>
              <a:spcAft>
                <a:spcPts val="0"/>
              </a:spcAft>
              <a:buSzPts val="1500"/>
              <a:buFont typeface="Calibri"/>
              <a:buChar char="●"/>
            </a:pPr>
            <a:r>
              <a:rPr lang="en-US" sz="1500" dirty="0"/>
              <a:t>Finally, use the information collected through Steps 1 and 2 to select project recommendations in Step 3 that take health into account. </a:t>
            </a:r>
            <a:endParaRPr sz="1500" dirty="0"/>
          </a:p>
          <a:p>
            <a:pPr marL="0" lvl="0" indent="0" algn="l" rtl="0">
              <a:lnSpc>
                <a:spcPct val="107916"/>
              </a:lnSpc>
              <a:spcBef>
                <a:spcPts val="0"/>
              </a:spcBef>
              <a:spcAft>
                <a:spcPts val="0"/>
              </a:spcAft>
              <a:buSzPts val="1800"/>
              <a:buNone/>
            </a:pPr>
            <a:endParaRPr sz="1500" dirty="0"/>
          </a:p>
          <a:p>
            <a:pPr marL="0" lvl="0" indent="0" algn="l" rtl="0">
              <a:lnSpc>
                <a:spcPct val="107916"/>
              </a:lnSpc>
              <a:spcBef>
                <a:spcPts val="0"/>
              </a:spcBef>
              <a:spcAft>
                <a:spcPts val="0"/>
              </a:spcAft>
              <a:buSzPts val="1800"/>
              <a:buNone/>
            </a:pPr>
            <a:r>
              <a:rPr lang="en-US" sz="1500" u="sng" dirty="0"/>
              <a:t>User Tips</a:t>
            </a:r>
            <a:endParaRPr sz="1500" dirty="0"/>
          </a:p>
          <a:p>
            <a:pPr marL="457200" lvl="0" indent="-323850" algn="l" rtl="0">
              <a:lnSpc>
                <a:spcPct val="107916"/>
              </a:lnSpc>
              <a:spcBef>
                <a:spcPts val="0"/>
              </a:spcBef>
              <a:spcAft>
                <a:spcPts val="0"/>
              </a:spcAft>
              <a:buSzPts val="1500"/>
              <a:buFont typeface="Calibri"/>
              <a:buChar char="●"/>
            </a:pPr>
            <a:r>
              <a:rPr lang="en-US" sz="1500" dirty="0"/>
              <a:t>Steps 1 &amp; 2 use many existing data sources available online. </a:t>
            </a:r>
            <a:endParaRPr sz="1500" dirty="0"/>
          </a:p>
          <a:p>
            <a:pPr marL="914400" lvl="1" indent="-323850" algn="l" rtl="0">
              <a:lnSpc>
                <a:spcPct val="107916"/>
              </a:lnSpc>
              <a:spcBef>
                <a:spcPts val="0"/>
              </a:spcBef>
              <a:spcAft>
                <a:spcPts val="0"/>
              </a:spcAft>
              <a:buSzPts val="1500"/>
              <a:buFont typeface="Calibri"/>
              <a:buChar char="○"/>
            </a:pPr>
            <a:r>
              <a:rPr lang="en-US" sz="1500" dirty="0"/>
              <a:t>Many of these websites are easiest to use by inputting a specific address. Select an address </a:t>
            </a:r>
            <a:r>
              <a:rPr lang="en-US" sz="1500" i="1" u="sng" dirty="0"/>
              <a:t>within</a:t>
            </a:r>
            <a:r>
              <a:rPr lang="en-US" sz="1500" dirty="0"/>
              <a:t> the project area for this purpose. Selecting an address somewhere in the middle of the project area would be helpful. </a:t>
            </a:r>
            <a:endParaRPr sz="1500" dirty="0"/>
          </a:p>
          <a:p>
            <a:pPr marL="914400" lvl="1" indent="-323850" algn="l" rtl="0">
              <a:lnSpc>
                <a:spcPct val="107916"/>
              </a:lnSpc>
              <a:spcBef>
                <a:spcPts val="0"/>
              </a:spcBef>
              <a:spcAft>
                <a:spcPts val="0"/>
              </a:spcAft>
              <a:buSzPts val="1500"/>
              <a:buFont typeface="Calibri"/>
              <a:buChar char="○"/>
            </a:pPr>
            <a:r>
              <a:rPr lang="en-US" sz="1500" dirty="0"/>
              <a:t>If a project encompasses more than one geographic unit of analysis  (e.g. Census Tract or block group), answer questions for each involved unit independently. Then, average the answers to compute final points.</a:t>
            </a:r>
            <a:endParaRPr sz="1500" dirty="0"/>
          </a:p>
          <a:p>
            <a:pPr marL="457200" lvl="0" indent="-323850" algn="l" rtl="0">
              <a:lnSpc>
                <a:spcPct val="107916"/>
              </a:lnSpc>
              <a:spcBef>
                <a:spcPts val="0"/>
              </a:spcBef>
              <a:spcAft>
                <a:spcPts val="0"/>
              </a:spcAft>
              <a:buSzPts val="1500"/>
              <a:buFont typeface="Calibri"/>
              <a:buChar char="●"/>
            </a:pPr>
            <a:r>
              <a:rPr lang="en-US" sz="1500" dirty="0"/>
              <a:t>In Step 3, use the scores calculated in Steps 1 &amp; 2 to determine whether the project should be designed and implemented using recommendations that are “good,” “better,” or “best” for promoting health.</a:t>
            </a:r>
            <a:endParaRPr sz="1500" dirty="0"/>
          </a:p>
          <a:p>
            <a:pPr marL="457200" lvl="0" indent="-323850" algn="l" rtl="0">
              <a:lnSpc>
                <a:spcPct val="107916"/>
              </a:lnSpc>
              <a:spcBef>
                <a:spcPts val="0"/>
              </a:spcBef>
              <a:spcAft>
                <a:spcPts val="0"/>
              </a:spcAft>
              <a:buSzPts val="1500"/>
              <a:buFont typeface="Calibri"/>
              <a:buChar char="●"/>
            </a:pPr>
            <a:r>
              <a:rPr lang="en-US" sz="1500" dirty="0"/>
              <a:t>This tool recognizes that projects are unique. As a result, if choosing not to pursue the recommendation contained in the tool, briefly explain why.</a:t>
            </a:r>
            <a:endParaRPr sz="1500" dirty="0"/>
          </a:p>
          <a:p>
            <a:pPr marL="0" lvl="0" indent="0" algn="l" rtl="0">
              <a:lnSpc>
                <a:spcPct val="107916"/>
              </a:lnSpc>
              <a:spcBef>
                <a:spcPts val="0"/>
              </a:spcBef>
              <a:spcAft>
                <a:spcPts val="0"/>
              </a:spcAft>
              <a:buSzPts val="1800"/>
              <a:buNone/>
            </a:pPr>
            <a:r>
              <a:rPr lang="en-US" sz="1500" dirty="0"/>
              <a:t> </a:t>
            </a:r>
            <a:endParaRPr sz="1500" dirty="0"/>
          </a:p>
          <a:p>
            <a:pPr marL="0" lvl="0" indent="0" algn="l" rtl="0">
              <a:lnSpc>
                <a:spcPct val="107916"/>
              </a:lnSpc>
              <a:spcBef>
                <a:spcPts val="0"/>
              </a:spcBef>
              <a:spcAft>
                <a:spcPts val="0"/>
              </a:spcAft>
              <a:buSzPts val="1800"/>
              <a:buNone/>
            </a:pPr>
            <a:endParaRPr sz="1500" dirty="0"/>
          </a:p>
          <a:p>
            <a:pPr marL="0" lvl="0" indent="0" algn="l" rtl="0">
              <a:lnSpc>
                <a:spcPct val="100000"/>
              </a:lnSpc>
              <a:spcBef>
                <a:spcPts val="360"/>
              </a:spcBef>
              <a:spcAft>
                <a:spcPts val="0"/>
              </a:spcAft>
              <a:buSzPts val="1800"/>
              <a:buNone/>
            </a:pPr>
            <a:endParaRPr dirty="0"/>
          </a:p>
        </p:txBody>
      </p:sp>
      <p:sp>
        <p:nvSpPr>
          <p:cNvPr id="2" name="Footer Placeholder 1">
            <a:extLst>
              <a:ext uri="{FF2B5EF4-FFF2-40B4-BE49-F238E27FC236}">
                <a16:creationId xmlns:a16="http://schemas.microsoft.com/office/drawing/2014/main" id="{33AE24EF-CC44-9541-86CF-04B660BFA93C}"/>
              </a:ext>
            </a:extLst>
          </p:cNvPr>
          <p:cNvSpPr>
            <a:spLocks noGrp="1"/>
          </p:cNvSpPr>
          <p:nvPr>
            <p:ph type="ftr" idx="11"/>
          </p:nvPr>
        </p:nvSpPr>
        <p:spPr/>
        <p:txBody>
          <a:bodyPr/>
          <a:lstStyle/>
          <a:p>
            <a:r>
              <a:rPr lang="en-US"/>
              <a:t>V9B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23D28-58F8-2D4A-AB06-F1638234AC4A}"/>
              </a:ext>
            </a:extLst>
          </p:cNvPr>
          <p:cNvSpPr>
            <a:spLocks noGrp="1"/>
          </p:cNvSpPr>
          <p:nvPr>
            <p:ph type="title"/>
          </p:nvPr>
        </p:nvSpPr>
        <p:spPr>
          <a:xfrm>
            <a:off x="398319" y="-15091"/>
            <a:ext cx="6172200" cy="742180"/>
          </a:xfrm>
        </p:spPr>
        <p:txBody>
          <a:bodyPr>
            <a:normAutofit/>
          </a:bodyPr>
          <a:lstStyle/>
          <a:p>
            <a:r>
              <a:rPr lang="en-US" sz="3200" dirty="0"/>
              <a:t>Substantive Changes from V8 to V9 </a:t>
            </a:r>
          </a:p>
        </p:txBody>
      </p:sp>
      <p:graphicFrame>
        <p:nvGraphicFramePr>
          <p:cNvPr id="4" name="Table 3">
            <a:extLst>
              <a:ext uri="{FF2B5EF4-FFF2-40B4-BE49-F238E27FC236}">
                <a16:creationId xmlns:a16="http://schemas.microsoft.com/office/drawing/2014/main" id="{7DB24DF8-5BA7-4841-96FF-5DD28359DA3E}"/>
              </a:ext>
            </a:extLst>
          </p:cNvPr>
          <p:cNvGraphicFramePr>
            <a:graphicFrameLocks noGrp="1"/>
          </p:cNvGraphicFramePr>
          <p:nvPr>
            <p:extLst>
              <p:ext uri="{D42A27DB-BD31-4B8C-83A1-F6EECF244321}">
                <p14:modId xmlns:p14="http://schemas.microsoft.com/office/powerpoint/2010/main" val="2204880771"/>
              </p:ext>
            </p:extLst>
          </p:nvPr>
        </p:nvGraphicFramePr>
        <p:xfrm>
          <a:off x="221673" y="768653"/>
          <a:ext cx="6486697" cy="8299023"/>
        </p:xfrm>
        <a:graphic>
          <a:graphicData uri="http://schemas.openxmlformats.org/drawingml/2006/table">
            <a:tbl>
              <a:tblPr>
                <a:tableStyleId>{69C7853C-536D-4A76-A0AE-DD22124D55A5}</a:tableStyleId>
              </a:tblPr>
              <a:tblGrid>
                <a:gridCol w="765570">
                  <a:extLst>
                    <a:ext uri="{9D8B030D-6E8A-4147-A177-3AD203B41FA5}">
                      <a16:colId xmlns:a16="http://schemas.microsoft.com/office/drawing/2014/main" val="2540781823"/>
                    </a:ext>
                  </a:extLst>
                </a:gridCol>
                <a:gridCol w="5721127">
                  <a:extLst>
                    <a:ext uri="{9D8B030D-6E8A-4147-A177-3AD203B41FA5}">
                      <a16:colId xmlns:a16="http://schemas.microsoft.com/office/drawing/2014/main" val="3315595857"/>
                    </a:ext>
                  </a:extLst>
                </a:gridCol>
              </a:tblGrid>
              <a:tr h="398445">
                <a:tc>
                  <a:txBody>
                    <a:bodyPr/>
                    <a:lstStyle/>
                    <a:p>
                      <a:pPr algn="ctr" rtl="0" fontAlgn="b"/>
                      <a:r>
                        <a:rPr lang="en-US" sz="1400" b="1" dirty="0">
                          <a:effectLst/>
                        </a:rPr>
                        <a:t>Topic</a:t>
                      </a:r>
                    </a:p>
                  </a:txBody>
                  <a:tcPr marL="28227" marR="28227" marT="18818" marB="18818" anchor="ctr"/>
                </a:tc>
                <a:tc>
                  <a:txBody>
                    <a:bodyPr/>
                    <a:lstStyle/>
                    <a:p>
                      <a:pPr algn="ctr" rtl="0" fontAlgn="b"/>
                      <a:r>
                        <a:rPr lang="en-US" sz="1400" b="1" dirty="0">
                          <a:effectLst/>
                        </a:rPr>
                        <a:t>Changes</a:t>
                      </a:r>
                    </a:p>
                  </a:txBody>
                  <a:tcPr marL="28227" marR="28227" marT="18818" marB="18818" anchor="ctr"/>
                </a:tc>
                <a:extLst>
                  <a:ext uri="{0D108BD9-81ED-4DB2-BD59-A6C34878D82A}">
                    <a16:rowId xmlns:a16="http://schemas.microsoft.com/office/drawing/2014/main" val="3508417555"/>
                  </a:ext>
                </a:extLst>
              </a:tr>
              <a:tr h="1134382">
                <a:tc>
                  <a:txBody>
                    <a:bodyPr/>
                    <a:lstStyle/>
                    <a:p>
                      <a:pPr rtl="0" fontAlgn="b"/>
                      <a:r>
                        <a:rPr lang="en-US" sz="1400" dirty="0">
                          <a:effectLst/>
                        </a:rPr>
                        <a:t>Overall</a:t>
                      </a:r>
                    </a:p>
                  </a:txBody>
                  <a:tcPr marL="28227" marR="28227" marT="18818" marB="18818"/>
                </a:tc>
                <a:tc>
                  <a:txBody>
                    <a:bodyPr/>
                    <a:lstStyle/>
                    <a:p>
                      <a:pPr marL="171450" marR="0" lvl="0" indent="-171450" algn="l" defTabSz="914400" rtl="0" eaLnBrk="1" fontAlgn="b"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400" dirty="0">
                          <a:solidFill>
                            <a:srgbClr val="000000"/>
                          </a:solidFill>
                          <a:effectLst/>
                        </a:rPr>
                        <a:t>Added disclaimer language about sources and possible changes. </a:t>
                      </a:r>
                    </a:p>
                    <a:p>
                      <a:pPr marL="171450" marR="0" lvl="0" indent="-171450" algn="l" defTabSz="914400" rtl="0" eaLnBrk="1" fontAlgn="b"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400" dirty="0">
                          <a:solidFill>
                            <a:srgbClr val="000000"/>
                          </a:solidFill>
                          <a:effectLst/>
                        </a:rPr>
                        <a:t>Added a description of the DST. </a:t>
                      </a:r>
                    </a:p>
                    <a:p>
                      <a:pPr marL="171450" marR="0" lvl="0" indent="-171450" algn="l" defTabSz="914400" rtl="0" eaLnBrk="1" fontAlgn="b"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400" dirty="0">
                          <a:solidFill>
                            <a:srgbClr val="000000"/>
                          </a:solidFill>
                          <a:effectLst/>
                        </a:rPr>
                        <a:t>Included a spot for a test address in the header of Step 1.</a:t>
                      </a:r>
                    </a:p>
                    <a:p>
                      <a:pPr marL="171450" marR="0" lvl="0" indent="-171450" algn="l" defTabSz="914400" rtl="0" eaLnBrk="1" fontAlgn="b"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400" dirty="0">
                          <a:solidFill>
                            <a:srgbClr val="000000"/>
                          </a:solidFill>
                          <a:effectLst/>
                        </a:rPr>
                        <a:t>Added to instructions language: “Selecting an address somewhere in the middle of the project area would be helpful.”</a:t>
                      </a:r>
                    </a:p>
                  </a:txBody>
                  <a:tcPr marL="28227" marR="28227" marT="18818" marB="18818"/>
                </a:tc>
                <a:extLst>
                  <a:ext uri="{0D108BD9-81ED-4DB2-BD59-A6C34878D82A}">
                    <a16:rowId xmlns:a16="http://schemas.microsoft.com/office/drawing/2014/main" val="4028026274"/>
                  </a:ext>
                </a:extLst>
              </a:tr>
              <a:tr h="696092">
                <a:tc>
                  <a:txBody>
                    <a:bodyPr/>
                    <a:lstStyle/>
                    <a:p>
                      <a:pPr rtl="0" fontAlgn="b"/>
                      <a:r>
                        <a:rPr lang="en-US" sz="1400" dirty="0">
                          <a:effectLst/>
                        </a:rPr>
                        <a:t>S1Q1</a:t>
                      </a:r>
                    </a:p>
                  </a:txBody>
                  <a:tcPr marL="28227" marR="28227" marT="18818" marB="18818"/>
                </a:tc>
                <a:tc>
                  <a:txBody>
                    <a:bodyPr/>
                    <a:lstStyle/>
                    <a:p>
                      <a:pPr marL="171450" indent="-171450" rtl="0" fontAlgn="b">
                        <a:buFont typeface="Arial" panose="020B0604020202020204" pitchFamily="34" charset="0"/>
                        <a:buChar char="•"/>
                      </a:pPr>
                      <a:r>
                        <a:rPr lang="en-US" sz="1400" dirty="0">
                          <a:solidFill>
                            <a:srgbClr val="000000"/>
                          </a:solidFill>
                          <a:effectLst/>
                        </a:rPr>
                        <a:t>Explained in the instructions that If the result is a decimals of .5 or over, the user should round up and if it’s smaller than .5 the user should round down.</a:t>
                      </a:r>
                    </a:p>
                  </a:txBody>
                  <a:tcPr marL="28227" marR="28227" marT="18818" marB="18818"/>
                </a:tc>
                <a:extLst>
                  <a:ext uri="{0D108BD9-81ED-4DB2-BD59-A6C34878D82A}">
                    <a16:rowId xmlns:a16="http://schemas.microsoft.com/office/drawing/2014/main" val="76507289"/>
                  </a:ext>
                </a:extLst>
              </a:tr>
              <a:tr h="257802">
                <a:tc>
                  <a:txBody>
                    <a:bodyPr/>
                    <a:lstStyle/>
                    <a:p>
                      <a:pPr rtl="0" fontAlgn="b"/>
                      <a:r>
                        <a:rPr lang="en-US" sz="1400" dirty="0">
                          <a:effectLst/>
                        </a:rPr>
                        <a:t>S1Q2</a:t>
                      </a:r>
                    </a:p>
                  </a:txBody>
                  <a:tcPr marL="28227" marR="28227" marT="18818" marB="18818"/>
                </a:tc>
                <a:tc>
                  <a:txBody>
                    <a:bodyPr/>
                    <a:lstStyle/>
                    <a:p>
                      <a:pPr marL="171450" indent="-171450" rtl="0" fontAlgn="b">
                        <a:buFont typeface="Arial" panose="020B0604020202020204" pitchFamily="34" charset="0"/>
                        <a:buChar char="•"/>
                      </a:pPr>
                      <a:r>
                        <a:rPr lang="en-US" sz="1400" dirty="0">
                          <a:solidFill>
                            <a:srgbClr val="000000"/>
                          </a:solidFill>
                          <a:effectLst/>
                        </a:rPr>
                        <a:t>Changed “key” to “legend” for clarify.</a:t>
                      </a:r>
                    </a:p>
                  </a:txBody>
                  <a:tcPr marL="28227" marR="28227" marT="18818" marB="18818"/>
                </a:tc>
                <a:extLst>
                  <a:ext uri="{0D108BD9-81ED-4DB2-BD59-A6C34878D82A}">
                    <a16:rowId xmlns:a16="http://schemas.microsoft.com/office/drawing/2014/main" val="2486155600"/>
                  </a:ext>
                </a:extLst>
              </a:tr>
              <a:tr h="257802">
                <a:tc>
                  <a:txBody>
                    <a:bodyPr/>
                    <a:lstStyle/>
                    <a:p>
                      <a:pPr rtl="0" fontAlgn="b"/>
                      <a:r>
                        <a:rPr lang="en-US" sz="1400" dirty="0">
                          <a:effectLst/>
                        </a:rPr>
                        <a:t>S1Q3</a:t>
                      </a:r>
                    </a:p>
                  </a:txBody>
                  <a:tcPr marL="28227" marR="28227" marT="18818" marB="18818"/>
                </a:tc>
                <a:tc>
                  <a:txBody>
                    <a:bodyPr/>
                    <a:lstStyle/>
                    <a:p>
                      <a:pPr marL="171450" indent="-171450" rtl="0" fontAlgn="b">
                        <a:buFont typeface="Arial" panose="020B0604020202020204" pitchFamily="34" charset="0"/>
                        <a:buChar char="•"/>
                      </a:pPr>
                      <a:r>
                        <a:rPr lang="en-US" sz="1400" dirty="0">
                          <a:solidFill>
                            <a:srgbClr val="000000"/>
                          </a:solidFill>
                          <a:effectLst/>
                        </a:rPr>
                        <a:t>Changed “key” to “legend” for clarify.</a:t>
                      </a:r>
                    </a:p>
                  </a:txBody>
                  <a:tcPr marL="28227" marR="28227" marT="18818" marB="18818"/>
                </a:tc>
                <a:extLst>
                  <a:ext uri="{0D108BD9-81ED-4DB2-BD59-A6C34878D82A}">
                    <a16:rowId xmlns:a16="http://schemas.microsoft.com/office/drawing/2014/main" val="1083870206"/>
                  </a:ext>
                </a:extLst>
              </a:tr>
              <a:tr h="476947">
                <a:tc>
                  <a:txBody>
                    <a:bodyPr/>
                    <a:lstStyle/>
                    <a:p>
                      <a:pPr rtl="0" fontAlgn="b"/>
                      <a:r>
                        <a:rPr lang="en-US" sz="1400" dirty="0">
                          <a:effectLst/>
                        </a:rPr>
                        <a:t>S1Q4</a:t>
                      </a:r>
                    </a:p>
                  </a:txBody>
                  <a:tcPr marL="28227" marR="28227" marT="18818" marB="18818"/>
                </a:tc>
                <a:tc>
                  <a:txBody>
                    <a:bodyPr/>
                    <a:lstStyle/>
                    <a:p>
                      <a:pPr marL="171450" indent="-171450" rtl="0" fontAlgn="b">
                        <a:buFont typeface="Arial" panose="020B0604020202020204" pitchFamily="34" charset="0"/>
                        <a:buChar char="•"/>
                      </a:pPr>
                      <a:r>
                        <a:rPr lang="en-US" sz="1400" dirty="0">
                          <a:solidFill>
                            <a:srgbClr val="000000"/>
                          </a:solidFill>
                          <a:effectLst/>
                        </a:rPr>
                        <a:t>Moved the arrow to the last icon.</a:t>
                      </a:r>
                    </a:p>
                    <a:p>
                      <a:pPr marL="171450" indent="-171450" rtl="0" fontAlgn="b">
                        <a:buFont typeface="Arial" panose="020B0604020202020204" pitchFamily="34" charset="0"/>
                        <a:buChar char="•"/>
                      </a:pPr>
                      <a:r>
                        <a:rPr lang="en-US" sz="1400" dirty="0">
                          <a:solidFill>
                            <a:srgbClr val="000000"/>
                          </a:solidFill>
                          <a:effectLst/>
                        </a:rPr>
                        <a:t>Moved each image under the corresponding description.</a:t>
                      </a:r>
                    </a:p>
                  </a:txBody>
                  <a:tcPr marL="28227" marR="28227" marT="18818" marB="18818"/>
                </a:tc>
                <a:extLst>
                  <a:ext uri="{0D108BD9-81ED-4DB2-BD59-A6C34878D82A}">
                    <a16:rowId xmlns:a16="http://schemas.microsoft.com/office/drawing/2014/main" val="3711140249"/>
                  </a:ext>
                </a:extLst>
              </a:tr>
              <a:tr h="1134382">
                <a:tc>
                  <a:txBody>
                    <a:bodyPr/>
                    <a:lstStyle/>
                    <a:p>
                      <a:pPr rtl="0" fontAlgn="b"/>
                      <a:r>
                        <a:rPr lang="en-US" sz="1400" dirty="0">
                          <a:effectLst/>
                        </a:rPr>
                        <a:t>S1Q6</a:t>
                      </a:r>
                    </a:p>
                  </a:txBody>
                  <a:tcPr marL="28227" marR="28227" marT="18818" marB="18818"/>
                </a:tc>
                <a:tc>
                  <a:txBody>
                    <a:bodyPr/>
                    <a:lstStyle/>
                    <a:p>
                      <a:pPr marL="171450" indent="-171450" rtl="0" fontAlgn="b">
                        <a:buFont typeface="Arial" panose="020B0604020202020204" pitchFamily="34" charset="0"/>
                        <a:buChar char="•"/>
                      </a:pPr>
                      <a:r>
                        <a:rPr lang="en-US" sz="1400" dirty="0">
                          <a:solidFill>
                            <a:srgbClr val="000000"/>
                          </a:solidFill>
                          <a:effectLst/>
                        </a:rPr>
                        <a:t>Replaced “ArcGIS Online map” with “ArcGIS Online Map Viewer.” </a:t>
                      </a:r>
                    </a:p>
                    <a:p>
                      <a:pPr marL="171450" indent="-171450" rtl="0" fontAlgn="b">
                        <a:buFont typeface="Arial" panose="020B0604020202020204" pitchFamily="34" charset="0"/>
                        <a:buChar char="•"/>
                      </a:pPr>
                      <a:r>
                        <a:rPr lang="en-US" sz="1400" dirty="0">
                          <a:solidFill>
                            <a:srgbClr val="000000"/>
                          </a:solidFill>
                          <a:effectLst/>
                        </a:rPr>
                        <a:t>Changed language to clarify that if the project area straddles multiple color-coded zones, calculate the average. If this average is a whole number, the points assigned should be the average of the two values associated with that whole number.</a:t>
                      </a:r>
                    </a:p>
                  </a:txBody>
                  <a:tcPr marL="28227" marR="28227" marT="18818" marB="18818"/>
                </a:tc>
                <a:extLst>
                  <a:ext uri="{0D108BD9-81ED-4DB2-BD59-A6C34878D82A}">
                    <a16:rowId xmlns:a16="http://schemas.microsoft.com/office/drawing/2014/main" val="250232402"/>
                  </a:ext>
                </a:extLst>
              </a:tr>
              <a:tr h="519744">
                <a:tc>
                  <a:txBody>
                    <a:bodyPr/>
                    <a:lstStyle/>
                    <a:p>
                      <a:pPr rtl="0" fontAlgn="b"/>
                      <a:r>
                        <a:rPr lang="en-US" sz="1400" dirty="0">
                          <a:effectLst/>
                        </a:rPr>
                        <a:t>S1Q8</a:t>
                      </a:r>
                    </a:p>
                  </a:txBody>
                  <a:tcPr marL="28227" marR="28227" marT="18818" marB="18818"/>
                </a:tc>
                <a:tc>
                  <a:txBody>
                    <a:bodyPr/>
                    <a:lstStyle/>
                    <a:p>
                      <a:pPr marL="171450" indent="-171450" rtl="0" fontAlgn="b">
                        <a:buFont typeface="Arial" panose="020B0604020202020204" pitchFamily="34" charset="0"/>
                        <a:buChar char="•"/>
                      </a:pPr>
                      <a:r>
                        <a:rPr lang="en-US" sz="1400" dirty="0">
                          <a:solidFill>
                            <a:srgbClr val="000000"/>
                          </a:solidFill>
                          <a:effectLst/>
                        </a:rPr>
                        <a:t>Corrected language to indicate that the address for the project area should be input into the “left” corner rather than “right” corner.</a:t>
                      </a:r>
                    </a:p>
                  </a:txBody>
                  <a:tcPr marL="28227" marR="28227" marT="18818" marB="18818"/>
                </a:tc>
                <a:extLst>
                  <a:ext uri="{0D108BD9-81ED-4DB2-BD59-A6C34878D82A}">
                    <a16:rowId xmlns:a16="http://schemas.microsoft.com/office/drawing/2014/main" val="1313576334"/>
                  </a:ext>
                </a:extLst>
              </a:tr>
              <a:tr h="1134382">
                <a:tc>
                  <a:txBody>
                    <a:bodyPr/>
                    <a:lstStyle/>
                    <a:p>
                      <a:pPr rtl="0" fontAlgn="b"/>
                      <a:r>
                        <a:rPr lang="en-US" sz="1400" dirty="0">
                          <a:effectLst/>
                        </a:rPr>
                        <a:t>S1Q11 &amp; S1Q12</a:t>
                      </a:r>
                    </a:p>
                  </a:txBody>
                  <a:tcPr marL="28227" marR="28227" marT="18818" marB="18818"/>
                </a:tc>
                <a:tc>
                  <a:txBody>
                    <a:bodyPr/>
                    <a:lstStyle/>
                    <a:p>
                      <a:pPr marL="285750" indent="-285750" rtl="0" fontAlgn="b">
                        <a:buFont typeface="Arial" panose="020B0604020202020204" pitchFamily="34" charset="0"/>
                        <a:buChar char="•"/>
                      </a:pPr>
                      <a:r>
                        <a:rPr lang="en-US" sz="1400" b="0" dirty="0">
                          <a:solidFill>
                            <a:srgbClr val="000000"/>
                          </a:solidFill>
                          <a:effectLst/>
                        </a:rPr>
                        <a:t>Replaced use of “Transportation Trails” and ”RTC Bike Trails on Streets” with ”Bike Streets” and changed data source to access ”Bike Streets” map.   </a:t>
                      </a:r>
                    </a:p>
                    <a:p>
                      <a:pPr marL="285750" indent="-285750" rtl="0" fontAlgn="b">
                        <a:buFont typeface="Arial" panose="020B0604020202020204" pitchFamily="34" charset="0"/>
                        <a:buChar char="•"/>
                      </a:pPr>
                      <a:r>
                        <a:rPr lang="en-US" sz="1400" b="0" dirty="0">
                          <a:solidFill>
                            <a:srgbClr val="000000"/>
                          </a:solidFill>
                          <a:effectLst/>
                        </a:rPr>
                        <a:t>Deleted S1Q12 based on feedback. </a:t>
                      </a:r>
                    </a:p>
                    <a:p>
                      <a:pPr marL="285750" indent="-285750" rtl="0" fontAlgn="b">
                        <a:buFont typeface="Arial" panose="020B0604020202020204" pitchFamily="34" charset="0"/>
                        <a:buChar char="•"/>
                      </a:pPr>
                      <a:r>
                        <a:rPr lang="en-US" sz="1400" b="0" dirty="0">
                          <a:solidFill>
                            <a:srgbClr val="000000"/>
                          </a:solidFill>
                          <a:effectLst/>
                        </a:rPr>
                        <a:t>Doubled the point-value of S1Q11. </a:t>
                      </a:r>
                    </a:p>
                  </a:txBody>
                  <a:tcPr marL="28227" marR="28227" marT="18818" marB="18818"/>
                </a:tc>
                <a:extLst>
                  <a:ext uri="{0D108BD9-81ED-4DB2-BD59-A6C34878D82A}">
                    <a16:rowId xmlns:a16="http://schemas.microsoft.com/office/drawing/2014/main" val="975794826"/>
                  </a:ext>
                </a:extLst>
              </a:tr>
              <a:tr h="696092">
                <a:tc>
                  <a:txBody>
                    <a:bodyPr/>
                    <a:lstStyle/>
                    <a:p>
                      <a:pPr rtl="0" fontAlgn="b"/>
                      <a:r>
                        <a:rPr lang="en-US" sz="1400" dirty="0">
                          <a:effectLst/>
                        </a:rPr>
                        <a:t>S2Q1</a:t>
                      </a:r>
                    </a:p>
                  </a:txBody>
                  <a:tcPr marL="28227" marR="28227" marT="18818" marB="18818"/>
                </a:tc>
                <a:tc>
                  <a:txBody>
                    <a:bodyPr/>
                    <a:lstStyle/>
                    <a:p>
                      <a:pPr marL="171450" indent="-171450" rtl="0" fontAlgn="b">
                        <a:buFont typeface="Arial" panose="020B0604020202020204" pitchFamily="34" charset="0"/>
                        <a:buChar char="•"/>
                      </a:pPr>
                      <a:r>
                        <a:rPr lang="en-US" sz="1400" dirty="0">
                          <a:solidFill>
                            <a:srgbClr val="000000"/>
                          </a:solidFill>
                          <a:effectLst/>
                        </a:rPr>
                        <a:t>Replaced “under” with “next to” in instructions.</a:t>
                      </a:r>
                    </a:p>
                    <a:p>
                      <a:pPr marL="171450" indent="-171450" rtl="0" fontAlgn="b">
                        <a:buFont typeface="Arial" panose="020B0604020202020204" pitchFamily="34" charset="0"/>
                        <a:buChar char="•"/>
                      </a:pPr>
                      <a:r>
                        <a:rPr lang="en-US" sz="1400" dirty="0">
                          <a:solidFill>
                            <a:srgbClr val="000000"/>
                          </a:solidFill>
                          <a:effectLst/>
                        </a:rPr>
                        <a:t>Replaced “ArcGIS Online map” with “ArcGIS Online Map Viewer” in instructions.</a:t>
                      </a:r>
                    </a:p>
                  </a:txBody>
                  <a:tcPr marL="28227" marR="28227" marT="18818" marB="18818"/>
                </a:tc>
                <a:extLst>
                  <a:ext uri="{0D108BD9-81ED-4DB2-BD59-A6C34878D82A}">
                    <a16:rowId xmlns:a16="http://schemas.microsoft.com/office/drawing/2014/main" val="460055683"/>
                  </a:ext>
                </a:extLst>
              </a:tr>
              <a:tr h="476947">
                <a:tc>
                  <a:txBody>
                    <a:bodyPr/>
                    <a:lstStyle/>
                    <a:p>
                      <a:pPr rtl="0" fontAlgn="b"/>
                      <a:r>
                        <a:rPr lang="en-US" sz="1400" dirty="0">
                          <a:effectLst/>
                        </a:rPr>
                        <a:t>S2Q2</a:t>
                      </a:r>
                    </a:p>
                  </a:txBody>
                  <a:tcPr marL="28227" marR="28227" marT="18818" marB="18818"/>
                </a:tc>
                <a:tc>
                  <a:txBody>
                    <a:bodyPr/>
                    <a:lstStyle/>
                    <a:p>
                      <a:pPr marL="171450" indent="-171450" rtl="0" fontAlgn="b">
                        <a:buFont typeface="Arial" panose="020B0604020202020204" pitchFamily="34" charset="0"/>
                        <a:buChar char="•"/>
                      </a:pPr>
                      <a:r>
                        <a:rPr lang="en-US" sz="1400" dirty="0">
                          <a:solidFill>
                            <a:srgbClr val="000000"/>
                          </a:solidFill>
                          <a:effectLst/>
                        </a:rPr>
                        <a:t>Updated link with new mapping tool created by RTC. </a:t>
                      </a:r>
                    </a:p>
                    <a:p>
                      <a:pPr marL="171450" indent="-171450" rtl="0" fontAlgn="b">
                        <a:buFont typeface="Arial" panose="020B0604020202020204" pitchFamily="34" charset="0"/>
                        <a:buChar char="•"/>
                      </a:pPr>
                      <a:r>
                        <a:rPr lang="en-US" sz="1400" dirty="0">
                          <a:solidFill>
                            <a:srgbClr val="000000"/>
                          </a:solidFill>
                          <a:effectLst/>
                        </a:rPr>
                        <a:t>Updated question wording and instructions to explain use of RTC mapping tool. </a:t>
                      </a:r>
                    </a:p>
                  </a:txBody>
                  <a:tcPr marL="28227" marR="28227" marT="18818" marB="18818"/>
                </a:tc>
                <a:extLst>
                  <a:ext uri="{0D108BD9-81ED-4DB2-BD59-A6C34878D82A}">
                    <a16:rowId xmlns:a16="http://schemas.microsoft.com/office/drawing/2014/main" val="1897164076"/>
                  </a:ext>
                </a:extLst>
              </a:tr>
              <a:tr h="915237">
                <a:tc>
                  <a:txBody>
                    <a:bodyPr/>
                    <a:lstStyle/>
                    <a:p>
                      <a:pPr rtl="0" fontAlgn="b"/>
                      <a:r>
                        <a:rPr lang="en-US" sz="1400" dirty="0">
                          <a:effectLst/>
                        </a:rPr>
                        <a:t>S2Q3</a:t>
                      </a:r>
                    </a:p>
                  </a:txBody>
                  <a:tcPr marL="28227" marR="28227" marT="18818" marB="18818"/>
                </a:tc>
                <a:tc>
                  <a:txBody>
                    <a:bodyPr/>
                    <a:lstStyle/>
                    <a:p>
                      <a:pPr marL="171450" indent="-171450" rtl="0" fontAlgn="b">
                        <a:buFont typeface="Arial" panose="020B0604020202020204" pitchFamily="34" charset="0"/>
                        <a:buChar char="•"/>
                      </a:pPr>
                      <a:r>
                        <a:rPr lang="en-US" sz="1400" dirty="0">
                          <a:solidFill>
                            <a:srgbClr val="000000"/>
                          </a:solidFill>
                          <a:effectLst/>
                        </a:rPr>
                        <a:t>Clarified that “MAPS Mini Score” used should be points rather than percentage. </a:t>
                      </a:r>
                    </a:p>
                    <a:p>
                      <a:pPr marL="171450" indent="-171450" rtl="0" fontAlgn="b">
                        <a:buFont typeface="Arial" panose="020B0604020202020204" pitchFamily="34" charset="0"/>
                        <a:buChar char="•"/>
                      </a:pPr>
                      <a:r>
                        <a:rPr lang="en-US" sz="1400" dirty="0">
                          <a:solidFill>
                            <a:srgbClr val="000000"/>
                          </a:solidFill>
                          <a:effectLst/>
                        </a:rPr>
                        <a:t>Clarified that the MAPS assessment should be conducted at the block-level.</a:t>
                      </a:r>
                    </a:p>
                  </a:txBody>
                  <a:tcPr marL="28227" marR="28227" marT="18818" marB="18818"/>
                </a:tc>
                <a:extLst>
                  <a:ext uri="{0D108BD9-81ED-4DB2-BD59-A6C34878D82A}">
                    <a16:rowId xmlns:a16="http://schemas.microsoft.com/office/drawing/2014/main" val="4187773926"/>
                  </a:ext>
                </a:extLst>
              </a:tr>
            </a:tbl>
          </a:graphicData>
        </a:graphic>
      </p:graphicFrame>
    </p:spTree>
    <p:extLst>
      <p:ext uri="{BB962C8B-B14F-4D97-AF65-F5344CB8AC3E}">
        <p14:creationId xmlns:p14="http://schemas.microsoft.com/office/powerpoint/2010/main" val="2143919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4B64491-93E8-1644-B3DC-6AB3D81A2AC1}"/>
              </a:ext>
            </a:extLst>
          </p:cNvPr>
          <p:cNvGraphicFramePr>
            <a:graphicFrameLocks noGrp="1"/>
          </p:cNvGraphicFramePr>
          <p:nvPr>
            <p:extLst>
              <p:ext uri="{D42A27DB-BD31-4B8C-83A1-F6EECF244321}">
                <p14:modId xmlns:p14="http://schemas.microsoft.com/office/powerpoint/2010/main" val="1350384333"/>
              </p:ext>
            </p:extLst>
          </p:nvPr>
        </p:nvGraphicFramePr>
        <p:xfrm>
          <a:off x="342900" y="1108363"/>
          <a:ext cx="6172200" cy="7669452"/>
        </p:xfrm>
        <a:graphic>
          <a:graphicData uri="http://schemas.openxmlformats.org/drawingml/2006/table">
            <a:tbl>
              <a:tblPr>
                <a:tableStyleId>{69C7853C-536D-4A76-A0AE-DD22124D55A5}</a:tableStyleId>
              </a:tblPr>
              <a:tblGrid>
                <a:gridCol w="1348248">
                  <a:extLst>
                    <a:ext uri="{9D8B030D-6E8A-4147-A177-3AD203B41FA5}">
                      <a16:colId xmlns:a16="http://schemas.microsoft.com/office/drawing/2014/main" val="1525630046"/>
                    </a:ext>
                  </a:extLst>
                </a:gridCol>
                <a:gridCol w="4823952">
                  <a:extLst>
                    <a:ext uri="{9D8B030D-6E8A-4147-A177-3AD203B41FA5}">
                      <a16:colId xmlns:a16="http://schemas.microsoft.com/office/drawing/2014/main" val="3302977662"/>
                    </a:ext>
                  </a:extLst>
                </a:gridCol>
              </a:tblGrid>
              <a:tr h="456188">
                <a:tc>
                  <a:txBody>
                    <a:bodyPr/>
                    <a:lstStyle/>
                    <a:p>
                      <a:pPr algn="ctr" rtl="0" fontAlgn="b"/>
                      <a:r>
                        <a:rPr lang="en-US" sz="1600" b="1" dirty="0">
                          <a:solidFill>
                            <a:srgbClr val="000000"/>
                          </a:solidFill>
                          <a:effectLst/>
                        </a:rPr>
                        <a:t>Topic</a:t>
                      </a:r>
                    </a:p>
                  </a:txBody>
                  <a:tcPr marL="26043" marR="26043" marT="17362" marB="17362"/>
                </a:tc>
                <a:tc>
                  <a:txBody>
                    <a:bodyPr/>
                    <a:lstStyle/>
                    <a:p>
                      <a:pPr algn="ctr" rtl="0" fontAlgn="b"/>
                      <a:r>
                        <a:rPr lang="en-US" sz="1600" b="1" dirty="0">
                          <a:solidFill>
                            <a:srgbClr val="000000"/>
                          </a:solidFill>
                          <a:effectLst/>
                        </a:rPr>
                        <a:t>Changes</a:t>
                      </a:r>
                    </a:p>
                  </a:txBody>
                  <a:tcPr marL="26043" marR="26043" marT="17362" marB="17362"/>
                </a:tc>
                <a:extLst>
                  <a:ext uri="{0D108BD9-81ED-4DB2-BD59-A6C34878D82A}">
                    <a16:rowId xmlns:a16="http://schemas.microsoft.com/office/drawing/2014/main" val="2999604984"/>
                  </a:ext>
                </a:extLst>
              </a:tr>
              <a:tr h="1167965">
                <a:tc>
                  <a:txBody>
                    <a:bodyPr/>
                    <a:lstStyle/>
                    <a:p>
                      <a:pPr rtl="0" fontAlgn="t"/>
                      <a:r>
                        <a:rPr lang="en-US" sz="1600" i="1" dirty="0">
                          <a:solidFill>
                            <a:srgbClr val="000000"/>
                          </a:solidFill>
                          <a:effectLst/>
                        </a:rPr>
                        <a:t>Overall</a:t>
                      </a:r>
                    </a:p>
                  </a:txBody>
                  <a:tcPr marL="26043" marR="26043" marT="17362" marB="17362"/>
                </a:tc>
                <a:tc>
                  <a:txBody>
                    <a:bodyPr/>
                    <a:lstStyle/>
                    <a:p>
                      <a:pPr marL="171450" indent="-171450" rtl="0" fontAlgn="b">
                        <a:buFont typeface="Arial" panose="020B0604020202020204" pitchFamily="34" charset="0"/>
                        <a:buChar char="•"/>
                      </a:pPr>
                      <a:r>
                        <a:rPr lang="en-US" sz="1600" dirty="0">
                          <a:solidFill>
                            <a:srgbClr val="000000"/>
                          </a:solidFill>
                          <a:effectLst/>
                        </a:rPr>
                        <a:t>Clarified that if a recommendation is not pursued, the user should explain and document why the recommendation is not appropriate.</a:t>
                      </a:r>
                    </a:p>
                  </a:txBody>
                  <a:tcPr marL="26043" marR="26043" marT="17362" marB="17362"/>
                </a:tc>
                <a:extLst>
                  <a:ext uri="{0D108BD9-81ED-4DB2-BD59-A6C34878D82A}">
                    <a16:rowId xmlns:a16="http://schemas.microsoft.com/office/drawing/2014/main" val="535029244"/>
                  </a:ext>
                </a:extLst>
              </a:tr>
              <a:tr h="710667">
                <a:tc>
                  <a:txBody>
                    <a:bodyPr/>
                    <a:lstStyle/>
                    <a:p>
                      <a:pPr rtl="0" fontAlgn="t"/>
                      <a:r>
                        <a:rPr lang="en-US" sz="1600" i="1" dirty="0">
                          <a:solidFill>
                            <a:srgbClr val="000000"/>
                          </a:solidFill>
                          <a:effectLst/>
                        </a:rPr>
                        <a:t>Traffic Calming</a:t>
                      </a:r>
                    </a:p>
                  </a:txBody>
                  <a:tcPr marL="26043" marR="26043" marT="17362" marB="17362"/>
                </a:tc>
                <a:tc>
                  <a:txBody>
                    <a:bodyPr/>
                    <a:lstStyle/>
                    <a:p>
                      <a:pPr marL="171450" indent="-171450" rtl="0" fontAlgn="b">
                        <a:buFont typeface="Arial" panose="020B0604020202020204" pitchFamily="34" charset="0"/>
                        <a:buChar char="•"/>
                      </a:pPr>
                      <a:r>
                        <a:rPr lang="en-US" sz="1600" dirty="0">
                          <a:solidFill>
                            <a:srgbClr val="000000"/>
                          </a:solidFill>
                          <a:effectLst/>
                        </a:rPr>
                        <a:t>Replaced “chokers” with “curb extensions” under “Best”</a:t>
                      </a:r>
                    </a:p>
                  </a:txBody>
                  <a:tcPr marL="26043" marR="26043" marT="17362" marB="17362"/>
                </a:tc>
                <a:extLst>
                  <a:ext uri="{0D108BD9-81ED-4DB2-BD59-A6C34878D82A}">
                    <a16:rowId xmlns:a16="http://schemas.microsoft.com/office/drawing/2014/main" val="3350497798"/>
                  </a:ext>
                </a:extLst>
              </a:tr>
              <a:tr h="2266407">
                <a:tc>
                  <a:txBody>
                    <a:bodyPr/>
                    <a:lstStyle/>
                    <a:p>
                      <a:pPr rtl="0" fontAlgn="t"/>
                      <a:r>
                        <a:rPr lang="en-US" sz="1600" i="1" dirty="0">
                          <a:solidFill>
                            <a:srgbClr val="000000"/>
                          </a:solidFill>
                          <a:effectLst/>
                        </a:rPr>
                        <a:t>Crosswalk and signalized intersections</a:t>
                      </a:r>
                    </a:p>
                  </a:txBody>
                  <a:tcPr marL="26043" marR="26043" marT="17362" marB="17362"/>
                </a:tc>
                <a:tc>
                  <a:txBody>
                    <a:bodyPr/>
                    <a:lstStyle/>
                    <a:p>
                      <a:pPr marL="171450" indent="-171450" rtl="0" fontAlgn="b">
                        <a:buFont typeface="Arial" panose="020B0604020202020204" pitchFamily="34" charset="0"/>
                        <a:buChar char="•"/>
                      </a:pPr>
                      <a:r>
                        <a:rPr lang="en-US" sz="1600" dirty="0">
                          <a:solidFill>
                            <a:srgbClr val="000000"/>
                          </a:solidFill>
                          <a:effectLst/>
                        </a:rPr>
                        <a:t>Changed “Install overhead pedestrian activated (sensors) flashers or signals” to “Install pedestrian activated (sensors) flashers or signals” under ”Best.”</a:t>
                      </a:r>
                    </a:p>
                    <a:p>
                      <a:pPr marL="171450" indent="-171450" rtl="0" fontAlgn="b">
                        <a:buFont typeface="Arial" panose="020B0604020202020204" pitchFamily="34" charset="0"/>
                        <a:buChar char="•"/>
                      </a:pPr>
                      <a:r>
                        <a:rPr lang="en-US" sz="1600" dirty="0">
                          <a:solidFill>
                            <a:srgbClr val="000000"/>
                          </a:solidFill>
                          <a:effectLst/>
                        </a:rPr>
                        <a:t>Changed “Install signal timing to utilize exclusive pedestrian phase and/or pedestrian scramble” to “Install signal timing to utilize exclusive pedestrian phase” under “Best.”</a:t>
                      </a:r>
                    </a:p>
                  </a:txBody>
                  <a:tcPr marL="26043" marR="26043" marT="17362" marB="17362"/>
                </a:tc>
                <a:extLst>
                  <a:ext uri="{0D108BD9-81ED-4DB2-BD59-A6C34878D82A}">
                    <a16:rowId xmlns:a16="http://schemas.microsoft.com/office/drawing/2014/main" val="2572594488"/>
                  </a:ext>
                </a:extLst>
              </a:tr>
              <a:tr h="1900260">
                <a:tc>
                  <a:txBody>
                    <a:bodyPr/>
                    <a:lstStyle/>
                    <a:p>
                      <a:pPr rtl="0" fontAlgn="t"/>
                      <a:r>
                        <a:rPr lang="en-US" sz="1600" i="1" dirty="0">
                          <a:solidFill>
                            <a:srgbClr val="000000"/>
                          </a:solidFill>
                          <a:effectLst/>
                        </a:rPr>
                        <a:t>Bicycle Improvements</a:t>
                      </a:r>
                    </a:p>
                  </a:txBody>
                  <a:tcPr marL="26043" marR="26043" marT="17362" marB="17362"/>
                </a:tc>
                <a:tc>
                  <a:txBody>
                    <a:bodyPr/>
                    <a:lstStyle/>
                    <a:p>
                      <a:pPr marL="171450" indent="-171450" rtl="0" fontAlgn="b">
                        <a:buFont typeface="Arial" panose="020B0604020202020204" pitchFamily="34" charset="0"/>
                        <a:buChar char="•"/>
                      </a:pPr>
                      <a:r>
                        <a:rPr lang="en-US" sz="1600" dirty="0">
                          <a:solidFill>
                            <a:srgbClr val="000000"/>
                          </a:solidFill>
                          <a:effectLst/>
                        </a:rPr>
                        <a:t>Changed “Install painted bike boxes at intersections” to “Install bike boxes at intersections using paint or other materials” under “Better.”</a:t>
                      </a:r>
                    </a:p>
                    <a:p>
                      <a:pPr marL="171450" marR="0" lvl="0" indent="-171450" algn="l" defTabSz="914400" rtl="0" eaLnBrk="1" fontAlgn="b"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600" dirty="0">
                          <a:solidFill>
                            <a:srgbClr val="000000"/>
                          </a:solidFill>
                          <a:effectLst/>
                        </a:rPr>
                        <a:t>Changed “Add occasional green bike symbols” to “Add green bike legend panels” under “Better.”</a:t>
                      </a:r>
                    </a:p>
                  </a:txBody>
                  <a:tcPr marL="26043" marR="26043" marT="17362" marB="17362"/>
                </a:tc>
                <a:extLst>
                  <a:ext uri="{0D108BD9-81ED-4DB2-BD59-A6C34878D82A}">
                    <a16:rowId xmlns:a16="http://schemas.microsoft.com/office/drawing/2014/main" val="2329423907"/>
                  </a:ext>
                </a:extLst>
              </a:tr>
              <a:tr h="1167965">
                <a:tc>
                  <a:txBody>
                    <a:bodyPr/>
                    <a:lstStyle/>
                    <a:p>
                      <a:pPr rtl="0" fontAlgn="t"/>
                      <a:r>
                        <a:rPr lang="en-US" sz="1600" i="1" dirty="0">
                          <a:solidFill>
                            <a:srgbClr val="000000"/>
                          </a:solidFill>
                          <a:effectLst/>
                        </a:rPr>
                        <a:t>Visibility</a:t>
                      </a:r>
                    </a:p>
                  </a:txBody>
                  <a:tcPr marL="26043" marR="26043" marT="17362" marB="17362"/>
                </a:tc>
                <a:tc>
                  <a:txBody>
                    <a:bodyPr/>
                    <a:lstStyle/>
                    <a:p>
                      <a:pPr marL="171450" indent="-171450" rtl="0" fontAlgn="b">
                        <a:buFont typeface="Arial" panose="020B0604020202020204" pitchFamily="34" charset="0"/>
                        <a:buChar char="•"/>
                      </a:pPr>
                      <a:r>
                        <a:rPr lang="en-US" sz="1600" b="0" dirty="0">
                          <a:solidFill>
                            <a:srgbClr val="000000"/>
                          </a:solidFill>
                          <a:effectLst/>
                        </a:rPr>
                        <a:t>Changed “Remove all utility boxes out of sight lines” to ”Ensure that all utilities are out of sight lines” under “Better” and “Best.”</a:t>
                      </a:r>
                    </a:p>
                  </a:txBody>
                  <a:tcPr marL="26043" marR="26043" marT="17362" marB="17362"/>
                </a:tc>
                <a:extLst>
                  <a:ext uri="{0D108BD9-81ED-4DB2-BD59-A6C34878D82A}">
                    <a16:rowId xmlns:a16="http://schemas.microsoft.com/office/drawing/2014/main" val="2065703225"/>
                  </a:ext>
                </a:extLst>
              </a:tr>
            </a:tbl>
          </a:graphicData>
        </a:graphic>
      </p:graphicFrame>
      <p:sp>
        <p:nvSpPr>
          <p:cNvPr id="5" name="Title 1">
            <a:extLst>
              <a:ext uri="{FF2B5EF4-FFF2-40B4-BE49-F238E27FC236}">
                <a16:creationId xmlns:a16="http://schemas.microsoft.com/office/drawing/2014/main" id="{127BA8C2-C6DC-3344-AAF7-D70EDC7F1E26}"/>
              </a:ext>
            </a:extLst>
          </p:cNvPr>
          <p:cNvSpPr>
            <a:spLocks noGrp="1"/>
          </p:cNvSpPr>
          <p:nvPr>
            <p:ph type="title"/>
          </p:nvPr>
        </p:nvSpPr>
        <p:spPr>
          <a:xfrm>
            <a:off x="342900" y="366184"/>
            <a:ext cx="6172200" cy="548216"/>
          </a:xfrm>
        </p:spPr>
        <p:txBody>
          <a:bodyPr>
            <a:normAutofit fontScale="90000"/>
          </a:bodyPr>
          <a:lstStyle/>
          <a:p>
            <a:r>
              <a:rPr lang="en-US" sz="3200" dirty="0"/>
              <a:t>Substantive Changes from V8 to V9 </a:t>
            </a:r>
          </a:p>
        </p:txBody>
      </p:sp>
    </p:spTree>
    <p:extLst>
      <p:ext uri="{BB962C8B-B14F-4D97-AF65-F5344CB8AC3E}">
        <p14:creationId xmlns:p14="http://schemas.microsoft.com/office/powerpoint/2010/main" val="3807574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5" name="Google Shape;115;p2"/>
          <p:cNvSpPr txBox="1"/>
          <p:nvPr/>
        </p:nvSpPr>
        <p:spPr>
          <a:xfrm>
            <a:off x="486833" y="948267"/>
            <a:ext cx="5935200" cy="1292700"/>
          </a:xfrm>
          <a:prstGeom prst="rect">
            <a:avLst/>
          </a:prstGeom>
          <a:solidFill>
            <a:srgbClr val="FFC000"/>
          </a:solid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7030A0"/>
              </a:buClr>
              <a:buSzPts val="2600"/>
              <a:buFont typeface="Arial"/>
              <a:buChar char="•"/>
            </a:pPr>
            <a:r>
              <a:rPr lang="en-US" sz="2600" b="0" i="0" u="none" strike="noStrike" cap="none">
                <a:solidFill>
                  <a:srgbClr val="7030A0"/>
                </a:solidFill>
                <a:latin typeface="Calibri"/>
                <a:ea typeface="Calibri"/>
                <a:cs typeface="Calibri"/>
                <a:sym typeface="Calibri"/>
              </a:rPr>
              <a:t>Step 1: Assess area’s existing need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9051"/>
              </a:buClr>
              <a:buSzPts val="2600"/>
              <a:buFont typeface="Arial"/>
              <a:buChar char="•"/>
            </a:pPr>
            <a:r>
              <a:rPr lang="en-US" sz="2600" b="0" i="0" u="none" strike="noStrike" cap="none">
                <a:solidFill>
                  <a:srgbClr val="009051"/>
                </a:solidFill>
                <a:latin typeface="Calibri"/>
                <a:ea typeface="Calibri"/>
                <a:cs typeface="Calibri"/>
                <a:sym typeface="Calibri"/>
              </a:rPr>
              <a:t>Step 2: Assess existing infrastructure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C00000"/>
              </a:buClr>
              <a:buSzPts val="2600"/>
              <a:buFont typeface="Arial"/>
              <a:buChar char="•"/>
            </a:pPr>
            <a:r>
              <a:rPr lang="en-US" sz="2600" b="0" i="0" u="none" strike="noStrike" cap="none">
                <a:solidFill>
                  <a:srgbClr val="C00000"/>
                </a:solidFill>
                <a:latin typeface="Calibri"/>
                <a:ea typeface="Calibri"/>
                <a:cs typeface="Calibri"/>
                <a:sym typeface="Calibri"/>
              </a:rPr>
              <a:t>Step 3: Select proposed infrastructure</a:t>
            </a:r>
            <a:endParaRPr sz="1400" b="0" i="0" u="none" strike="noStrike" cap="none">
              <a:solidFill>
                <a:srgbClr val="000000"/>
              </a:solidFill>
              <a:latin typeface="Arial"/>
              <a:ea typeface="Arial"/>
              <a:cs typeface="Arial"/>
              <a:sym typeface="Arial"/>
            </a:endParaRPr>
          </a:p>
        </p:txBody>
      </p:sp>
      <p:sp>
        <p:nvSpPr>
          <p:cNvPr id="116" name="Google Shape;116;p2"/>
          <p:cNvSpPr/>
          <p:nvPr/>
        </p:nvSpPr>
        <p:spPr>
          <a:xfrm>
            <a:off x="3221566" y="2324482"/>
            <a:ext cx="414900" cy="666900"/>
          </a:xfrm>
          <a:prstGeom prst="downArrow">
            <a:avLst>
              <a:gd name="adj1" fmla="val 50000"/>
              <a:gd name="adj2" fmla="val 50000"/>
            </a:avLst>
          </a:prstGeom>
          <a:solidFill>
            <a:srgbClr val="A5A5A5"/>
          </a:solidFill>
          <a:ln w="9525" cap="flat" cmpd="sng">
            <a:solidFill>
              <a:srgbClr val="4A7DBA"/>
            </a:solidFill>
            <a:prstDash val="solid"/>
            <a:round/>
            <a:headEnd type="none" w="sm" len="sm"/>
            <a:tailEnd type="none" w="sm" len="sm"/>
          </a:ln>
          <a:effectLst>
            <a:outerShdw blurRad="40000" dist="23000" dir="5400000" rotWithShape="0">
              <a:srgbClr val="000000">
                <a:alpha val="3254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aphicFrame>
        <p:nvGraphicFramePr>
          <p:cNvPr id="117" name="Google Shape;117;p2"/>
          <p:cNvGraphicFramePr/>
          <p:nvPr/>
        </p:nvGraphicFramePr>
        <p:xfrm>
          <a:off x="555604" y="3472437"/>
          <a:ext cx="6158475" cy="4610495"/>
        </p:xfrm>
        <a:graphic>
          <a:graphicData uri="http://schemas.openxmlformats.org/drawingml/2006/table">
            <a:tbl>
              <a:tblPr firstRow="1" bandRow="1">
                <a:noFill/>
                <a:tableStyleId>{CAC760E6-1B21-447E-AD2F-912B2140AA3E}</a:tableStyleId>
              </a:tblPr>
              <a:tblGrid>
                <a:gridCol w="1290125">
                  <a:extLst>
                    <a:ext uri="{9D8B030D-6E8A-4147-A177-3AD203B41FA5}">
                      <a16:colId xmlns:a16="http://schemas.microsoft.com/office/drawing/2014/main" val="20000"/>
                    </a:ext>
                  </a:extLst>
                </a:gridCol>
                <a:gridCol w="1513725">
                  <a:extLst>
                    <a:ext uri="{9D8B030D-6E8A-4147-A177-3AD203B41FA5}">
                      <a16:colId xmlns:a16="http://schemas.microsoft.com/office/drawing/2014/main" val="20001"/>
                    </a:ext>
                  </a:extLst>
                </a:gridCol>
                <a:gridCol w="1629525">
                  <a:extLst>
                    <a:ext uri="{9D8B030D-6E8A-4147-A177-3AD203B41FA5}">
                      <a16:colId xmlns:a16="http://schemas.microsoft.com/office/drawing/2014/main" val="20002"/>
                    </a:ext>
                  </a:extLst>
                </a:gridCol>
                <a:gridCol w="1725100">
                  <a:extLst>
                    <a:ext uri="{9D8B030D-6E8A-4147-A177-3AD203B41FA5}">
                      <a16:colId xmlns:a16="http://schemas.microsoft.com/office/drawing/2014/main" val="20003"/>
                    </a:ext>
                  </a:extLst>
                </a:gridCol>
              </a:tblGrid>
              <a:tr h="569500">
                <a:tc>
                  <a:txBody>
                    <a:bodyPr/>
                    <a:lstStyle/>
                    <a:p>
                      <a:pPr marL="0" marR="0" lvl="0" indent="0" algn="ctr" rtl="0">
                        <a:lnSpc>
                          <a:spcPct val="100000"/>
                        </a:lnSpc>
                        <a:spcBef>
                          <a:spcPts val="0"/>
                        </a:spcBef>
                        <a:spcAft>
                          <a:spcPts val="0"/>
                        </a:spcAft>
                        <a:buClr>
                          <a:srgbClr val="000000"/>
                        </a:buClr>
                        <a:buSzPts val="2400"/>
                        <a:buFont typeface="Arial"/>
                        <a:buNone/>
                      </a:pPr>
                      <a:endParaRPr sz="2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Below Average</a:t>
                      </a:r>
                      <a:endParaRPr sz="2400" b="0" u="none" strike="noStrike" cap="none">
                        <a:solidFill>
                          <a:srgbClr val="00B050"/>
                        </a:solidFill>
                      </a:endParaRPr>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Average</a:t>
                      </a:r>
                      <a:endParaRPr sz="2400" b="0" u="none" strike="noStrike" cap="none">
                        <a:solidFill>
                          <a:srgbClr val="00B050"/>
                        </a:solidFill>
                      </a:endParaRPr>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Above Average</a:t>
                      </a:r>
                      <a:endParaRPr sz="2400" b="0" u="none" strike="noStrike" cap="none">
                        <a:solidFill>
                          <a:srgbClr val="00B050"/>
                        </a:solidFill>
                      </a:endParaRPr>
                    </a:p>
                  </a:txBody>
                  <a:tcPr marL="84800" marR="84800" marT="42400" marB="42400"/>
                </a:tc>
                <a:extLst>
                  <a:ext uri="{0D108BD9-81ED-4DB2-BD59-A6C34878D82A}">
                    <a16:rowId xmlns:a16="http://schemas.microsoft.com/office/drawing/2014/main" val="10000"/>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High</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extLst>
                  <a:ext uri="{0D108BD9-81ED-4DB2-BD59-A6C34878D82A}">
                    <a16:rowId xmlns:a16="http://schemas.microsoft.com/office/drawing/2014/main" val="10001"/>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Medium</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Better</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Good</a:t>
                      </a:r>
                      <a:endParaRPr sz="1400" u="none" strike="noStrike" cap="none"/>
                    </a:p>
                  </a:txBody>
                  <a:tcPr marL="84800" marR="84800" marT="42400" marB="42400"/>
                </a:tc>
                <a:extLst>
                  <a:ext uri="{0D108BD9-81ED-4DB2-BD59-A6C34878D82A}">
                    <a16:rowId xmlns:a16="http://schemas.microsoft.com/office/drawing/2014/main" val="10002"/>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Low</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Better</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Good</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Minimal potential for benefit</a:t>
                      </a:r>
                      <a:endParaRPr sz="1400" u="none" strike="noStrike" cap="none"/>
                    </a:p>
                  </a:txBody>
                  <a:tcPr marL="84800" marR="84800" marT="42400" marB="42400"/>
                </a:tc>
                <a:extLst>
                  <a:ext uri="{0D108BD9-81ED-4DB2-BD59-A6C34878D82A}">
                    <a16:rowId xmlns:a16="http://schemas.microsoft.com/office/drawing/2014/main" val="10003"/>
                  </a:ext>
                </a:extLst>
              </a:tr>
            </a:tbl>
          </a:graphicData>
        </a:graphic>
      </p:graphicFrame>
      <p:sp>
        <p:nvSpPr>
          <p:cNvPr id="118" name="Google Shape;118;p2"/>
          <p:cNvSpPr txBox="1"/>
          <p:nvPr/>
        </p:nvSpPr>
        <p:spPr>
          <a:xfrm>
            <a:off x="1861498" y="2883601"/>
            <a:ext cx="354667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9051"/>
                </a:solidFill>
                <a:latin typeface="Calibri"/>
                <a:ea typeface="Calibri"/>
                <a:cs typeface="Calibri"/>
                <a:sym typeface="Calibri"/>
              </a:rPr>
              <a:t>Existing Infrastructure </a:t>
            </a:r>
            <a:endParaRPr sz="1400" b="0" i="0" u="none" strike="noStrike" cap="none">
              <a:solidFill>
                <a:srgbClr val="000000"/>
              </a:solidFill>
              <a:latin typeface="Arial"/>
              <a:ea typeface="Arial"/>
              <a:cs typeface="Arial"/>
              <a:sym typeface="Arial"/>
            </a:endParaRPr>
          </a:p>
        </p:txBody>
      </p:sp>
      <p:sp>
        <p:nvSpPr>
          <p:cNvPr id="119" name="Google Shape;119;p2"/>
          <p:cNvSpPr txBox="1"/>
          <p:nvPr/>
        </p:nvSpPr>
        <p:spPr>
          <a:xfrm rot="-5400000">
            <a:off x="-1959704" y="5516070"/>
            <a:ext cx="4610487"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7030A0"/>
                </a:solidFill>
                <a:latin typeface="Calibri"/>
                <a:ea typeface="Calibri"/>
                <a:cs typeface="Calibri"/>
                <a:sym typeface="Calibri"/>
              </a:rPr>
              <a:t>Area Existing Need</a:t>
            </a:r>
            <a:endParaRPr sz="1400" b="0" i="0" u="none" strike="noStrike" cap="none">
              <a:solidFill>
                <a:srgbClr val="000000"/>
              </a:solidFill>
              <a:latin typeface="Arial"/>
              <a:ea typeface="Arial"/>
              <a:cs typeface="Arial"/>
              <a:sym typeface="Arial"/>
            </a:endParaRPr>
          </a:p>
        </p:txBody>
      </p:sp>
      <p:sp>
        <p:nvSpPr>
          <p:cNvPr id="121" name="Google Shape;121;p2"/>
          <p:cNvSpPr txBox="1"/>
          <p:nvPr/>
        </p:nvSpPr>
        <p:spPr>
          <a:xfrm>
            <a:off x="0" y="0"/>
            <a:ext cx="6858000" cy="719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chemeClr val="dk1"/>
                </a:solidFill>
                <a:latin typeface="Calibri"/>
                <a:ea typeface="Calibri"/>
                <a:cs typeface="Calibri"/>
                <a:sym typeface="Calibri"/>
              </a:rPr>
              <a:t>Roadmap</a:t>
            </a:r>
            <a:endParaRPr sz="4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4A791335-65D6-5B4D-803A-CBA357EC4A36}"/>
              </a:ext>
            </a:extLst>
          </p:cNvPr>
          <p:cNvSpPr>
            <a:spLocks noGrp="1"/>
          </p:cNvSpPr>
          <p:nvPr>
            <p:ph type="ftr" idx="11"/>
          </p:nvPr>
        </p:nvSpPr>
        <p:spPr/>
        <p:txBody>
          <a:bodyPr/>
          <a:lstStyle/>
          <a:p>
            <a:r>
              <a:rPr lang="en-US"/>
              <a:t>V9B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1" name="Google Shape;141;p3"/>
          <p:cNvSpPr/>
          <p:nvPr/>
        </p:nvSpPr>
        <p:spPr>
          <a:xfrm>
            <a:off x="1157416" y="120134"/>
            <a:ext cx="454316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142" name="Google Shape;142;p3"/>
          <p:cNvGraphicFramePr/>
          <p:nvPr>
            <p:extLst>
              <p:ext uri="{D42A27DB-BD31-4B8C-83A1-F6EECF244321}">
                <p14:modId xmlns:p14="http://schemas.microsoft.com/office/powerpoint/2010/main" val="2365283235"/>
              </p:ext>
            </p:extLst>
          </p:nvPr>
        </p:nvGraphicFramePr>
        <p:xfrm>
          <a:off x="135658" y="1273581"/>
          <a:ext cx="6654800" cy="7276865"/>
        </p:xfrm>
        <a:graphic>
          <a:graphicData uri="http://schemas.openxmlformats.org/drawingml/2006/table">
            <a:tbl>
              <a:tblPr firstRow="1" bandRow="1">
                <a:noFill/>
                <a:tableStyleId>{CAC760E6-1B21-447E-AD2F-912B2140AA3E}</a:tableStyleId>
              </a:tblPr>
              <a:tblGrid>
                <a:gridCol w="54610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4918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dirty="0"/>
                        <a:t>Existing needs assessment</a:t>
                      </a:r>
                      <a:endParaRPr sz="1100" u="none" strike="noStrike" cap="none" dirty="0"/>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0888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S1Q1: How underserved is the geographic area where the project will be built?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use U. of Wisconsin Area Deprivation Index (state deciles), available </a:t>
                      </a:r>
                      <a:r>
                        <a:rPr lang="en-US" sz="1100" u="sng" strike="noStrike" cap="none">
                          <a:solidFill>
                            <a:srgbClr val="0000FF"/>
                          </a:solidFill>
                          <a:hlinkClick r:id="rId3">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https://www.neighborhoodatlas.medicine.wisc.edu/mapping</a:t>
                      </a:r>
                      <a:endParaRPr sz="1100" u="none" strike="noStrike" cap="none">
                        <a:solidFill>
                          <a:schemeClr val="dk1"/>
                        </a:solidFill>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rgbClr val="FF0000"/>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ADI (least disadvantaged)                                                                 (most disadvantaged)</a:t>
                      </a:r>
                      <a:endParaRPr sz="1100" b="1" u="none" strike="noStrike" cap="none">
                        <a:solidFill>
                          <a:srgbClr val="FF0000"/>
                        </a:solidFill>
                      </a:endParaRPr>
                    </a:p>
                    <a:p>
                      <a:pPr marL="0" marR="0" lvl="0" indent="0" algn="l" rtl="0">
                        <a:lnSpc>
                          <a:spcPct val="100000"/>
                        </a:lnSpc>
                        <a:spcBef>
                          <a:spcPts val="0"/>
                        </a:spcBef>
                        <a:spcAft>
                          <a:spcPts val="0"/>
                        </a:spcAft>
                        <a:buClr>
                          <a:srgbClr val="000000"/>
                        </a:buClr>
                        <a:buSzPts val="1100"/>
                        <a:buFont typeface="Arial"/>
                        <a:buNone/>
                      </a:pPr>
                      <a:r>
                        <a:rPr lang="en-US" sz="1100" b="1" u="none" strike="noStrike" cap="none">
                          <a:solidFill>
                            <a:srgbClr val="FF0000"/>
                          </a:solidFill>
                        </a:rPr>
                        <a:t>ADI &amp; Points: 1           2          3         4          5            6             7           8             9            10</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Equity</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/10</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solidFill>
                      <a:srgbClr val="00FF00"/>
                    </a:solidFill>
                  </a:tcPr>
                </a:tc>
                <a:extLst>
                  <a:ext uri="{0D108BD9-81ED-4DB2-BD59-A6C34878D82A}">
                    <a16:rowId xmlns:a16="http://schemas.microsoft.com/office/drawing/2014/main" val="10001"/>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S1Q2: </a:t>
                      </a:r>
                      <a:r>
                        <a:rPr lang="en-US" sz="1100" b="0" i="0" u="none" strike="noStrike" cap="none"/>
                        <a:t>What is the current rate of biking to work in the proposed project’s Census Tract? </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U.S. Census data, available </a:t>
                      </a:r>
                      <a:r>
                        <a:rPr lang="en-US" sz="1100" u="sng" strike="noStrike" cap="none">
                          <a:solidFill>
                            <a:srgbClr val="0000FF"/>
                          </a:solidFill>
                          <a:hlinkClick r:id="rId4">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Rate:     0-.3%                   .4-1.2%                 1.3-2.5%                 2.6-4.3%            4.9-7.1%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2"/>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dirty="0"/>
                        <a:t>S1Q3: </a:t>
                      </a:r>
                      <a:r>
                        <a:rPr lang="en-US" sz="1100" b="0" i="0" u="none" strike="noStrike" cap="none" dirty="0"/>
                        <a:t>What is the current rate of walking to work in the proposed project’s Census Tract? </a:t>
                      </a:r>
                      <a:endParaRPr sz="1400" u="none" strike="noStrike" cap="none" dirty="0"/>
                    </a:p>
                    <a:p>
                      <a:pPr marL="0" marR="0" lvl="0" indent="0" algn="l" rtl="0">
                        <a:lnSpc>
                          <a:spcPct val="100000"/>
                        </a:lnSpc>
                        <a:spcBef>
                          <a:spcPts val="0"/>
                        </a:spcBef>
                        <a:spcAft>
                          <a:spcPts val="0"/>
                        </a:spcAft>
                        <a:buClr>
                          <a:srgbClr val="0000FF"/>
                        </a:buClr>
                        <a:buSzPts val="1100"/>
                        <a:buFont typeface="Calibri"/>
                        <a:buNone/>
                      </a:pPr>
                      <a:r>
                        <a:rPr lang="en-US" sz="1100" u="none" strike="noStrike" cap="none" dirty="0">
                          <a:solidFill>
                            <a:srgbClr val="0000FF"/>
                          </a:solidFill>
                        </a:rPr>
                        <a:t>(use U.S. Census data, available </a:t>
                      </a:r>
                      <a:r>
                        <a:rPr lang="en-US" sz="1100" u="sng" strike="noStrike" cap="none" dirty="0">
                          <a:solidFill>
                            <a:srgbClr val="0000FF"/>
                          </a:solidFill>
                          <a:hlinkClick r:id="rId5">
                            <a:extLst>
                              <a:ext uri="{A12FA001-AC4F-418D-AE19-62706E023703}">
                                <ahyp:hlinkClr xmlns:ahyp="http://schemas.microsoft.com/office/drawing/2018/hyperlinkcolor" val="tx"/>
                              </a:ext>
                            </a:extLst>
                          </a:hlinkClick>
                        </a:rPr>
                        <a:t>here</a:t>
                      </a:r>
                      <a:r>
                        <a:rPr lang="en-US" sz="1100" u="none" strike="noStrike" cap="none" dirty="0">
                          <a:solidFill>
                            <a:srgbClr val="0000FF"/>
                          </a:solidFill>
                        </a:rPr>
                        <a:t>)</a:t>
                      </a:r>
                      <a:endParaRPr sz="1400" u="none" strike="noStrike" cap="none" dirty="0"/>
                    </a:p>
                    <a:p>
                      <a:pPr marL="0" marR="0" lvl="0" indent="0" algn="l" rtl="0">
                        <a:lnSpc>
                          <a:spcPct val="100000"/>
                        </a:lnSpc>
                        <a:spcBef>
                          <a:spcPts val="0"/>
                        </a:spcBef>
                        <a:spcAft>
                          <a:spcPts val="0"/>
                        </a:spcAft>
                        <a:buClr>
                          <a:schemeClr val="dk1"/>
                        </a:buClr>
                        <a:buSzPts val="1100"/>
                        <a:buFont typeface="Calibri"/>
                        <a:buNone/>
                      </a:pPr>
                      <a:endParaRPr sz="1100" u="none" strike="noStrike" cap="none" dirty="0">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dirty="0">
                          <a:solidFill>
                            <a:schemeClr val="dk1"/>
                          </a:solidFill>
                        </a:rPr>
                        <a:t>Rate:         0-1.7%               1.8-5%                 5.4-11%           13.6-22.5%          45.3-57.6%  </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1                             2                              3                             4                        5 </a:t>
                      </a:r>
                      <a:endParaRPr sz="1400" u="none" strike="noStrike" cap="none" dirty="0"/>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3"/>
                  </a:ext>
                </a:extLst>
              </a:tr>
              <a:tr h="11458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S1Q4: </a:t>
                      </a:r>
                      <a:r>
                        <a:rPr lang="en-US" sz="1100" b="0" i="0" u="none" strike="noStrike" cap="none"/>
                        <a:t>What is the pedestrian crash density in the area?  (pedestrian crashes/sq. mile)</a:t>
                      </a:r>
                      <a:endParaRPr sz="1400" u="none" strike="noStrike" cap="none"/>
                    </a:p>
                    <a:p>
                      <a:pPr marL="0" marR="0" lvl="0" indent="0" algn="l" rtl="0">
                        <a:lnSpc>
                          <a:spcPct val="100000"/>
                        </a:lnSpc>
                        <a:spcBef>
                          <a:spcPts val="0"/>
                        </a:spcBef>
                        <a:spcAft>
                          <a:spcPts val="0"/>
                        </a:spcAft>
                        <a:buClr>
                          <a:schemeClr val="hlink"/>
                        </a:buClr>
                        <a:buSzPts val="1100"/>
                        <a:buFont typeface="Calibri"/>
                        <a:buNone/>
                      </a:pPr>
                      <a:r>
                        <a:rPr lang="en-US" sz="1100" u="none" strike="noStrike" cap="none">
                          <a:solidFill>
                            <a:schemeClr val="hlink"/>
                          </a:solidFill>
                        </a:rPr>
                        <a:t>(use NDOT map, available </a:t>
                      </a:r>
                      <a:r>
                        <a:rPr lang="en-US" sz="1100" u="sng" strike="noStrike" cap="none">
                          <a:solidFill>
                            <a:schemeClr val="hlink"/>
                          </a:solidFill>
                          <a:hlinkClick r:id="rId6"/>
                        </a:rPr>
                        <a:t>here</a:t>
                      </a:r>
                      <a:r>
                        <a:rPr lang="en-US" sz="1100" u="none" strike="noStrike" cap="none">
                          <a:solidFill>
                            <a:schemeClr val="hlink"/>
                          </a:solidFill>
                        </a:rPr>
                        <a:t>)</a:t>
                      </a: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0-8                        9-16                        17-27                     28-47                   48+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4"/>
                  </a:ext>
                </a:extLst>
              </a:tr>
              <a:tr h="12384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S1Q5: </a:t>
                      </a:r>
                      <a:r>
                        <a:rPr lang="en-US" sz="1100" b="0" i="0" u="none" strike="noStrike" cap="none"/>
                        <a:t>What is the bicycle crash density in the area?  (bicycle crashes/sq. mile)</a:t>
                      </a:r>
                      <a:endParaRPr sz="1400" u="none" strike="noStrike" cap="none"/>
                    </a:p>
                    <a:p>
                      <a:pPr marL="0" marR="0" lvl="0" indent="0" algn="l" rtl="0">
                        <a:lnSpc>
                          <a:spcPct val="100000"/>
                        </a:lnSpc>
                        <a:spcBef>
                          <a:spcPts val="0"/>
                        </a:spcBef>
                        <a:spcAft>
                          <a:spcPts val="0"/>
                        </a:spcAft>
                        <a:buClr>
                          <a:schemeClr val="hlink"/>
                        </a:buClr>
                        <a:buSzPts val="1100"/>
                        <a:buFont typeface="Calibri"/>
                        <a:buNone/>
                      </a:pPr>
                      <a:r>
                        <a:rPr lang="en-US" sz="1100" u="none" strike="noStrike" cap="none">
                          <a:solidFill>
                            <a:schemeClr val="hlink"/>
                          </a:solidFill>
                        </a:rPr>
                        <a:t>(use NDOT map, available </a:t>
                      </a:r>
                      <a:r>
                        <a:rPr lang="en-US" sz="1100" u="sng" strike="noStrike" cap="none">
                          <a:solidFill>
                            <a:schemeClr val="hlink"/>
                          </a:solidFill>
                          <a:hlinkClick r:id="rId6"/>
                        </a:rPr>
                        <a:t>here</a:t>
                      </a:r>
                      <a:r>
                        <a:rPr lang="en-US" sz="1100" u="none" strike="noStrike" cap="none">
                          <a:solidFill>
                            <a:schemeClr val="hlink"/>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0-4                        5-7                        8-10                     11-15                    15+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5"/>
                  </a:ext>
                </a:extLst>
              </a:tr>
              <a:tr h="135277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S1Q6</a:t>
                      </a:r>
                      <a:r>
                        <a:rPr lang="en-US" sz="1100" b="1" u="none" strike="noStrike" cap="none">
                          <a:solidFill>
                            <a:srgbClr val="000000"/>
                          </a:solidFill>
                        </a:rPr>
                        <a:t>: </a:t>
                      </a:r>
                      <a:r>
                        <a:rPr lang="en-US" sz="1100" u="none" strike="noStrike" cap="none">
                          <a:solidFill>
                            <a:srgbClr val="000000"/>
                          </a:solidFill>
                        </a:rPr>
                        <a:t>What is the land use diversity index? (jobs to housing)</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Smart Location database (c. 2010), available here:</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a:solidFill>
                            <a:srgbClr val="0432FF"/>
                          </a:solidFill>
                          <a:hlinkClick r:id="rId7">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00"/>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Diversity:    0-2         2-3        3-4      4-5       5-6          6-7        7-8        8-9         9-10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1.5          2        2.5         3            3.5         4          4.5            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a:t>
                      </a:r>
                      <a:endParaRPr sz="1400" u="none" strike="noStrike" cap="none" dirty="0"/>
                    </a:p>
                  </a:txBody>
                  <a:tcPr marL="68575" marR="68575" marT="60950" marB="60950"/>
                </a:tc>
                <a:extLst>
                  <a:ext uri="{0D108BD9-81ED-4DB2-BD59-A6C34878D82A}">
                    <a16:rowId xmlns:a16="http://schemas.microsoft.com/office/drawing/2014/main" val="10006"/>
                  </a:ext>
                </a:extLst>
              </a:tr>
            </a:tbl>
          </a:graphicData>
        </a:graphic>
      </p:graphicFrame>
      <p:sp>
        <p:nvSpPr>
          <p:cNvPr id="2" name="Footer Placeholder 1">
            <a:extLst>
              <a:ext uri="{FF2B5EF4-FFF2-40B4-BE49-F238E27FC236}">
                <a16:creationId xmlns:a16="http://schemas.microsoft.com/office/drawing/2014/main" id="{3F9B9A09-35CD-FA47-A146-37642BB02D2A}"/>
              </a:ext>
            </a:extLst>
          </p:cNvPr>
          <p:cNvSpPr>
            <a:spLocks noGrp="1"/>
          </p:cNvSpPr>
          <p:nvPr>
            <p:ph type="ftr" idx="11"/>
          </p:nvPr>
        </p:nvSpPr>
        <p:spPr>
          <a:xfrm>
            <a:off x="2343149" y="8647431"/>
            <a:ext cx="2171700" cy="486833"/>
          </a:xfrm>
        </p:spPr>
        <p:txBody>
          <a:bodyPr/>
          <a:lstStyle/>
          <a:p>
            <a:r>
              <a:rPr lang="en-US" dirty="0"/>
              <a:t>V9B</a:t>
            </a:r>
          </a:p>
        </p:txBody>
      </p:sp>
      <p:sp>
        <p:nvSpPr>
          <p:cNvPr id="3" name="TextBox 2">
            <a:extLst>
              <a:ext uri="{FF2B5EF4-FFF2-40B4-BE49-F238E27FC236}">
                <a16:creationId xmlns:a16="http://schemas.microsoft.com/office/drawing/2014/main" id="{728B02B3-C972-F84F-8B80-1A854B495461}"/>
              </a:ext>
            </a:extLst>
          </p:cNvPr>
          <p:cNvSpPr txBox="1"/>
          <p:nvPr/>
        </p:nvSpPr>
        <p:spPr>
          <a:xfrm>
            <a:off x="121803" y="842168"/>
            <a:ext cx="6654800" cy="276999"/>
          </a:xfrm>
          <a:prstGeom prst="rect">
            <a:avLst/>
          </a:prstGeom>
          <a:noFill/>
        </p:spPr>
        <p:txBody>
          <a:bodyPr wrap="square" rtlCol="0">
            <a:spAutoFit/>
          </a:bodyPr>
          <a:lstStyle/>
          <a:p>
            <a:pPr algn="ctr"/>
            <a:r>
              <a:rPr lang="en-US" sz="1200" dirty="0"/>
              <a:t>Test Address: _________________________________________________________________</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7787bb92c3_0_4"/>
          <p:cNvSpPr txBox="1">
            <a:spLocks noGrp="1"/>
          </p:cNvSpPr>
          <p:nvPr>
            <p:ph type="title"/>
          </p:nvPr>
        </p:nvSpPr>
        <p:spPr>
          <a:xfrm>
            <a:off x="342900" y="312335"/>
            <a:ext cx="6172200" cy="733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500" dirty="0"/>
              <a:t>S1Q1 Instructions</a:t>
            </a:r>
            <a:endParaRPr sz="4500" dirty="0"/>
          </a:p>
        </p:txBody>
      </p:sp>
      <p:sp>
        <p:nvSpPr>
          <p:cNvPr id="150" name="Google Shape;150;g7787bb92c3_0_4"/>
          <p:cNvSpPr txBox="1">
            <a:spLocks noGrp="1"/>
          </p:cNvSpPr>
          <p:nvPr>
            <p:ph type="body" idx="1"/>
          </p:nvPr>
        </p:nvSpPr>
        <p:spPr>
          <a:xfrm>
            <a:off x="342900" y="1045835"/>
            <a:ext cx="6013200" cy="7525570"/>
          </a:xfrm>
          <a:prstGeom prst="rect">
            <a:avLst/>
          </a:prstGeom>
          <a:noFill/>
          <a:ln>
            <a:noFill/>
          </a:ln>
        </p:spPr>
        <p:txBody>
          <a:bodyPr spcFirstLastPara="1" wrap="square" lIns="91425" tIns="45700" rIns="91425" bIns="45700" anchor="t" anchorCtr="0">
            <a:noAutofit/>
          </a:bodyPr>
          <a:lstStyle/>
          <a:p>
            <a:pPr marL="457200" lvl="0" indent="-374650" algn="l" rtl="0">
              <a:lnSpc>
                <a:spcPct val="100000"/>
              </a:lnSpc>
              <a:spcBef>
                <a:spcPts val="360"/>
              </a:spcBef>
              <a:spcAft>
                <a:spcPts val="0"/>
              </a:spcAft>
              <a:buSzPts val="2300"/>
              <a:buChar char="•"/>
            </a:pPr>
            <a:r>
              <a:rPr lang="en-US" sz="2300" dirty="0"/>
              <a:t>Click the link provided for the U. of Wisconsin Area Deprivation Index (ADI), available </a:t>
            </a:r>
            <a:r>
              <a:rPr lang="en-US" sz="2300" u="sng" dirty="0">
                <a:solidFill>
                  <a:schemeClr val="hlink"/>
                </a:solidFill>
                <a:hlinkClick r:id="rId3"/>
              </a:rPr>
              <a:t>here</a:t>
            </a:r>
            <a:r>
              <a:rPr lang="en-US" sz="2300" dirty="0"/>
              <a:t>. </a:t>
            </a:r>
            <a:endParaRPr sz="2300" dirty="0"/>
          </a:p>
          <a:p>
            <a:pPr marL="457200" lvl="0" indent="-374650" algn="l" rtl="0">
              <a:lnSpc>
                <a:spcPct val="100000"/>
              </a:lnSpc>
              <a:spcBef>
                <a:spcPts val="1000"/>
              </a:spcBef>
              <a:spcAft>
                <a:spcPts val="0"/>
              </a:spcAft>
              <a:buSzPts val="2300"/>
              <a:buChar char="•"/>
            </a:pPr>
            <a:r>
              <a:rPr lang="en-US" sz="2300" dirty="0"/>
              <a:t>Select Nevada</a:t>
            </a:r>
            <a:endParaRPr sz="2300" dirty="0"/>
          </a:p>
          <a:p>
            <a:pPr marL="457200" lvl="0" indent="-374650" algn="l" rtl="0">
              <a:lnSpc>
                <a:spcPct val="100000"/>
              </a:lnSpc>
              <a:spcBef>
                <a:spcPts val="1000"/>
              </a:spcBef>
              <a:spcAft>
                <a:spcPts val="0"/>
              </a:spcAft>
              <a:buSzPts val="2300"/>
              <a:buChar char="•"/>
            </a:pPr>
            <a:r>
              <a:rPr lang="en-US" sz="2300" dirty="0"/>
              <a:t>Ensure “State-Only Deciles” is selected (this is the default)</a:t>
            </a:r>
            <a:endParaRPr sz="2300" dirty="0"/>
          </a:p>
          <a:p>
            <a:pPr marL="457200" lvl="0" indent="-374650" algn="l" rtl="0">
              <a:lnSpc>
                <a:spcPct val="100000"/>
              </a:lnSpc>
              <a:spcBef>
                <a:spcPts val="1000"/>
              </a:spcBef>
              <a:spcAft>
                <a:spcPts val="0"/>
              </a:spcAft>
              <a:buSzPts val="2300"/>
              <a:buChar char="•"/>
            </a:pPr>
            <a:r>
              <a:rPr lang="en-US" sz="2300" dirty="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Enter the test address located within the project area</a:t>
            </a:r>
            <a:r>
              <a:rPr lang="en-US" sz="2300" dirty="0"/>
              <a:t>.</a:t>
            </a:r>
            <a:endParaRPr sz="2300" dirty="0"/>
          </a:p>
          <a:p>
            <a:pPr marL="457200" lvl="0" indent="-374650" algn="l" rtl="0">
              <a:lnSpc>
                <a:spcPct val="100000"/>
              </a:lnSpc>
              <a:spcBef>
                <a:spcPts val="1000"/>
              </a:spcBef>
              <a:spcAft>
                <a:spcPts val="0"/>
              </a:spcAft>
              <a:buSzPts val="2300"/>
              <a:buChar char="•"/>
            </a:pPr>
            <a:r>
              <a:rPr lang="en-US" sz="2300" dirty="0"/>
              <a:t>Select “Search”</a:t>
            </a:r>
            <a:endParaRPr sz="2300" dirty="0"/>
          </a:p>
          <a:p>
            <a:pPr marL="457200" lvl="0" indent="-374650" algn="l" rtl="0">
              <a:lnSpc>
                <a:spcPct val="100000"/>
              </a:lnSpc>
              <a:spcBef>
                <a:spcPts val="1000"/>
              </a:spcBef>
              <a:spcAft>
                <a:spcPts val="0"/>
              </a:spcAft>
              <a:buSzPts val="2300"/>
              <a:buChar char="•"/>
            </a:pPr>
            <a:r>
              <a:rPr lang="en-US" sz="2300" dirty="0"/>
              <a:t>A State Decile Information box will appear. Use this for the ADI value AND the point value.</a:t>
            </a:r>
            <a:endParaRPr sz="2300" dirty="0"/>
          </a:p>
          <a:p>
            <a:pPr marL="914400" lvl="1" indent="-342900" algn="l" rtl="0">
              <a:lnSpc>
                <a:spcPct val="115000"/>
              </a:lnSpc>
              <a:spcBef>
                <a:spcPts val="1000"/>
              </a:spcBef>
              <a:spcAft>
                <a:spcPts val="0"/>
              </a:spcAft>
              <a:buSzPts val="1800"/>
              <a:buChar char="–"/>
            </a:pPr>
            <a:r>
              <a:rPr lang="en-US" sz="2300" dirty="0"/>
              <a:t>I</a:t>
            </a:r>
            <a:r>
              <a:rPr lang="en-US" sz="2100" dirty="0"/>
              <a:t>f the project area straddles multiple state decile values, average them.</a:t>
            </a:r>
          </a:p>
          <a:p>
            <a:pPr marL="914400" lvl="1" indent="-342900" algn="l" rtl="0">
              <a:lnSpc>
                <a:spcPct val="115000"/>
              </a:lnSpc>
              <a:spcBef>
                <a:spcPts val="1000"/>
              </a:spcBef>
              <a:spcAft>
                <a:spcPts val="0"/>
              </a:spcAft>
              <a:buSzPts val="1800"/>
              <a:buChar char="–"/>
            </a:pPr>
            <a:r>
              <a:rPr lang="en-US" sz="2100" dirty="0"/>
              <a:t>Round decimal of .5 or more up to the next whole number and decimals under .5 down.</a:t>
            </a:r>
            <a:endParaRPr sz="2100" dirty="0"/>
          </a:p>
          <a:p>
            <a:pPr marL="457200" lvl="0" indent="-387350" algn="l" rtl="0">
              <a:lnSpc>
                <a:spcPct val="115000"/>
              </a:lnSpc>
              <a:spcBef>
                <a:spcPts val="1000"/>
              </a:spcBef>
              <a:spcAft>
                <a:spcPts val="0"/>
              </a:spcAft>
              <a:buSzPts val="2500"/>
              <a:buChar char="•"/>
            </a:pPr>
            <a:r>
              <a:rPr lang="en-US" sz="2300" dirty="0"/>
              <a:t>Place the value, between 1 and 10 in the “Pts” column</a:t>
            </a:r>
            <a:endParaRPr sz="500" dirty="0">
              <a:latin typeface="Arial"/>
              <a:ea typeface="Arial"/>
              <a:cs typeface="Arial"/>
              <a:sym typeface="Arial"/>
            </a:endParaRPr>
          </a:p>
          <a:p>
            <a:pPr marL="457200" lvl="0" indent="0" algn="l" rtl="0">
              <a:lnSpc>
                <a:spcPct val="100000"/>
              </a:lnSpc>
              <a:spcBef>
                <a:spcPts val="1000"/>
              </a:spcBef>
              <a:spcAft>
                <a:spcPts val="0"/>
              </a:spcAft>
              <a:buSzPts val="1800"/>
              <a:buNone/>
            </a:pPr>
            <a:endParaRPr dirty="0"/>
          </a:p>
        </p:txBody>
      </p:sp>
      <p:sp>
        <p:nvSpPr>
          <p:cNvPr id="2" name="Footer Placeholder 1">
            <a:extLst>
              <a:ext uri="{FF2B5EF4-FFF2-40B4-BE49-F238E27FC236}">
                <a16:creationId xmlns:a16="http://schemas.microsoft.com/office/drawing/2014/main" id="{C183EA4A-E4CD-0C41-BEF0-A3BBEFFFA918}"/>
              </a:ext>
            </a:extLst>
          </p:cNvPr>
          <p:cNvSpPr>
            <a:spLocks noGrp="1"/>
          </p:cNvSpPr>
          <p:nvPr>
            <p:ph type="ftr" idx="11"/>
          </p:nvPr>
        </p:nvSpPr>
        <p:spPr/>
        <p:txBody>
          <a:bodyPr/>
          <a:lstStyle/>
          <a:p>
            <a:r>
              <a:rPr lang="en-US"/>
              <a:t>V9B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g77d70e11da_0_2"/>
          <p:cNvSpPr/>
          <p:nvPr/>
        </p:nvSpPr>
        <p:spPr>
          <a:xfrm>
            <a:off x="1157416" y="120134"/>
            <a:ext cx="45432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172" name="Google Shape;172;g77d70e11da_0_2"/>
          <p:cNvGraphicFramePr/>
          <p:nvPr/>
        </p:nvGraphicFramePr>
        <p:xfrm>
          <a:off x="110067" y="643355"/>
          <a:ext cx="6654800" cy="7461320"/>
        </p:xfrm>
        <a:graphic>
          <a:graphicData uri="http://schemas.openxmlformats.org/drawingml/2006/table">
            <a:tbl>
              <a:tblPr firstRow="1" bandRow="1">
                <a:noFill/>
                <a:tableStyleId>{CAC760E6-1B21-447E-AD2F-912B2140AA3E}</a:tableStyleId>
              </a:tblPr>
              <a:tblGrid>
                <a:gridCol w="54610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2809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needs assessment</a:t>
                      </a:r>
                      <a:endParaRPr sz="1400" u="none" strike="noStrike" cap="none"/>
                    </a:p>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088800">
                <a:tc>
                  <a:txBody>
                    <a:bodyPr/>
                    <a:lstStyle/>
                    <a:p>
                      <a:pPr marL="0" marR="0" lvl="0" indent="0" algn="l" rtl="0">
                        <a:lnSpc>
                          <a:spcPct val="100000"/>
                        </a:lnSpc>
                        <a:spcBef>
                          <a:spcPts val="0"/>
                        </a:spcBef>
                        <a:spcAft>
                          <a:spcPts val="0"/>
                        </a:spcAft>
                        <a:buClr>
                          <a:schemeClr val="dk1"/>
                        </a:buClr>
                        <a:buSzPts val="1100"/>
                        <a:buFont typeface="Arial"/>
                        <a:buNone/>
                      </a:pPr>
                      <a:r>
                        <a:rPr lang="en-US" sz="1100" u="none" strike="noStrike" cap="none"/>
                        <a:t>S1Q1: How underserved is the geographic area where the project will be built?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use U. of Wisconsin Area Deprivation Index (state deciles), available </a:t>
                      </a:r>
                      <a:r>
                        <a:rPr lang="en-US" sz="1100" u="sng" strike="noStrike" cap="none">
                          <a:solidFill>
                            <a:srgbClr val="0000FF"/>
                          </a:solidFill>
                          <a:hlinkClick r:id="rId3">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https://www.neighborhoodatlas.medicine.wisc.edu/mapping</a:t>
                      </a:r>
                      <a:endParaRPr sz="1100" u="none" strike="noStrike" cap="none">
                        <a:solidFill>
                          <a:schemeClr val="dk1"/>
                        </a:solidFill>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rgbClr val="FF0000"/>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ADI (least disadvantaged)                                                                 (most disadvantaged)</a:t>
                      </a:r>
                      <a:endParaRPr sz="1100" b="1" u="none" strike="noStrike" cap="none">
                        <a:solidFill>
                          <a:srgbClr val="FF0000"/>
                        </a:solidFill>
                      </a:endParaRPr>
                    </a:p>
                    <a:p>
                      <a:pPr marL="0" marR="0" lvl="0" indent="0" algn="l" rtl="0">
                        <a:lnSpc>
                          <a:spcPct val="100000"/>
                        </a:lnSpc>
                        <a:spcBef>
                          <a:spcPts val="0"/>
                        </a:spcBef>
                        <a:spcAft>
                          <a:spcPts val="0"/>
                        </a:spcAft>
                        <a:buClr>
                          <a:srgbClr val="000000"/>
                        </a:buClr>
                        <a:buSzPts val="1100"/>
                        <a:buFont typeface="Arial"/>
                        <a:buNone/>
                      </a:pPr>
                      <a:r>
                        <a:rPr lang="en-US" sz="1100" b="1" u="none" strike="noStrike" cap="none">
                          <a:solidFill>
                            <a:srgbClr val="FF0000"/>
                          </a:solidFill>
                        </a:rPr>
                        <a:t>ADI &amp; Points: 1           2          3         4          5            6             7           8             9            10</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Equity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/10</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tc>
                <a:extLst>
                  <a:ext uri="{0D108BD9-81ED-4DB2-BD59-A6C34878D82A}">
                    <a16:rowId xmlns:a16="http://schemas.microsoft.com/office/drawing/2014/main" val="10001"/>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dirty="0"/>
                        <a:t>S1Q2: </a:t>
                      </a:r>
                      <a:r>
                        <a:rPr lang="en-US" sz="1100" b="0" i="0" u="none" strike="noStrike" cap="none" dirty="0"/>
                        <a:t>What is the current rate of biking to work in the proposed project’s Census Tract? </a:t>
                      </a:r>
                      <a:endParaRPr sz="1400" u="none" strike="noStrike" cap="none" dirty="0"/>
                    </a:p>
                    <a:p>
                      <a:pPr marL="0" marR="0" lvl="0" indent="0" algn="l" rtl="0">
                        <a:lnSpc>
                          <a:spcPct val="100000"/>
                        </a:lnSpc>
                        <a:spcBef>
                          <a:spcPts val="0"/>
                        </a:spcBef>
                        <a:spcAft>
                          <a:spcPts val="0"/>
                        </a:spcAft>
                        <a:buClr>
                          <a:srgbClr val="0000FF"/>
                        </a:buClr>
                        <a:buSzPts val="1100"/>
                        <a:buFont typeface="Calibri"/>
                        <a:buNone/>
                      </a:pPr>
                      <a:r>
                        <a:rPr lang="en-US" sz="1100" u="none" strike="noStrike" cap="none" dirty="0">
                          <a:solidFill>
                            <a:srgbClr val="0000FF"/>
                          </a:solidFill>
                        </a:rPr>
                        <a:t>(use U.S. Census data, available </a:t>
                      </a:r>
                      <a:r>
                        <a:rPr lang="en-US" sz="1100" u="sng" strike="noStrike" cap="none" dirty="0">
                          <a:solidFill>
                            <a:srgbClr val="0000FF"/>
                          </a:solidFill>
                          <a:hlinkClick r:id="rId4">
                            <a:extLst>
                              <a:ext uri="{A12FA001-AC4F-418D-AE19-62706E023703}">
                                <ahyp:hlinkClr xmlns:ahyp="http://schemas.microsoft.com/office/drawing/2018/hyperlinkcolor" val="tx"/>
                              </a:ext>
                            </a:extLst>
                          </a:hlinkClick>
                        </a:rPr>
                        <a:t>here</a:t>
                      </a:r>
                      <a:r>
                        <a:rPr lang="en-US" sz="1100" u="none" strike="noStrike" cap="none" dirty="0">
                          <a:solidFill>
                            <a:srgbClr val="0000FF"/>
                          </a:solidFill>
                        </a:rPr>
                        <a:t>)</a:t>
                      </a:r>
                      <a:endParaRPr sz="1400" u="none" strike="noStrike" cap="none" dirty="0"/>
                    </a:p>
                    <a:p>
                      <a:pPr marL="0" marR="0" lvl="0" indent="0" algn="l" rtl="0">
                        <a:lnSpc>
                          <a:spcPct val="100000"/>
                        </a:lnSpc>
                        <a:spcBef>
                          <a:spcPts val="0"/>
                        </a:spcBef>
                        <a:spcAft>
                          <a:spcPts val="0"/>
                        </a:spcAft>
                        <a:buClr>
                          <a:schemeClr val="dk1"/>
                        </a:buClr>
                        <a:buSzPts val="1100"/>
                        <a:buFont typeface="Calibri"/>
                        <a:buNone/>
                      </a:pPr>
                      <a:endParaRPr sz="1100" b="1" u="none" strike="noStrike" cap="none" dirty="0">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dirty="0">
                          <a:solidFill>
                            <a:schemeClr val="dk1"/>
                          </a:solidFill>
                        </a:rPr>
                        <a:t>Rate:     0-.3%                   .4-1.2%                 1.3-2.5%                 2.6-4.3%            4.9-7.1%</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1                             2                              3                             4                        5               </a:t>
                      </a:r>
                      <a:endParaRPr sz="1400" u="none" strike="noStrike" cap="none" dirty="0"/>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2"/>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S1Q3: </a:t>
                      </a:r>
                      <a:r>
                        <a:rPr lang="en-US" sz="1100" b="0" i="0" u="none" strike="noStrike" cap="none"/>
                        <a:t>What is the current rate of walking to work in the proposed project’s Census Tract? </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U.S. Census data, available </a:t>
                      </a:r>
                      <a:r>
                        <a:rPr lang="en-US" sz="1100" u="sng" strike="noStrike" cap="none">
                          <a:solidFill>
                            <a:srgbClr val="0000FF"/>
                          </a:solidFill>
                          <a:hlinkClick r:id="rId5">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Rate:         0-1.7%               1.8-5%                 5.4-11%           13.6-22.5%          45.3-57.6%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3"/>
                  </a:ext>
                </a:extLst>
              </a:tr>
              <a:tr h="12506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S1Q4: </a:t>
                      </a:r>
                      <a:r>
                        <a:rPr lang="en-US" sz="1100" b="0" i="0" u="none" strike="noStrike" cap="none"/>
                        <a:t>What is the pedestrian crash density in the area?  (pedestrian crashes/sq. mile)</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NDOT map, available </a:t>
                      </a:r>
                      <a:r>
                        <a:rPr lang="en-US" sz="1100" u="sng" strike="noStrike" cap="none">
                          <a:solidFill>
                            <a:srgbClr val="0000FF"/>
                          </a:solidFill>
                          <a:hlinkClick r:id="rId6">
                            <a:extLst>
                              <a:ext uri="{A12FA001-AC4F-418D-AE19-62706E023703}">
                                <ahyp:hlinkClr xmlns:ahyp="http://schemas.microsoft.com/office/drawing/2018/hyperlinkcolor" val="tx"/>
                              </a:ext>
                            </a:extLst>
                          </a:hlinkClick>
                        </a:rPr>
                        <a:t>here</a:t>
                      </a:r>
                      <a:r>
                        <a:rPr lang="en-US" sz="1100" u="none" strike="noStrike" cap="none">
                          <a:solidFill>
                            <a:srgbClr val="0000FF"/>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0-8                        9-16                        17-27                     28-47                   48+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4"/>
                  </a:ext>
                </a:extLst>
              </a:tr>
              <a:tr h="13527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S1Q5: </a:t>
                      </a:r>
                      <a:r>
                        <a:rPr lang="en-US" sz="1100" b="0" i="0" u="none" strike="noStrike" cap="none"/>
                        <a:t>What is the bicycle crash density in the area?  (bicycle crashes/sq. mile)</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NDOT map, available </a:t>
                      </a:r>
                      <a:r>
                        <a:rPr lang="en-US" sz="1100" u="sng" strike="noStrike" cap="none">
                          <a:solidFill>
                            <a:srgbClr val="0000FF"/>
                          </a:solidFill>
                          <a:hlinkClick r:id="rId6">
                            <a:extLst>
                              <a:ext uri="{A12FA001-AC4F-418D-AE19-62706E023703}">
                                <ahyp:hlinkClr xmlns:ahyp="http://schemas.microsoft.com/office/drawing/2018/hyperlinkcolor" val="tx"/>
                              </a:ext>
                            </a:extLst>
                          </a:hlinkClick>
                        </a:rPr>
                        <a:t>here</a:t>
                      </a:r>
                      <a:r>
                        <a:rPr lang="en-US" sz="1100" u="none" strike="noStrike" cap="none">
                          <a:solidFill>
                            <a:srgbClr val="0000FF"/>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0-4                        5-7                        8-10                     11-15                    15+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5"/>
                  </a:ext>
                </a:extLst>
              </a:tr>
              <a:tr h="135277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S1Q6</a:t>
                      </a:r>
                      <a:r>
                        <a:rPr lang="en-US" sz="1100" b="1" u="none" strike="noStrike" cap="none">
                          <a:solidFill>
                            <a:srgbClr val="000000"/>
                          </a:solidFill>
                        </a:rPr>
                        <a:t>: </a:t>
                      </a:r>
                      <a:r>
                        <a:rPr lang="en-US" sz="1100" u="none" strike="noStrike" cap="none">
                          <a:solidFill>
                            <a:srgbClr val="000000"/>
                          </a:solidFill>
                        </a:rPr>
                        <a:t>What is the land use diversity index? (jobs to housing)</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Smart Location database (c. 2010), available here:</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a:solidFill>
                            <a:srgbClr val="0432FF"/>
                          </a:solidFill>
                          <a:hlinkClick r:id="rId7">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00"/>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Diversity:    0-2         2-3        3-4      4-5       5-6          6-7        7-8        8-9         9-10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1.5          2        2.5         3            3.5         4          4.5            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a:t>
                      </a:r>
                      <a:endParaRPr sz="1400" u="none" strike="noStrike" cap="none" dirty="0"/>
                    </a:p>
                  </a:txBody>
                  <a:tcPr marL="68575" marR="68575" marT="60950" marB="60950"/>
                </a:tc>
                <a:extLst>
                  <a:ext uri="{0D108BD9-81ED-4DB2-BD59-A6C34878D82A}">
                    <a16:rowId xmlns:a16="http://schemas.microsoft.com/office/drawing/2014/main" val="10006"/>
                  </a:ext>
                </a:extLst>
              </a:tr>
            </a:tbl>
          </a:graphicData>
        </a:graphic>
      </p:graphicFrame>
      <p:sp>
        <p:nvSpPr>
          <p:cNvPr id="2" name="Footer Placeholder 1">
            <a:extLst>
              <a:ext uri="{FF2B5EF4-FFF2-40B4-BE49-F238E27FC236}">
                <a16:creationId xmlns:a16="http://schemas.microsoft.com/office/drawing/2014/main" id="{553E1E14-29D5-2F44-AC4C-D94B1460BC9B}"/>
              </a:ext>
            </a:extLst>
          </p:cNvPr>
          <p:cNvSpPr>
            <a:spLocks noGrp="1"/>
          </p:cNvSpPr>
          <p:nvPr>
            <p:ph type="ftr" idx="11"/>
          </p:nvPr>
        </p:nvSpPr>
        <p:spPr/>
        <p:txBody>
          <a:bodyPr/>
          <a:lstStyle/>
          <a:p>
            <a:r>
              <a:rPr lang="en-US"/>
              <a:t>V9B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g77d70e11da_0_9"/>
          <p:cNvSpPr txBox="1">
            <a:spLocks noGrp="1"/>
          </p:cNvSpPr>
          <p:nvPr>
            <p:ph type="title"/>
          </p:nvPr>
        </p:nvSpPr>
        <p:spPr>
          <a:xfrm>
            <a:off x="342900" y="89425"/>
            <a:ext cx="6172200" cy="885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500"/>
              <a:t>S1Q2 Instructions</a:t>
            </a:r>
            <a:endParaRPr sz="4500"/>
          </a:p>
        </p:txBody>
      </p:sp>
      <p:sp>
        <p:nvSpPr>
          <p:cNvPr id="180" name="Google Shape;180;g77d70e11da_0_9"/>
          <p:cNvSpPr txBox="1">
            <a:spLocks noGrp="1"/>
          </p:cNvSpPr>
          <p:nvPr>
            <p:ph type="body" idx="1"/>
          </p:nvPr>
        </p:nvSpPr>
        <p:spPr>
          <a:xfrm>
            <a:off x="280998" y="975325"/>
            <a:ext cx="6172200" cy="7892100"/>
          </a:xfrm>
          <a:prstGeom prst="rect">
            <a:avLst/>
          </a:prstGeom>
          <a:noFill/>
          <a:ln>
            <a:noFill/>
          </a:ln>
        </p:spPr>
        <p:txBody>
          <a:bodyPr spcFirstLastPara="1" wrap="square" lIns="91425" tIns="45700" rIns="91425" bIns="45700" anchor="t" anchorCtr="0">
            <a:noAutofit/>
          </a:bodyPr>
          <a:lstStyle/>
          <a:p>
            <a:pPr marL="457200" lvl="0" indent="-387350" algn="l" rtl="0">
              <a:spcBef>
                <a:spcPts val="0"/>
              </a:spcBef>
              <a:spcAft>
                <a:spcPts val="0"/>
              </a:spcAft>
              <a:buSzPts val="2500"/>
              <a:buChar char="●"/>
            </a:pPr>
            <a:r>
              <a:rPr lang="en-US" sz="2000" dirty="0"/>
              <a:t>Click the link for U.S. Census Data on biking to work, available </a:t>
            </a:r>
            <a:r>
              <a:rPr lang="en-US" sz="2000" u="sng" dirty="0">
                <a:solidFill>
                  <a:schemeClr val="hlink"/>
                </a:solidFill>
                <a:hlinkClick r:id="rId3"/>
              </a:rPr>
              <a:t>here</a:t>
            </a:r>
            <a:r>
              <a:rPr lang="en-US" sz="2000" dirty="0"/>
              <a:t>. </a:t>
            </a:r>
            <a:endParaRPr sz="2000" dirty="0"/>
          </a:p>
          <a:p>
            <a:pPr marL="457200" lvl="0" indent="-387350" algn="l" rtl="0">
              <a:spcBef>
                <a:spcPts val="1000"/>
              </a:spcBef>
              <a:spcAft>
                <a:spcPts val="0"/>
              </a:spcAft>
              <a:buSzPts val="2500"/>
              <a:buChar char="●"/>
            </a:pPr>
            <a:r>
              <a:rPr lang="en-US" sz="2000" dirty="0"/>
              <a:t>Select “Table” and on the left-hand panel under “Selection Map” select “Commuting Characteristics by Sex” and then select “Table” once more</a:t>
            </a:r>
            <a:endParaRPr sz="2000" dirty="0"/>
          </a:p>
          <a:p>
            <a:pPr marL="914400" lvl="1" indent="-387350" algn="l" rtl="0">
              <a:spcBef>
                <a:spcPts val="1000"/>
              </a:spcBef>
              <a:spcAft>
                <a:spcPts val="0"/>
              </a:spcAft>
              <a:buSzPts val="2500"/>
              <a:buChar char="○"/>
            </a:pPr>
            <a:r>
              <a:rPr lang="en-US" sz="2000" dirty="0"/>
              <a:t>Use “Geographies” and select “Tract”, “Nevada”, “Clark County, NV”, “All Census Tracts in Clark County” and close.</a:t>
            </a:r>
            <a:endParaRPr sz="2000" dirty="0"/>
          </a:p>
          <a:p>
            <a:pPr marL="914400" lvl="1" indent="-387350" algn="l" rtl="0">
              <a:spcBef>
                <a:spcPts val="1000"/>
              </a:spcBef>
              <a:spcAft>
                <a:spcPts val="0"/>
              </a:spcAft>
              <a:buSzPts val="2500"/>
              <a:buChar char="○"/>
            </a:pPr>
            <a:r>
              <a:rPr lang="en-US" sz="2000" dirty="0"/>
              <a:t>Select “Map”</a:t>
            </a:r>
          </a:p>
          <a:p>
            <a:pPr marL="914400" lvl="1" indent="-387350" algn="l" rtl="0">
              <a:spcBef>
                <a:spcPts val="1000"/>
              </a:spcBef>
              <a:spcAft>
                <a:spcPts val="0"/>
              </a:spcAft>
              <a:buSzPts val="2500"/>
              <a:buChar char="○"/>
            </a:pPr>
            <a:r>
              <a:rPr lang="en-US" sz="2000" dirty="0"/>
              <a:t>Be sure to use the most current time period for which data is available</a:t>
            </a:r>
            <a:endParaRPr sz="2000" dirty="0"/>
          </a:p>
          <a:p>
            <a:pPr marL="0" marR="209550" lvl="0" indent="0" algn="l" rtl="0">
              <a:spcBef>
                <a:spcPts val="0"/>
              </a:spcBef>
              <a:spcAft>
                <a:spcPts val="0"/>
              </a:spcAft>
              <a:buNone/>
            </a:pPr>
            <a:endParaRPr sz="1100" dirty="0"/>
          </a:p>
          <a:p>
            <a:pPr marL="457200" lvl="0" indent="-387350" algn="l" rtl="0">
              <a:spcBef>
                <a:spcPts val="0"/>
              </a:spcBef>
              <a:spcAft>
                <a:spcPts val="0"/>
              </a:spcAft>
              <a:buSzPts val="2500"/>
              <a:buChar char="●"/>
            </a:pPr>
            <a:r>
              <a:rPr lang="en-US" sz="2000" dirty="0"/>
              <a:t>Zoom in to approximate the project area</a:t>
            </a:r>
            <a:endParaRPr sz="2000" dirty="0"/>
          </a:p>
          <a:p>
            <a:pPr marL="457200" lvl="0" indent="-387350" algn="l" rtl="0">
              <a:spcBef>
                <a:spcPts val="1000"/>
              </a:spcBef>
              <a:spcAft>
                <a:spcPts val="0"/>
              </a:spcAft>
              <a:buSzPts val="2500"/>
              <a:buChar char="●"/>
            </a:pPr>
            <a:r>
              <a:rPr lang="en-US" sz="2000" dirty="0"/>
              <a:t>Use the legend to identify the rate percentile of biking to work</a:t>
            </a:r>
            <a:endParaRPr sz="2000" dirty="0"/>
          </a:p>
          <a:p>
            <a:pPr marL="914400" lvl="1" indent="-387350" algn="l" rtl="0">
              <a:spcBef>
                <a:spcPts val="1000"/>
              </a:spcBef>
              <a:spcAft>
                <a:spcPts val="0"/>
              </a:spcAft>
              <a:buSzPts val="2500"/>
              <a:buChar char="○"/>
            </a:pPr>
            <a:r>
              <a:rPr lang="en-US" sz="2000" dirty="0"/>
              <a:t>Be sure to identify the rate percentile, not the Census Tract</a:t>
            </a:r>
          </a:p>
          <a:p>
            <a:pPr marL="914400" lvl="1" indent="-387350" algn="l" rtl="0">
              <a:spcBef>
                <a:spcPts val="1000"/>
              </a:spcBef>
              <a:spcAft>
                <a:spcPts val="0"/>
              </a:spcAft>
              <a:buSzPts val="2500"/>
              <a:buChar char="○"/>
            </a:pPr>
            <a:r>
              <a:rPr lang="en-US" sz="2000" dirty="0"/>
              <a:t>If project area straddles multiple percentile groups (i.e. is in multiple Tracts), take the average</a:t>
            </a:r>
            <a:endParaRPr sz="2000" dirty="0"/>
          </a:p>
          <a:p>
            <a:pPr marL="457200" lvl="0" indent="-387350" algn="l" rtl="0">
              <a:spcBef>
                <a:spcPts val="1000"/>
              </a:spcBef>
              <a:spcAft>
                <a:spcPts val="0"/>
              </a:spcAft>
              <a:buSzPts val="2500"/>
              <a:buChar char="●"/>
            </a:pPr>
            <a:r>
              <a:rPr lang="en-US" sz="2000" dirty="0"/>
              <a:t>Assign and record the corresponding points</a:t>
            </a:r>
            <a:endParaRPr sz="2000" dirty="0"/>
          </a:p>
        </p:txBody>
      </p:sp>
      <p:sp>
        <p:nvSpPr>
          <p:cNvPr id="2" name="Footer Placeholder 1">
            <a:extLst>
              <a:ext uri="{FF2B5EF4-FFF2-40B4-BE49-F238E27FC236}">
                <a16:creationId xmlns:a16="http://schemas.microsoft.com/office/drawing/2014/main" id="{26D0DA95-E65C-5E45-85BA-49EB16C765C2}"/>
              </a:ext>
            </a:extLst>
          </p:cNvPr>
          <p:cNvSpPr>
            <a:spLocks noGrp="1"/>
          </p:cNvSpPr>
          <p:nvPr>
            <p:ph type="ftr" idx="11"/>
          </p:nvPr>
        </p:nvSpPr>
        <p:spPr/>
        <p:txBody>
          <a:bodyPr/>
          <a:lstStyle/>
          <a:p>
            <a:r>
              <a:rPr lang="en-US"/>
              <a:t>V9B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4" name="Google Shape;194;g77d70e11da_0_15"/>
          <p:cNvSpPr/>
          <p:nvPr/>
        </p:nvSpPr>
        <p:spPr>
          <a:xfrm>
            <a:off x="1157416" y="120134"/>
            <a:ext cx="45432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195" name="Google Shape;195;g77d70e11da_0_15"/>
          <p:cNvGraphicFramePr/>
          <p:nvPr/>
        </p:nvGraphicFramePr>
        <p:xfrm>
          <a:off x="110067" y="643355"/>
          <a:ext cx="6654800" cy="7461320"/>
        </p:xfrm>
        <a:graphic>
          <a:graphicData uri="http://schemas.openxmlformats.org/drawingml/2006/table">
            <a:tbl>
              <a:tblPr firstRow="1" bandRow="1">
                <a:noFill/>
                <a:tableStyleId>{CAC760E6-1B21-447E-AD2F-912B2140AA3E}</a:tableStyleId>
              </a:tblPr>
              <a:tblGrid>
                <a:gridCol w="54610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2809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needs assessment</a:t>
                      </a:r>
                      <a:endParaRPr sz="1400" u="none" strike="noStrike" cap="none"/>
                    </a:p>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088800">
                <a:tc>
                  <a:txBody>
                    <a:bodyPr/>
                    <a:lstStyle/>
                    <a:p>
                      <a:pPr marL="0" marR="0" lvl="0" indent="0" algn="l" rtl="0">
                        <a:lnSpc>
                          <a:spcPct val="100000"/>
                        </a:lnSpc>
                        <a:spcBef>
                          <a:spcPts val="0"/>
                        </a:spcBef>
                        <a:spcAft>
                          <a:spcPts val="0"/>
                        </a:spcAft>
                        <a:buClr>
                          <a:schemeClr val="dk1"/>
                        </a:buClr>
                        <a:buSzPts val="1100"/>
                        <a:buFont typeface="Arial"/>
                        <a:buNone/>
                      </a:pPr>
                      <a:r>
                        <a:rPr lang="en-US" sz="1100" u="none" strike="noStrike" cap="none"/>
                        <a:t>S1Q1: How underserved is the geographic area where the project will be built?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use U. of Wisconsin Area Deprivation Index (state deciles), available </a:t>
                      </a:r>
                      <a:r>
                        <a:rPr lang="en-US" sz="1100" u="sng" strike="noStrike" cap="none">
                          <a:solidFill>
                            <a:srgbClr val="0000FF"/>
                          </a:solidFill>
                          <a:hlinkClick r:id="rId3">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https://www.neighborhoodatlas.medicine.wisc.edu/mapping</a:t>
                      </a:r>
                      <a:endParaRPr sz="1100" u="none" strike="noStrike" cap="none">
                        <a:solidFill>
                          <a:schemeClr val="dk1"/>
                        </a:solidFill>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rgbClr val="FF0000"/>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ADI (least disadvantaged)                                                                 (most disadvantaged)</a:t>
                      </a:r>
                      <a:endParaRPr sz="1100" b="1" u="none" strike="noStrike" cap="none">
                        <a:solidFill>
                          <a:srgbClr val="FF0000"/>
                        </a:solidFill>
                      </a:endParaRPr>
                    </a:p>
                    <a:p>
                      <a:pPr marL="0" marR="0" lvl="0" indent="0" algn="l" rtl="0">
                        <a:lnSpc>
                          <a:spcPct val="100000"/>
                        </a:lnSpc>
                        <a:spcBef>
                          <a:spcPts val="0"/>
                        </a:spcBef>
                        <a:spcAft>
                          <a:spcPts val="0"/>
                        </a:spcAft>
                        <a:buClr>
                          <a:srgbClr val="000000"/>
                        </a:buClr>
                        <a:buSzPts val="1100"/>
                        <a:buFont typeface="Arial"/>
                        <a:buNone/>
                      </a:pPr>
                      <a:r>
                        <a:rPr lang="en-US" sz="1100" b="1" u="none" strike="noStrike" cap="none">
                          <a:solidFill>
                            <a:srgbClr val="FF0000"/>
                          </a:solidFill>
                        </a:rPr>
                        <a:t>ADI &amp; Points: 1           2          3         4          5            6             7           8             9            10</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Equity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/10</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tc>
                <a:extLst>
                  <a:ext uri="{0D108BD9-81ED-4DB2-BD59-A6C34878D82A}">
                    <a16:rowId xmlns:a16="http://schemas.microsoft.com/office/drawing/2014/main" val="10001"/>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S1Q2: </a:t>
                      </a:r>
                      <a:r>
                        <a:rPr lang="en-US" sz="1100" b="0" i="0" u="none" strike="noStrike" cap="none"/>
                        <a:t>What is the current rate of biking to work in the proposed project’s Census Tract? </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U.S. Census data, available </a:t>
                      </a:r>
                      <a:r>
                        <a:rPr lang="en-US" sz="1100" u="sng" strike="noStrike" cap="none">
                          <a:solidFill>
                            <a:srgbClr val="0000FF"/>
                          </a:solidFill>
                          <a:hlinkClick r:id="rId4">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Rate:     0-.3%                   .4-1.2%                 1.3-2.5%                 2.6-4.3%            4.9-7.1%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2"/>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S1Q3: </a:t>
                      </a:r>
                      <a:r>
                        <a:rPr lang="en-US" sz="1100" b="0" i="0" u="none" strike="noStrike" cap="none"/>
                        <a:t>What is the current rate of walking to work in the proposed project’s Census Tract? </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U.S. Census data, available </a:t>
                      </a:r>
                      <a:r>
                        <a:rPr lang="en-US" sz="1100" u="sng" strike="noStrike" cap="none">
                          <a:solidFill>
                            <a:srgbClr val="0000FF"/>
                          </a:solidFill>
                          <a:hlinkClick r:id="rId5">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Rate:         0-1.7%               1.8-5%                 5.4-11%           13.6-22.5%          45.3-57.6%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3"/>
                  </a:ext>
                </a:extLst>
              </a:tr>
              <a:tr h="12506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S1Q4: </a:t>
                      </a:r>
                      <a:r>
                        <a:rPr lang="en-US" sz="1100" b="0" i="0" u="none" strike="noStrike" cap="none"/>
                        <a:t>What is the pedestrian crash density in the area?  (pedestrian crashes/sq. mile)</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NDOT map, available </a:t>
                      </a:r>
                      <a:r>
                        <a:rPr lang="en-US" sz="1100" u="sng" strike="noStrike" cap="none">
                          <a:solidFill>
                            <a:srgbClr val="0000FF"/>
                          </a:solidFill>
                          <a:hlinkClick r:id="rId6">
                            <a:extLst>
                              <a:ext uri="{A12FA001-AC4F-418D-AE19-62706E023703}">
                                <ahyp:hlinkClr xmlns:ahyp="http://schemas.microsoft.com/office/drawing/2018/hyperlinkcolor" val="tx"/>
                              </a:ext>
                            </a:extLst>
                          </a:hlinkClick>
                        </a:rPr>
                        <a:t>here</a:t>
                      </a:r>
                      <a:r>
                        <a:rPr lang="en-US" sz="1100" u="none" strike="noStrike" cap="none">
                          <a:solidFill>
                            <a:srgbClr val="0000FF"/>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0-8                        9-16                        17-27                     28-47                   48+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4"/>
                  </a:ext>
                </a:extLst>
              </a:tr>
              <a:tr h="13527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S1Q5: </a:t>
                      </a:r>
                      <a:r>
                        <a:rPr lang="en-US" sz="1100" b="0" i="0" u="none" strike="noStrike" cap="none"/>
                        <a:t>What is the bicycle crash density in the area?  (bicycle crashes/sq. mile)</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NDOT map, available </a:t>
                      </a:r>
                      <a:r>
                        <a:rPr lang="en-US" sz="1100" u="sng" strike="noStrike" cap="none">
                          <a:solidFill>
                            <a:srgbClr val="0000FF"/>
                          </a:solidFill>
                          <a:hlinkClick r:id="rId6">
                            <a:extLst>
                              <a:ext uri="{A12FA001-AC4F-418D-AE19-62706E023703}">
                                <ahyp:hlinkClr xmlns:ahyp="http://schemas.microsoft.com/office/drawing/2018/hyperlinkcolor" val="tx"/>
                              </a:ext>
                            </a:extLst>
                          </a:hlinkClick>
                        </a:rPr>
                        <a:t>here</a:t>
                      </a:r>
                      <a:r>
                        <a:rPr lang="en-US" sz="1100" u="none" strike="noStrike" cap="none">
                          <a:solidFill>
                            <a:srgbClr val="0000FF"/>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0-4                        5-7                        8-10                     11-15                    15+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5"/>
                  </a:ext>
                </a:extLst>
              </a:tr>
              <a:tr h="135277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S1Q6: What is the land use diversity index? (jobs to housing)</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Smart Location database (c. 2010), available here:</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a:solidFill>
                            <a:srgbClr val="0432FF"/>
                          </a:solidFill>
                          <a:hlinkClick r:id="rId7">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00"/>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Diversity:    0-2         2-3        3-4      4-5       5-6          6-7        7-8        8-9         9-10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1.5          2        2.5         3            3.5         4          4.5            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6"/>
                  </a:ext>
                </a:extLst>
              </a:tr>
            </a:tbl>
          </a:graphicData>
        </a:graphic>
      </p:graphicFrame>
      <p:sp>
        <p:nvSpPr>
          <p:cNvPr id="2" name="Footer Placeholder 1">
            <a:extLst>
              <a:ext uri="{FF2B5EF4-FFF2-40B4-BE49-F238E27FC236}">
                <a16:creationId xmlns:a16="http://schemas.microsoft.com/office/drawing/2014/main" id="{E08B3B4F-2D42-234B-AEEF-95D12311C6A1}"/>
              </a:ext>
            </a:extLst>
          </p:cNvPr>
          <p:cNvSpPr>
            <a:spLocks noGrp="1"/>
          </p:cNvSpPr>
          <p:nvPr>
            <p:ph type="ftr" idx="11"/>
          </p:nvPr>
        </p:nvSpPr>
        <p:spPr/>
        <p:txBody>
          <a:bodyPr/>
          <a:lstStyle/>
          <a:p>
            <a:r>
              <a:rPr lang="en-US"/>
              <a:t>V9B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782f7d498b_0_14"/>
          <p:cNvSpPr txBox="1">
            <a:spLocks noGrp="1"/>
          </p:cNvSpPr>
          <p:nvPr>
            <p:ph type="title"/>
          </p:nvPr>
        </p:nvSpPr>
        <p:spPr>
          <a:xfrm>
            <a:off x="342900" y="133350"/>
            <a:ext cx="6172200" cy="885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500"/>
              <a:t>S1Q3 Instructions</a:t>
            </a:r>
            <a:endParaRPr sz="4500"/>
          </a:p>
        </p:txBody>
      </p:sp>
      <p:sp>
        <p:nvSpPr>
          <p:cNvPr id="203" name="Google Shape;203;g782f7d498b_0_14"/>
          <p:cNvSpPr txBox="1">
            <a:spLocks noGrp="1"/>
          </p:cNvSpPr>
          <p:nvPr>
            <p:ph type="body" idx="1"/>
          </p:nvPr>
        </p:nvSpPr>
        <p:spPr>
          <a:xfrm>
            <a:off x="174900" y="1123800"/>
            <a:ext cx="6508200" cy="7494600"/>
          </a:xfrm>
          <a:prstGeom prst="rect">
            <a:avLst/>
          </a:prstGeom>
          <a:noFill/>
          <a:ln>
            <a:noFill/>
          </a:ln>
        </p:spPr>
        <p:txBody>
          <a:bodyPr spcFirstLastPara="1" wrap="square" lIns="91425" tIns="45700" rIns="91425" bIns="45700" anchor="t" anchorCtr="0">
            <a:noAutofit/>
          </a:bodyPr>
          <a:lstStyle/>
          <a:p>
            <a:pPr marL="457200" lvl="0" indent="-387350" algn="l" rtl="0">
              <a:spcBef>
                <a:spcPts val="0"/>
              </a:spcBef>
              <a:spcAft>
                <a:spcPts val="0"/>
              </a:spcAft>
              <a:buSzPts val="2500"/>
              <a:buChar char="●"/>
            </a:pPr>
            <a:r>
              <a:rPr lang="en-US" sz="2500" dirty="0"/>
              <a:t>Click the link for U.S. Census Data on biking to work, available </a:t>
            </a:r>
            <a:r>
              <a:rPr lang="en-US" sz="2500" u="sng" dirty="0">
                <a:solidFill>
                  <a:schemeClr val="hlink"/>
                </a:solidFill>
                <a:hlinkClick r:id="rId3"/>
              </a:rPr>
              <a:t>here</a:t>
            </a:r>
            <a:r>
              <a:rPr lang="en-US" sz="2500" dirty="0"/>
              <a:t>. </a:t>
            </a:r>
            <a:endParaRPr sz="2500" dirty="0"/>
          </a:p>
          <a:p>
            <a:pPr marL="457200" lvl="0" indent="-387350" algn="l" rtl="0">
              <a:spcBef>
                <a:spcPts val="1000"/>
              </a:spcBef>
              <a:spcAft>
                <a:spcPts val="0"/>
              </a:spcAft>
              <a:buSzPts val="2500"/>
              <a:buChar char="●"/>
            </a:pPr>
            <a:r>
              <a:rPr lang="en-US" sz="2500" dirty="0"/>
              <a:t>Select “Table” and on the left-hand panel under “Selection Map” select “Commuting Characteristics by Sex” and then select “Table” once more</a:t>
            </a:r>
            <a:endParaRPr sz="2500" dirty="0"/>
          </a:p>
          <a:p>
            <a:pPr marL="914400" lvl="1" indent="-387350" algn="l" rtl="0">
              <a:spcBef>
                <a:spcPts val="1000"/>
              </a:spcBef>
              <a:spcAft>
                <a:spcPts val="0"/>
              </a:spcAft>
              <a:buSzPts val="2500"/>
              <a:buChar char="○"/>
            </a:pPr>
            <a:r>
              <a:rPr lang="en-US" sz="2500" dirty="0"/>
              <a:t>Use “Geographies” and select “Tract”, “Nevada”, “Clark County, NV”, “All Census Tracts in Clark County” and close.</a:t>
            </a:r>
            <a:endParaRPr sz="2500" dirty="0"/>
          </a:p>
          <a:p>
            <a:pPr marL="914400" lvl="1" indent="-387350" algn="l" rtl="0">
              <a:spcBef>
                <a:spcPts val="1000"/>
              </a:spcBef>
              <a:spcAft>
                <a:spcPts val="0"/>
              </a:spcAft>
              <a:buSzPts val="2500"/>
              <a:buChar char="○"/>
            </a:pPr>
            <a:r>
              <a:rPr lang="en-US" sz="2500" dirty="0"/>
              <a:t>Select “Map”</a:t>
            </a:r>
            <a:endParaRPr sz="2500" dirty="0"/>
          </a:p>
          <a:p>
            <a:pPr marL="0" marR="209550" lvl="0" indent="0" algn="l" rtl="0">
              <a:spcBef>
                <a:spcPts val="0"/>
              </a:spcBef>
              <a:spcAft>
                <a:spcPts val="0"/>
              </a:spcAft>
              <a:buNone/>
            </a:pPr>
            <a:endParaRPr sz="1400" dirty="0"/>
          </a:p>
          <a:p>
            <a:pPr marL="457200" lvl="0" indent="-387350" algn="l" rtl="0">
              <a:spcBef>
                <a:spcPts val="0"/>
              </a:spcBef>
              <a:spcAft>
                <a:spcPts val="0"/>
              </a:spcAft>
              <a:buSzPts val="2500"/>
              <a:buChar char="●"/>
            </a:pPr>
            <a:r>
              <a:rPr lang="en-US" sz="2500" dirty="0"/>
              <a:t>Zoom in to approximate the project area</a:t>
            </a:r>
            <a:endParaRPr sz="2500" dirty="0"/>
          </a:p>
          <a:p>
            <a:pPr marL="457200" lvl="0" indent="-387350" algn="l" rtl="0">
              <a:spcBef>
                <a:spcPts val="1000"/>
              </a:spcBef>
              <a:spcAft>
                <a:spcPts val="0"/>
              </a:spcAft>
              <a:buSzPts val="2500"/>
              <a:buChar char="●"/>
            </a:pPr>
            <a:r>
              <a:rPr lang="en-US" sz="2500" dirty="0"/>
              <a:t>Use the legend to identify the rate percentile of walking to work</a:t>
            </a:r>
            <a:endParaRPr sz="2500" dirty="0"/>
          </a:p>
          <a:p>
            <a:pPr marL="914400" lvl="1" indent="-387350" algn="l" rtl="0">
              <a:spcBef>
                <a:spcPts val="1000"/>
              </a:spcBef>
              <a:spcAft>
                <a:spcPts val="0"/>
              </a:spcAft>
              <a:buSzPts val="2500"/>
              <a:buChar char="○"/>
            </a:pPr>
            <a:r>
              <a:rPr lang="en-US" sz="2500" dirty="0"/>
              <a:t>If project area straddles multiple percentile groups, take the average</a:t>
            </a:r>
            <a:endParaRPr sz="2500" dirty="0"/>
          </a:p>
          <a:p>
            <a:pPr marL="457200" lvl="0" indent="-387350" algn="l" rtl="0">
              <a:spcBef>
                <a:spcPts val="1000"/>
              </a:spcBef>
              <a:spcAft>
                <a:spcPts val="0"/>
              </a:spcAft>
              <a:buSzPts val="2500"/>
              <a:buChar char="●"/>
            </a:pPr>
            <a:r>
              <a:rPr lang="en-US" sz="2500" dirty="0"/>
              <a:t>Assign and record the corresponding points</a:t>
            </a:r>
            <a:endParaRPr sz="2700" dirty="0"/>
          </a:p>
        </p:txBody>
      </p:sp>
      <p:sp>
        <p:nvSpPr>
          <p:cNvPr id="2" name="Footer Placeholder 1">
            <a:extLst>
              <a:ext uri="{FF2B5EF4-FFF2-40B4-BE49-F238E27FC236}">
                <a16:creationId xmlns:a16="http://schemas.microsoft.com/office/drawing/2014/main" id="{3A577104-0302-2F40-B120-7939DE4CF615}"/>
              </a:ext>
            </a:extLst>
          </p:cNvPr>
          <p:cNvSpPr>
            <a:spLocks noGrp="1"/>
          </p:cNvSpPr>
          <p:nvPr>
            <p:ph type="ftr" idx="11"/>
          </p:nvPr>
        </p:nvSpPr>
        <p:spPr/>
        <p:txBody>
          <a:bodyPr/>
          <a:lstStyle/>
          <a:p>
            <a:r>
              <a:rPr lang="en-US"/>
              <a:t>V9B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4" name="Google Shape;224;g782f7d498b_0_27"/>
          <p:cNvSpPr/>
          <p:nvPr/>
        </p:nvSpPr>
        <p:spPr>
          <a:xfrm>
            <a:off x="1157416" y="120134"/>
            <a:ext cx="45432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225" name="Google Shape;225;g782f7d498b_0_27"/>
          <p:cNvGraphicFramePr/>
          <p:nvPr/>
        </p:nvGraphicFramePr>
        <p:xfrm>
          <a:off x="110067" y="643355"/>
          <a:ext cx="6654800" cy="7507040"/>
        </p:xfrm>
        <a:graphic>
          <a:graphicData uri="http://schemas.openxmlformats.org/drawingml/2006/table">
            <a:tbl>
              <a:tblPr firstRow="1" bandRow="1">
                <a:noFill/>
                <a:tableStyleId>{CAC760E6-1B21-447E-AD2F-912B2140AA3E}</a:tableStyleId>
              </a:tblPr>
              <a:tblGrid>
                <a:gridCol w="54610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2809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needs assessment</a:t>
                      </a:r>
                      <a:endParaRPr sz="1400" u="none" strike="noStrike" cap="none"/>
                    </a:p>
                    <a:p>
                      <a:pPr marL="0" marR="0" lvl="0" indent="0" algn="l" rtl="0">
                        <a:lnSpc>
                          <a:spcPct val="100000"/>
                        </a:lnSpc>
                        <a:spcBef>
                          <a:spcPts val="0"/>
                        </a:spcBef>
                        <a:spcAft>
                          <a:spcPts val="0"/>
                        </a:spcAft>
                        <a:buClr>
                          <a:srgbClr val="000000"/>
                        </a:buClr>
                        <a:buSzPts val="1100"/>
                        <a:buFont typeface="Arial"/>
                        <a:buNone/>
                      </a:pP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088800">
                <a:tc>
                  <a:txBody>
                    <a:bodyPr/>
                    <a:lstStyle/>
                    <a:p>
                      <a:pPr marL="0" marR="0" lvl="0" indent="0" algn="l" rtl="0">
                        <a:lnSpc>
                          <a:spcPct val="100000"/>
                        </a:lnSpc>
                        <a:spcBef>
                          <a:spcPts val="0"/>
                        </a:spcBef>
                        <a:spcAft>
                          <a:spcPts val="0"/>
                        </a:spcAft>
                        <a:buClr>
                          <a:schemeClr val="dk1"/>
                        </a:buClr>
                        <a:buSzPts val="1100"/>
                        <a:buFont typeface="Arial"/>
                        <a:buNone/>
                      </a:pPr>
                      <a:r>
                        <a:rPr lang="en-US" sz="1100" u="none" strike="noStrike" cap="none"/>
                        <a:t>S1Q1: How underserved is the geographic area where the project will be built?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use U. of Wisconsin Area Deprivation Index (state deciles), available </a:t>
                      </a:r>
                      <a:r>
                        <a:rPr lang="en-US" sz="1100" u="sng" strike="noStrike" cap="none">
                          <a:solidFill>
                            <a:srgbClr val="0000FF"/>
                          </a:solidFill>
                          <a:hlinkClick r:id="rId3">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https://www.neighborhoodatlas.medicine.wisc.edu/mapping</a:t>
                      </a:r>
                      <a:endParaRPr sz="1100" u="none" strike="noStrike" cap="none">
                        <a:solidFill>
                          <a:schemeClr val="dk1"/>
                        </a:solidFill>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rgbClr val="FF0000"/>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ADI (least disadvantaged)                                                                 (most disadvantaged)</a:t>
                      </a:r>
                      <a:endParaRPr sz="1100" b="1" u="none" strike="noStrike" cap="none">
                        <a:solidFill>
                          <a:srgbClr val="FF0000"/>
                        </a:solidFill>
                      </a:endParaRPr>
                    </a:p>
                    <a:p>
                      <a:pPr marL="0" marR="0" lvl="0" indent="0" algn="l" rtl="0">
                        <a:lnSpc>
                          <a:spcPct val="100000"/>
                        </a:lnSpc>
                        <a:spcBef>
                          <a:spcPts val="0"/>
                        </a:spcBef>
                        <a:spcAft>
                          <a:spcPts val="0"/>
                        </a:spcAft>
                        <a:buClr>
                          <a:srgbClr val="000000"/>
                        </a:buClr>
                        <a:buSzPts val="1100"/>
                        <a:buFont typeface="Arial"/>
                        <a:buNone/>
                      </a:pPr>
                      <a:r>
                        <a:rPr lang="en-US" sz="1100" b="1" u="none" strike="noStrike" cap="none">
                          <a:solidFill>
                            <a:srgbClr val="FF0000"/>
                          </a:solidFill>
                        </a:rPr>
                        <a:t>ADI &amp; Points: 1           2          3         4          5            6             7           8             9            10</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Equity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/10</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tc>
                <a:extLst>
                  <a:ext uri="{0D108BD9-81ED-4DB2-BD59-A6C34878D82A}">
                    <a16:rowId xmlns:a16="http://schemas.microsoft.com/office/drawing/2014/main" val="10001"/>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S1Q2: </a:t>
                      </a:r>
                      <a:r>
                        <a:rPr lang="en-US" sz="1100" b="0" i="0" u="none" strike="noStrike" cap="none"/>
                        <a:t>What is the current rate of biking to work in the proposed project’s Census Tract? </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U.S. Census data, available </a:t>
                      </a:r>
                      <a:r>
                        <a:rPr lang="en-US" sz="1100" u="sng" strike="noStrike" cap="none">
                          <a:solidFill>
                            <a:srgbClr val="0000FF"/>
                          </a:solidFill>
                          <a:hlinkClick r:id="rId4">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Rate:     0-.3%                   .4-1.2%                 1.3-2.5%                 2.6-4.3%            4.9-7.1%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2"/>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S1Q3: </a:t>
                      </a:r>
                      <a:r>
                        <a:rPr lang="en-US" sz="1100" b="0" i="0" u="none" strike="noStrike" cap="none"/>
                        <a:t>What is the current rate of walking to work in the proposed project’s Census Tract? </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U.S. Census data, available </a:t>
                      </a:r>
                      <a:r>
                        <a:rPr lang="en-US" sz="1100" u="sng" strike="noStrike" cap="none">
                          <a:solidFill>
                            <a:srgbClr val="0000FF"/>
                          </a:solidFill>
                          <a:hlinkClick r:id="rId5">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Rate:         0-1.7%               1.8-5%                 5.4-11%           13.6-22.5%          45.3-57.6%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3"/>
                  </a:ext>
                </a:extLst>
              </a:tr>
              <a:tr h="12506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S1Q4: </a:t>
                      </a:r>
                      <a:r>
                        <a:rPr lang="en-US" sz="1100" b="0" i="0" u="none" strike="noStrike" cap="none"/>
                        <a:t>What is the pedestrian crash density in the area?  (pedestrian crashes/sq. mile)</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NDOT map, available </a:t>
                      </a:r>
                      <a:r>
                        <a:rPr lang="en-US" sz="1100" u="sng" strike="noStrike" cap="none">
                          <a:solidFill>
                            <a:srgbClr val="0000FF"/>
                          </a:solidFill>
                          <a:hlinkClick r:id="rId6">
                            <a:extLst>
                              <a:ext uri="{A12FA001-AC4F-418D-AE19-62706E023703}">
                                <ahyp:hlinkClr xmlns:ahyp="http://schemas.microsoft.com/office/drawing/2018/hyperlinkcolor" val="tx"/>
                              </a:ext>
                            </a:extLst>
                          </a:hlinkClick>
                        </a:rPr>
                        <a:t>here</a:t>
                      </a:r>
                      <a:r>
                        <a:rPr lang="en-US" sz="1100" u="none" strike="noStrike" cap="none">
                          <a:solidFill>
                            <a:srgbClr val="0000FF"/>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0-8                        9-16                        17-27                     28-47                   48+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4"/>
                  </a:ext>
                </a:extLst>
              </a:tr>
              <a:tr h="13527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S1Q5: </a:t>
                      </a:r>
                      <a:r>
                        <a:rPr lang="en-US" sz="1100" b="0" i="0" u="none" strike="noStrike" cap="none"/>
                        <a:t>What is the bicycle crash density in the area?  (bicycle crashes/sq. mile)</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NDOT map, available </a:t>
                      </a:r>
                      <a:r>
                        <a:rPr lang="en-US" sz="1100" u="sng" strike="noStrike" cap="none">
                          <a:solidFill>
                            <a:srgbClr val="0000FF"/>
                          </a:solidFill>
                          <a:hlinkClick r:id="rId6">
                            <a:extLst>
                              <a:ext uri="{A12FA001-AC4F-418D-AE19-62706E023703}">
                                <ahyp:hlinkClr xmlns:ahyp="http://schemas.microsoft.com/office/drawing/2018/hyperlinkcolor" val="tx"/>
                              </a:ext>
                            </a:extLst>
                          </a:hlinkClick>
                        </a:rPr>
                        <a:t>here</a:t>
                      </a:r>
                      <a:r>
                        <a:rPr lang="en-US" sz="1100" u="none" strike="noStrike" cap="none">
                          <a:solidFill>
                            <a:srgbClr val="0000FF"/>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0-4                        5-7                        8-10                     11-15                    15+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5"/>
                  </a:ext>
                </a:extLst>
              </a:tr>
              <a:tr h="135277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S1Q6: What is the land use diversity index? (jobs to housing)</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Smart Location database (c. 2010), available here:</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a:solidFill>
                            <a:srgbClr val="0432FF"/>
                          </a:solidFill>
                          <a:hlinkClick r:id="rId7">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00"/>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Diversity:    0-2         2-3        3-4      4-5       5-6          6-7        7-8        8-9         9-10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1.5          2        2.5         3            3.5         4          4.5            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6"/>
                  </a:ext>
                </a:extLst>
              </a:tr>
            </a:tbl>
          </a:graphicData>
        </a:graphic>
      </p:graphicFrame>
      <p:sp>
        <p:nvSpPr>
          <p:cNvPr id="2" name="Footer Placeholder 1">
            <a:extLst>
              <a:ext uri="{FF2B5EF4-FFF2-40B4-BE49-F238E27FC236}">
                <a16:creationId xmlns:a16="http://schemas.microsoft.com/office/drawing/2014/main" id="{0CDB8C95-10FD-7D4B-BFFB-4D1B8CB1C706}"/>
              </a:ext>
            </a:extLst>
          </p:cNvPr>
          <p:cNvSpPr>
            <a:spLocks noGrp="1"/>
          </p:cNvSpPr>
          <p:nvPr>
            <p:ph type="ftr" idx="11"/>
          </p:nvPr>
        </p:nvSpPr>
        <p:spPr/>
        <p:txBody>
          <a:bodyPr/>
          <a:lstStyle/>
          <a:p>
            <a:r>
              <a:rPr lang="en-US"/>
              <a:t>V9B</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782f7d498b_0_34"/>
          <p:cNvSpPr txBox="1">
            <a:spLocks noGrp="1"/>
          </p:cNvSpPr>
          <p:nvPr>
            <p:ph type="title"/>
          </p:nvPr>
        </p:nvSpPr>
        <p:spPr>
          <a:xfrm>
            <a:off x="342900" y="95950"/>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000"/>
              <a:t>S1Q4 Instructions</a:t>
            </a:r>
            <a:endParaRPr sz="4000"/>
          </a:p>
        </p:txBody>
      </p:sp>
      <p:sp>
        <p:nvSpPr>
          <p:cNvPr id="233" name="Google Shape;233;g782f7d498b_0_34"/>
          <p:cNvSpPr txBox="1">
            <a:spLocks noGrp="1"/>
          </p:cNvSpPr>
          <p:nvPr>
            <p:ph type="body" idx="1"/>
          </p:nvPr>
        </p:nvSpPr>
        <p:spPr>
          <a:xfrm>
            <a:off x="197069" y="819850"/>
            <a:ext cx="6318031" cy="8257800"/>
          </a:xfrm>
          <a:prstGeom prst="rect">
            <a:avLst/>
          </a:prstGeom>
          <a:noFill/>
          <a:ln>
            <a:noFill/>
          </a:ln>
        </p:spPr>
        <p:txBody>
          <a:bodyPr spcFirstLastPara="1" wrap="square" lIns="91425" tIns="45700" rIns="91425" bIns="45700" anchor="t" anchorCtr="0">
            <a:noAutofit/>
          </a:bodyPr>
          <a:lstStyle/>
          <a:p>
            <a:pPr marL="457200" lvl="0" indent="-330200" algn="l" rtl="0">
              <a:lnSpc>
                <a:spcPct val="100000"/>
              </a:lnSpc>
              <a:spcBef>
                <a:spcPts val="0"/>
              </a:spcBef>
              <a:spcAft>
                <a:spcPts val="0"/>
              </a:spcAft>
              <a:buSzPts val="1600"/>
              <a:buChar char="•"/>
            </a:pPr>
            <a:r>
              <a:rPr lang="en-US" sz="1350" dirty="0"/>
              <a:t>Click on the link for the Nevada Department of Transportation Crash Data 2015-2017 map, available</a:t>
            </a:r>
            <a:r>
              <a:rPr lang="en-US" sz="1350" dirty="0">
                <a:latin typeface="Arial"/>
                <a:ea typeface="Arial"/>
                <a:cs typeface="Arial"/>
                <a:sym typeface="Arial"/>
              </a:rPr>
              <a:t> </a:t>
            </a:r>
            <a:r>
              <a:rPr lang="en-US" sz="1350" u="sng" dirty="0">
                <a:solidFill>
                  <a:schemeClr val="hlink"/>
                </a:solidFill>
                <a:hlinkClick r:id="rId3"/>
              </a:rPr>
              <a:t>here</a:t>
            </a:r>
            <a:r>
              <a:rPr lang="en-US" sz="1350" dirty="0">
                <a:latin typeface="Arial"/>
                <a:ea typeface="Arial"/>
                <a:cs typeface="Arial"/>
                <a:sym typeface="Arial"/>
              </a:rPr>
              <a:t>.</a:t>
            </a:r>
            <a:endParaRPr sz="1350" dirty="0">
              <a:latin typeface="Arial"/>
              <a:ea typeface="Arial"/>
              <a:cs typeface="Arial"/>
              <a:sym typeface="Arial"/>
            </a:endParaRPr>
          </a:p>
          <a:p>
            <a:pPr marL="457200" lvl="0" indent="-330200" algn="l" rtl="0">
              <a:lnSpc>
                <a:spcPct val="100000"/>
              </a:lnSpc>
              <a:spcBef>
                <a:spcPts val="0"/>
              </a:spcBef>
              <a:spcAft>
                <a:spcPts val="0"/>
              </a:spcAft>
              <a:buSzPts val="1600"/>
              <a:buChar char="•"/>
            </a:pPr>
            <a:r>
              <a:rPr lang="en-US" sz="1350" dirty="0"/>
              <a:t>Enter an address within the project area and click “Search.”</a:t>
            </a:r>
            <a:endParaRPr sz="1350" dirty="0"/>
          </a:p>
          <a:p>
            <a:pPr marL="457200" lvl="0" indent="-330200" algn="l" rtl="0">
              <a:lnSpc>
                <a:spcPct val="100000"/>
              </a:lnSpc>
              <a:spcBef>
                <a:spcPts val="0"/>
              </a:spcBef>
              <a:spcAft>
                <a:spcPts val="0"/>
              </a:spcAft>
              <a:buSzPts val="1600"/>
              <a:buChar char="•"/>
            </a:pPr>
            <a:r>
              <a:rPr lang="en-US" sz="1350" dirty="0"/>
              <a:t>Select the “Screening” tool icon.  </a:t>
            </a:r>
            <a:endParaRPr sz="1350" dirty="0"/>
          </a:p>
          <a:p>
            <a:pPr marL="0" lvl="0" indent="0" algn="l" rtl="0">
              <a:lnSpc>
                <a:spcPct val="100000"/>
              </a:lnSpc>
              <a:spcBef>
                <a:spcPts val="0"/>
              </a:spcBef>
              <a:spcAft>
                <a:spcPts val="0"/>
              </a:spcAft>
              <a:buSzPts val="1800"/>
              <a:buNone/>
            </a:pPr>
            <a:endParaRPr sz="1400" dirty="0"/>
          </a:p>
          <a:p>
            <a:pPr marL="0" lvl="0" indent="0" algn="l" rtl="0">
              <a:lnSpc>
                <a:spcPct val="100000"/>
              </a:lnSpc>
              <a:spcBef>
                <a:spcPts val="0"/>
              </a:spcBef>
              <a:spcAft>
                <a:spcPts val="0"/>
              </a:spcAft>
              <a:buSzPts val="1800"/>
              <a:buNone/>
            </a:pPr>
            <a:endParaRPr sz="1900" dirty="0"/>
          </a:p>
          <a:p>
            <a:pPr marL="0" lvl="0" indent="0" algn="l" rtl="0">
              <a:lnSpc>
                <a:spcPct val="100000"/>
              </a:lnSpc>
              <a:spcBef>
                <a:spcPts val="0"/>
              </a:spcBef>
              <a:spcAft>
                <a:spcPts val="0"/>
              </a:spcAft>
              <a:buSzPts val="1800"/>
              <a:buNone/>
            </a:pPr>
            <a:endParaRPr sz="1900" dirty="0"/>
          </a:p>
          <a:p>
            <a:pPr marL="0" lvl="0" indent="0" algn="l" rtl="0">
              <a:lnSpc>
                <a:spcPct val="100000"/>
              </a:lnSpc>
              <a:spcBef>
                <a:spcPts val="0"/>
              </a:spcBef>
              <a:spcAft>
                <a:spcPts val="0"/>
              </a:spcAft>
              <a:buSzPts val="1800"/>
              <a:buNone/>
            </a:pPr>
            <a:endParaRPr sz="1900" dirty="0"/>
          </a:p>
          <a:p>
            <a:pPr marL="228600" lvl="0" indent="0" algn="l" rtl="0">
              <a:lnSpc>
                <a:spcPct val="115000"/>
              </a:lnSpc>
              <a:spcBef>
                <a:spcPts val="0"/>
              </a:spcBef>
              <a:spcAft>
                <a:spcPts val="0"/>
              </a:spcAft>
              <a:buSzPts val="1800"/>
              <a:buNone/>
            </a:pPr>
            <a:endParaRPr sz="800" b="1" dirty="0">
              <a:solidFill>
                <a:srgbClr val="000000"/>
              </a:solidFill>
            </a:endParaRPr>
          </a:p>
          <a:p>
            <a:pPr marL="0" lvl="0" indent="0" algn="l" rtl="0">
              <a:lnSpc>
                <a:spcPct val="115000"/>
              </a:lnSpc>
              <a:spcBef>
                <a:spcPts val="0"/>
              </a:spcBef>
              <a:spcAft>
                <a:spcPts val="0"/>
              </a:spcAft>
              <a:buSzPts val="1800"/>
              <a:buNone/>
            </a:pPr>
            <a:endParaRPr sz="800" b="1" dirty="0">
              <a:solidFill>
                <a:srgbClr val="000000"/>
              </a:solidFill>
            </a:endParaRPr>
          </a:p>
          <a:p>
            <a:pPr marL="412750" indent="-285750">
              <a:lnSpc>
                <a:spcPct val="115000"/>
              </a:lnSpc>
              <a:spcBef>
                <a:spcPts val="0"/>
              </a:spcBef>
              <a:buSzPts val="1600"/>
            </a:pPr>
            <a:r>
              <a:rPr lang="en-US" sz="1350" dirty="0"/>
              <a:t>Under “Search Address,” re-enter the address in “Search for a Location.”  </a:t>
            </a:r>
            <a:endParaRPr sz="1350" dirty="0"/>
          </a:p>
          <a:p>
            <a:pPr marL="457200" lvl="0" indent="-330200" algn="l" rtl="0">
              <a:lnSpc>
                <a:spcPct val="115000"/>
              </a:lnSpc>
              <a:spcBef>
                <a:spcPts val="0"/>
              </a:spcBef>
              <a:spcAft>
                <a:spcPts val="0"/>
              </a:spcAft>
              <a:buSzPts val="1600"/>
              <a:buChar char="•"/>
            </a:pPr>
            <a:r>
              <a:rPr lang="en-US" sz="1350" dirty="0"/>
              <a:t>Under “Show Results Within,” enter 0.25 miles for Buffer distance; a red circle with a .25 mile radius will appear around the address.  </a:t>
            </a:r>
          </a:p>
          <a:p>
            <a:pPr marL="127000" lvl="0" indent="0" algn="l" rtl="0">
              <a:lnSpc>
                <a:spcPct val="115000"/>
              </a:lnSpc>
              <a:spcBef>
                <a:spcPts val="0"/>
              </a:spcBef>
              <a:spcAft>
                <a:spcPts val="0"/>
              </a:spcAft>
              <a:buSzPts val="1600"/>
              <a:buNone/>
            </a:pPr>
            <a:endParaRPr sz="1600" dirty="0"/>
          </a:p>
          <a:p>
            <a:pPr marL="457200" lvl="0" indent="-330200" algn="l" rtl="0">
              <a:lnSpc>
                <a:spcPct val="115000"/>
              </a:lnSpc>
              <a:spcBef>
                <a:spcPts val="0"/>
              </a:spcBef>
              <a:spcAft>
                <a:spcPts val="0"/>
              </a:spcAft>
              <a:buSzPts val="1600"/>
              <a:buChar char="•"/>
            </a:pPr>
            <a:endParaRPr lang="en-US" sz="1600" dirty="0"/>
          </a:p>
          <a:p>
            <a:pPr marL="127000" lvl="0" indent="0" algn="l" rtl="0">
              <a:lnSpc>
                <a:spcPct val="115000"/>
              </a:lnSpc>
              <a:spcBef>
                <a:spcPts val="0"/>
              </a:spcBef>
              <a:spcAft>
                <a:spcPts val="0"/>
              </a:spcAft>
              <a:buSzPts val="1600"/>
              <a:buNone/>
            </a:pPr>
            <a:endParaRPr lang="en-US" sz="1600" dirty="0"/>
          </a:p>
          <a:p>
            <a:pPr marL="457200" lvl="0" indent="-330200" algn="l" rtl="0">
              <a:lnSpc>
                <a:spcPct val="115000"/>
              </a:lnSpc>
              <a:spcBef>
                <a:spcPts val="0"/>
              </a:spcBef>
              <a:spcAft>
                <a:spcPts val="0"/>
              </a:spcAft>
              <a:buSzPts val="1600"/>
              <a:buChar char="•"/>
            </a:pPr>
            <a:endParaRPr lang="en-US" sz="1600" dirty="0"/>
          </a:p>
          <a:p>
            <a:pPr marL="457200" lvl="0" indent="-330200" algn="l" rtl="0">
              <a:lnSpc>
                <a:spcPct val="115000"/>
              </a:lnSpc>
              <a:spcBef>
                <a:spcPts val="0"/>
              </a:spcBef>
              <a:spcAft>
                <a:spcPts val="0"/>
              </a:spcAft>
              <a:buSzPts val="1600"/>
              <a:buChar char="•"/>
            </a:pPr>
            <a:r>
              <a:rPr lang="en-US" sz="1350" dirty="0"/>
              <a:t>Click “Draw an Area” and select draw mode “POLYLINE.”</a:t>
            </a:r>
            <a:endParaRPr sz="1350" dirty="0"/>
          </a:p>
          <a:p>
            <a:pPr marL="0" lvl="0" indent="0" algn="l" rtl="0">
              <a:lnSpc>
                <a:spcPct val="115000"/>
              </a:lnSpc>
              <a:spcBef>
                <a:spcPts val="0"/>
              </a:spcBef>
              <a:spcAft>
                <a:spcPts val="0"/>
              </a:spcAft>
              <a:buSzPts val="1800"/>
              <a:buNone/>
            </a:pPr>
            <a:endParaRPr sz="1600" dirty="0"/>
          </a:p>
          <a:p>
            <a:pPr marL="0" lvl="0" indent="0" algn="l" rtl="0">
              <a:lnSpc>
                <a:spcPct val="115000"/>
              </a:lnSpc>
              <a:spcBef>
                <a:spcPts val="0"/>
              </a:spcBef>
              <a:spcAft>
                <a:spcPts val="0"/>
              </a:spcAft>
              <a:buSzPts val="1800"/>
              <a:buNone/>
            </a:pPr>
            <a:endParaRPr sz="1600" dirty="0"/>
          </a:p>
          <a:p>
            <a:pPr marL="0" lvl="0" indent="0" algn="l" rtl="0">
              <a:lnSpc>
                <a:spcPct val="115000"/>
              </a:lnSpc>
              <a:spcBef>
                <a:spcPts val="0"/>
              </a:spcBef>
              <a:spcAft>
                <a:spcPts val="0"/>
              </a:spcAft>
              <a:buSzPts val="1800"/>
              <a:buNone/>
            </a:pPr>
            <a:endParaRPr sz="1600" dirty="0"/>
          </a:p>
          <a:p>
            <a:pPr marL="0" lvl="0" indent="0" algn="l" rtl="0">
              <a:lnSpc>
                <a:spcPct val="115000"/>
              </a:lnSpc>
              <a:spcBef>
                <a:spcPts val="0"/>
              </a:spcBef>
              <a:spcAft>
                <a:spcPts val="0"/>
              </a:spcAft>
              <a:buSzPts val="1800"/>
              <a:buNone/>
            </a:pPr>
            <a:endParaRPr sz="1600" dirty="0"/>
          </a:p>
          <a:p>
            <a:pPr marL="0" lvl="0" indent="0" algn="l" rtl="0">
              <a:lnSpc>
                <a:spcPct val="115000"/>
              </a:lnSpc>
              <a:spcBef>
                <a:spcPts val="0"/>
              </a:spcBef>
              <a:spcAft>
                <a:spcPts val="0"/>
              </a:spcAft>
              <a:buSzPts val="1800"/>
              <a:buNone/>
            </a:pPr>
            <a:endParaRPr sz="1600" dirty="0"/>
          </a:p>
          <a:p>
            <a:pPr marL="457200" lvl="0" indent="-330200" algn="l" rtl="0">
              <a:lnSpc>
                <a:spcPct val="115000"/>
              </a:lnSpc>
              <a:spcBef>
                <a:spcPts val="0"/>
              </a:spcBef>
              <a:spcAft>
                <a:spcPts val="0"/>
              </a:spcAft>
              <a:buSzPts val="1600"/>
              <a:buChar char="•"/>
            </a:pPr>
            <a:r>
              <a:rPr lang="en-US" sz="1350" dirty="0"/>
              <a:t>Use the POLYLINE</a:t>
            </a:r>
            <a:r>
              <a:rPr lang="en-US" sz="1350" b="1" dirty="0"/>
              <a:t> </a:t>
            </a:r>
            <a:r>
              <a:rPr lang="en-US" sz="1350" dirty="0"/>
              <a:t>tool to draw a line along the project area.  Right click an area on the map to begin drawing. Right click at the end of each segment to continue drawing. Double-click to complete drawing. </a:t>
            </a:r>
            <a:endParaRPr sz="1350" dirty="0"/>
          </a:p>
        </p:txBody>
      </p:sp>
      <p:pic>
        <p:nvPicPr>
          <p:cNvPr id="234" name="Google Shape;234;g782f7d498b_0_34"/>
          <p:cNvPicPr preferRelativeResize="0"/>
          <p:nvPr/>
        </p:nvPicPr>
        <p:blipFill rotWithShape="1">
          <a:blip r:embed="rId4">
            <a:alphaModFix/>
          </a:blip>
          <a:srcRect/>
          <a:stretch/>
        </p:blipFill>
        <p:spPr>
          <a:xfrm>
            <a:off x="699620" y="1717581"/>
            <a:ext cx="4788750" cy="1329075"/>
          </a:xfrm>
          <a:prstGeom prst="rect">
            <a:avLst/>
          </a:prstGeom>
          <a:noFill/>
          <a:ln>
            <a:noFill/>
          </a:ln>
        </p:spPr>
      </p:pic>
      <p:sp>
        <p:nvSpPr>
          <p:cNvPr id="235" name="Google Shape;235;g782f7d498b_0_34"/>
          <p:cNvSpPr/>
          <p:nvPr/>
        </p:nvSpPr>
        <p:spPr>
          <a:xfrm rot="5400000">
            <a:off x="1436540" y="2246368"/>
            <a:ext cx="320400" cy="271500"/>
          </a:xfrm>
          <a:prstGeom prst="leftArrow">
            <a:avLst>
              <a:gd name="adj1" fmla="val 50000"/>
              <a:gd name="adj2" fmla="val 5000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6" name="Google Shape;236;g782f7d498b_0_34"/>
          <p:cNvPicPr preferRelativeResize="0"/>
          <p:nvPr/>
        </p:nvPicPr>
        <p:blipFill rotWithShape="1">
          <a:blip r:embed="rId5">
            <a:alphaModFix/>
          </a:blip>
          <a:srcRect l="56779" r="1713" b="3671"/>
          <a:stretch/>
        </p:blipFill>
        <p:spPr>
          <a:xfrm>
            <a:off x="2488364" y="5172601"/>
            <a:ext cx="1527778" cy="1237205"/>
          </a:xfrm>
          <a:prstGeom prst="rect">
            <a:avLst/>
          </a:prstGeom>
          <a:noFill/>
          <a:ln>
            <a:noFill/>
          </a:ln>
        </p:spPr>
      </p:pic>
      <p:pic>
        <p:nvPicPr>
          <p:cNvPr id="237" name="Google Shape;237;g782f7d498b_0_34"/>
          <p:cNvPicPr preferRelativeResize="0"/>
          <p:nvPr/>
        </p:nvPicPr>
        <p:blipFill rotWithShape="1">
          <a:blip r:embed="rId6">
            <a:alphaModFix/>
          </a:blip>
          <a:srcRect/>
          <a:stretch/>
        </p:blipFill>
        <p:spPr>
          <a:xfrm>
            <a:off x="1176715" y="7278923"/>
            <a:ext cx="4151075" cy="1439628"/>
          </a:xfrm>
          <a:prstGeom prst="rect">
            <a:avLst/>
          </a:prstGeom>
          <a:noFill/>
          <a:ln>
            <a:noFill/>
          </a:ln>
        </p:spPr>
      </p:pic>
      <p:sp>
        <p:nvSpPr>
          <p:cNvPr id="2" name="Footer Placeholder 1">
            <a:extLst>
              <a:ext uri="{FF2B5EF4-FFF2-40B4-BE49-F238E27FC236}">
                <a16:creationId xmlns:a16="http://schemas.microsoft.com/office/drawing/2014/main" id="{EC823682-A8AA-4D44-AC95-E7BA87A7A33D}"/>
              </a:ext>
            </a:extLst>
          </p:cNvPr>
          <p:cNvSpPr>
            <a:spLocks noGrp="1"/>
          </p:cNvSpPr>
          <p:nvPr>
            <p:ph type="ftr" idx="11"/>
          </p:nvPr>
        </p:nvSpPr>
        <p:spPr/>
        <p:txBody>
          <a:bodyPr/>
          <a:lstStyle/>
          <a:p>
            <a:r>
              <a:rPr lang="en-US"/>
              <a:t>V9B</a:t>
            </a:r>
          </a:p>
        </p:txBody>
      </p:sp>
      <p:pic>
        <p:nvPicPr>
          <p:cNvPr id="9" name="Google Shape;236;g782f7d498b_0_34">
            <a:extLst>
              <a:ext uri="{FF2B5EF4-FFF2-40B4-BE49-F238E27FC236}">
                <a16:creationId xmlns:a16="http://schemas.microsoft.com/office/drawing/2014/main" id="{5A00B887-F4BD-154B-8778-7DF887FD4038}"/>
              </a:ext>
            </a:extLst>
          </p:cNvPr>
          <p:cNvPicPr preferRelativeResize="0"/>
          <p:nvPr/>
        </p:nvPicPr>
        <p:blipFill rotWithShape="1">
          <a:blip r:embed="rId5">
            <a:alphaModFix/>
          </a:blip>
          <a:srcRect l="504" r="53344"/>
          <a:stretch/>
        </p:blipFill>
        <p:spPr>
          <a:xfrm>
            <a:off x="4625621" y="3564398"/>
            <a:ext cx="1757832" cy="1329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783ce67ac1_0_5"/>
          <p:cNvSpPr txBox="1">
            <a:spLocks noGrp="1"/>
          </p:cNvSpPr>
          <p:nvPr>
            <p:ph type="title"/>
          </p:nvPr>
        </p:nvSpPr>
        <p:spPr>
          <a:xfrm>
            <a:off x="438250" y="228600"/>
            <a:ext cx="6299400" cy="885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3500"/>
              <a:t>S1Q4 Instructions - Continued</a:t>
            </a:r>
            <a:endParaRPr sz="3500"/>
          </a:p>
        </p:txBody>
      </p:sp>
      <p:sp>
        <p:nvSpPr>
          <p:cNvPr id="244" name="Google Shape;244;g783ce67ac1_0_5"/>
          <p:cNvSpPr txBox="1">
            <a:spLocks noGrp="1"/>
          </p:cNvSpPr>
          <p:nvPr>
            <p:ph type="body" idx="1"/>
          </p:nvPr>
        </p:nvSpPr>
        <p:spPr>
          <a:xfrm>
            <a:off x="438250" y="2796334"/>
            <a:ext cx="6112500" cy="428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800"/>
              <a:buNone/>
            </a:pPr>
            <a:endParaRPr sz="1600" dirty="0"/>
          </a:p>
          <a:p>
            <a:pPr marL="457200" lvl="0" indent="-342900" algn="l" rtl="0">
              <a:lnSpc>
                <a:spcPct val="100000"/>
              </a:lnSpc>
              <a:spcBef>
                <a:spcPts val="360"/>
              </a:spcBef>
              <a:spcAft>
                <a:spcPts val="0"/>
              </a:spcAft>
              <a:buSzPts val="1800"/>
              <a:buChar char="●"/>
            </a:pPr>
            <a:r>
              <a:rPr lang="en-US" sz="1800" dirty="0"/>
              <a:t>Click “Report”</a:t>
            </a:r>
            <a:r>
              <a:rPr lang="en-US" sz="1800" b="1" dirty="0"/>
              <a:t> </a:t>
            </a:r>
            <a:r>
              <a:rPr lang="en-US" sz="1800" dirty="0"/>
              <a:t>inside the “Screening” toolbox.</a:t>
            </a:r>
            <a:endParaRPr sz="1600" dirty="0"/>
          </a:p>
          <a:p>
            <a:pPr marL="457200" lvl="0" indent="-355600" algn="l" rtl="0">
              <a:lnSpc>
                <a:spcPct val="100000"/>
              </a:lnSpc>
              <a:spcBef>
                <a:spcPts val="1000"/>
              </a:spcBef>
              <a:spcAft>
                <a:spcPts val="0"/>
              </a:spcAft>
              <a:buSzPts val="2000"/>
              <a:buChar char="●"/>
            </a:pPr>
            <a:r>
              <a:rPr lang="en-US" sz="1800" dirty="0"/>
              <a:t>Under “Choose units of analysis,” select “Square Miles” and “Miles.”</a:t>
            </a:r>
            <a:endParaRPr sz="1600" dirty="0"/>
          </a:p>
          <a:p>
            <a:pPr marL="457200" lvl="0" indent="-342900" algn="l" rtl="0">
              <a:lnSpc>
                <a:spcPct val="115000"/>
              </a:lnSpc>
              <a:spcBef>
                <a:spcPts val="1000"/>
              </a:spcBef>
              <a:spcAft>
                <a:spcPts val="0"/>
              </a:spcAft>
              <a:buSzPts val="1800"/>
              <a:buChar char="●"/>
            </a:pPr>
            <a:r>
              <a:rPr lang="en-US" sz="1800" dirty="0"/>
              <a:t>In the “Filter” section, select “Pedestrian.”</a:t>
            </a:r>
            <a:endParaRPr sz="1800" dirty="0"/>
          </a:p>
          <a:p>
            <a:pPr marL="914400" lvl="1" indent="-330200" algn="l" rtl="0">
              <a:lnSpc>
                <a:spcPct val="115000"/>
              </a:lnSpc>
              <a:spcBef>
                <a:spcPts val="1000"/>
              </a:spcBef>
              <a:spcAft>
                <a:spcPts val="0"/>
              </a:spcAft>
              <a:buSzPts val="1600"/>
              <a:buChar char="○"/>
            </a:pPr>
            <a:r>
              <a:rPr lang="en-US" sz="1600" dirty="0"/>
              <a:t>In the “Crash Count” section beneath the title, note the “Number of Crashes in Current Extent.”</a:t>
            </a:r>
            <a:endParaRPr sz="1600" dirty="0"/>
          </a:p>
          <a:p>
            <a:pPr marL="914400" lvl="1" indent="-330200" algn="l" rtl="0">
              <a:lnSpc>
                <a:spcPct val="115000"/>
              </a:lnSpc>
              <a:spcBef>
                <a:spcPts val="1000"/>
              </a:spcBef>
              <a:spcAft>
                <a:spcPts val="0"/>
              </a:spcAft>
              <a:buSzPts val="1600"/>
              <a:buFont typeface="Calibri"/>
              <a:buChar char="○"/>
            </a:pPr>
            <a:endParaRPr lang="en-US" sz="1600" dirty="0"/>
          </a:p>
          <a:p>
            <a:pPr marL="914400" lvl="1" indent="-330200" algn="l" rtl="0">
              <a:lnSpc>
                <a:spcPct val="115000"/>
              </a:lnSpc>
              <a:spcBef>
                <a:spcPts val="1000"/>
              </a:spcBef>
              <a:spcAft>
                <a:spcPts val="0"/>
              </a:spcAft>
              <a:buSzPts val="1600"/>
              <a:buFont typeface="Calibri"/>
              <a:buChar char="○"/>
            </a:pPr>
            <a:endParaRPr lang="en-US" sz="1600" dirty="0"/>
          </a:p>
          <a:p>
            <a:pPr marL="914400" lvl="1" indent="-330200" algn="l" rtl="0">
              <a:lnSpc>
                <a:spcPct val="115000"/>
              </a:lnSpc>
              <a:spcBef>
                <a:spcPts val="1000"/>
              </a:spcBef>
              <a:spcAft>
                <a:spcPts val="0"/>
              </a:spcAft>
              <a:buSzPts val="1600"/>
              <a:buFont typeface="Calibri"/>
              <a:buChar char="○"/>
            </a:pPr>
            <a:r>
              <a:rPr lang="en-US" sz="1600" dirty="0"/>
              <a:t>Divide this number of crashes by the Area in mi² for the buffer zone.</a:t>
            </a:r>
            <a:endParaRPr sz="1600" dirty="0"/>
          </a:p>
          <a:p>
            <a:pPr marL="914400" lvl="1" indent="-330200" algn="l" rtl="0">
              <a:lnSpc>
                <a:spcPct val="115000"/>
              </a:lnSpc>
              <a:spcBef>
                <a:spcPts val="1000"/>
              </a:spcBef>
              <a:spcAft>
                <a:spcPts val="0"/>
              </a:spcAft>
              <a:buSzPts val="1600"/>
              <a:buFont typeface="Calibri"/>
              <a:buChar char="○"/>
            </a:pPr>
            <a:r>
              <a:rPr lang="en-US" sz="1600" dirty="0"/>
              <a:t>Round to the nearest whole number </a:t>
            </a:r>
            <a:endParaRPr lang="en-US" sz="1800" dirty="0"/>
          </a:p>
          <a:p>
            <a:pPr marL="457200" lvl="0" indent="-342900" algn="l" rtl="0">
              <a:lnSpc>
                <a:spcPct val="115000"/>
              </a:lnSpc>
              <a:spcBef>
                <a:spcPts val="1000"/>
              </a:spcBef>
              <a:spcAft>
                <a:spcPts val="0"/>
              </a:spcAft>
              <a:buSzPts val="1800"/>
              <a:buFont typeface="Calibri"/>
              <a:buChar char="●"/>
            </a:pPr>
            <a:r>
              <a:rPr lang="en-US" sz="1800" dirty="0"/>
              <a:t>Record the calculated points</a:t>
            </a:r>
            <a:endParaRPr sz="1800" dirty="0"/>
          </a:p>
          <a:p>
            <a:pPr marL="0" lvl="0" indent="0" algn="l" rtl="0">
              <a:lnSpc>
                <a:spcPct val="100000"/>
              </a:lnSpc>
              <a:spcBef>
                <a:spcPts val="1000"/>
              </a:spcBef>
              <a:spcAft>
                <a:spcPts val="0"/>
              </a:spcAft>
              <a:buSzPts val="1800"/>
              <a:buNone/>
            </a:pPr>
            <a:endParaRPr sz="1400" dirty="0"/>
          </a:p>
          <a:p>
            <a:pPr marL="0" lvl="0" indent="0" algn="l" rtl="0">
              <a:lnSpc>
                <a:spcPct val="115000"/>
              </a:lnSpc>
              <a:spcBef>
                <a:spcPts val="0"/>
              </a:spcBef>
              <a:spcAft>
                <a:spcPts val="0"/>
              </a:spcAft>
              <a:buSzPts val="1800"/>
              <a:buNone/>
            </a:pPr>
            <a:endParaRPr sz="1900" dirty="0"/>
          </a:p>
        </p:txBody>
      </p:sp>
      <p:pic>
        <p:nvPicPr>
          <p:cNvPr id="245" name="Google Shape;245;g783ce67ac1_0_5"/>
          <p:cNvPicPr preferRelativeResize="0"/>
          <p:nvPr/>
        </p:nvPicPr>
        <p:blipFill rotWithShape="1">
          <a:blip r:embed="rId3">
            <a:alphaModFix/>
          </a:blip>
          <a:srcRect t="1" b="46525"/>
          <a:stretch/>
        </p:blipFill>
        <p:spPr>
          <a:xfrm>
            <a:off x="817975" y="1377325"/>
            <a:ext cx="5295900" cy="1670675"/>
          </a:xfrm>
          <a:prstGeom prst="rect">
            <a:avLst/>
          </a:prstGeom>
          <a:noFill/>
          <a:ln>
            <a:noFill/>
          </a:ln>
        </p:spPr>
      </p:pic>
      <p:sp>
        <p:nvSpPr>
          <p:cNvPr id="247" name="Google Shape;247;g783ce67ac1_0_5"/>
          <p:cNvSpPr/>
          <p:nvPr/>
        </p:nvSpPr>
        <p:spPr>
          <a:xfrm>
            <a:off x="4202700" y="1495500"/>
            <a:ext cx="406200" cy="288600"/>
          </a:xfrm>
          <a:prstGeom prst="bentArrow">
            <a:avLst>
              <a:gd name="adj1" fmla="val 25000"/>
              <a:gd name="adj2" fmla="val 25000"/>
              <a:gd name="adj3" fmla="val 25000"/>
              <a:gd name="adj4" fmla="val 4375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093A5A98-440E-8D40-BB92-C9CC8845DAAE}"/>
              </a:ext>
            </a:extLst>
          </p:cNvPr>
          <p:cNvSpPr>
            <a:spLocks noGrp="1"/>
          </p:cNvSpPr>
          <p:nvPr>
            <p:ph type="ftr" idx="11"/>
          </p:nvPr>
        </p:nvSpPr>
        <p:spPr/>
        <p:txBody>
          <a:bodyPr/>
          <a:lstStyle/>
          <a:p>
            <a:r>
              <a:rPr lang="en-US"/>
              <a:t>V9B</a:t>
            </a:r>
          </a:p>
        </p:txBody>
      </p:sp>
      <p:pic>
        <p:nvPicPr>
          <p:cNvPr id="8" name="Google Shape;245;g783ce67ac1_0_5">
            <a:extLst>
              <a:ext uri="{FF2B5EF4-FFF2-40B4-BE49-F238E27FC236}">
                <a16:creationId xmlns:a16="http://schemas.microsoft.com/office/drawing/2014/main" id="{3215BAF3-958F-F945-A51B-63EBD60D39FC}"/>
              </a:ext>
            </a:extLst>
          </p:cNvPr>
          <p:cNvPicPr preferRelativeResize="0"/>
          <p:nvPr/>
        </p:nvPicPr>
        <p:blipFill rotWithShape="1">
          <a:blip r:embed="rId3">
            <a:alphaModFix/>
          </a:blip>
          <a:srcRect l="4633" t="56334" r="13673" b="24967"/>
          <a:stretch/>
        </p:blipFill>
        <p:spPr>
          <a:xfrm>
            <a:off x="1185332" y="5378401"/>
            <a:ext cx="4326467" cy="584201"/>
          </a:xfrm>
          <a:prstGeom prst="rect">
            <a:avLst/>
          </a:prstGeom>
          <a:noFill/>
          <a:ln>
            <a:noFill/>
          </a:ln>
        </p:spPr>
      </p:pic>
      <p:sp>
        <p:nvSpPr>
          <p:cNvPr id="246" name="Google Shape;246;g783ce67ac1_0_5"/>
          <p:cNvSpPr/>
          <p:nvPr/>
        </p:nvSpPr>
        <p:spPr>
          <a:xfrm>
            <a:off x="2700868" y="5460769"/>
            <a:ext cx="321736" cy="243600"/>
          </a:xfrm>
          <a:prstGeom prst="rightArrow">
            <a:avLst>
              <a:gd name="adj1" fmla="val 50000"/>
              <a:gd name="adj2" fmla="val 5000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2" name="Google Shape;262;g783ce67ac1_0_21"/>
          <p:cNvSpPr/>
          <p:nvPr/>
        </p:nvSpPr>
        <p:spPr>
          <a:xfrm>
            <a:off x="1157416" y="120134"/>
            <a:ext cx="45432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263" name="Google Shape;263;g783ce67ac1_0_21"/>
          <p:cNvGraphicFramePr/>
          <p:nvPr/>
        </p:nvGraphicFramePr>
        <p:xfrm>
          <a:off x="110067" y="643355"/>
          <a:ext cx="6654800" cy="7507040"/>
        </p:xfrm>
        <a:graphic>
          <a:graphicData uri="http://schemas.openxmlformats.org/drawingml/2006/table">
            <a:tbl>
              <a:tblPr firstRow="1" bandRow="1">
                <a:noFill/>
                <a:tableStyleId>{CAC760E6-1B21-447E-AD2F-912B2140AA3E}</a:tableStyleId>
              </a:tblPr>
              <a:tblGrid>
                <a:gridCol w="54610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2809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needs assessment</a:t>
                      </a:r>
                      <a:endParaRPr sz="1400" u="none" strike="noStrike" cap="none"/>
                    </a:p>
                    <a:p>
                      <a:pPr marL="0" marR="0" lvl="0" indent="0" algn="l" rtl="0">
                        <a:lnSpc>
                          <a:spcPct val="100000"/>
                        </a:lnSpc>
                        <a:spcBef>
                          <a:spcPts val="0"/>
                        </a:spcBef>
                        <a:spcAft>
                          <a:spcPts val="0"/>
                        </a:spcAft>
                        <a:buClr>
                          <a:srgbClr val="000000"/>
                        </a:buClr>
                        <a:buSzPts val="1100"/>
                        <a:buFont typeface="Arial"/>
                        <a:buNone/>
                      </a:pP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088800">
                <a:tc>
                  <a:txBody>
                    <a:bodyPr/>
                    <a:lstStyle/>
                    <a:p>
                      <a:pPr marL="0" marR="0" lvl="0" indent="0" algn="l" rtl="0">
                        <a:lnSpc>
                          <a:spcPct val="100000"/>
                        </a:lnSpc>
                        <a:spcBef>
                          <a:spcPts val="0"/>
                        </a:spcBef>
                        <a:spcAft>
                          <a:spcPts val="0"/>
                        </a:spcAft>
                        <a:buClr>
                          <a:schemeClr val="dk1"/>
                        </a:buClr>
                        <a:buSzPts val="1100"/>
                        <a:buFont typeface="Arial"/>
                        <a:buNone/>
                      </a:pPr>
                      <a:r>
                        <a:rPr lang="en-US" sz="1100" u="none" strike="noStrike" cap="none"/>
                        <a:t>S1Q1: How underserved is the geographic area where the project will be built?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use U. of Wisconsin Area Deprivation Index (state deciles), available </a:t>
                      </a:r>
                      <a:r>
                        <a:rPr lang="en-US" sz="1100" u="sng" strike="noStrike" cap="none">
                          <a:solidFill>
                            <a:srgbClr val="0000FF"/>
                          </a:solidFill>
                          <a:hlinkClick r:id="rId3">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https://www.neighborhoodatlas.medicine.wisc.edu/mapping</a:t>
                      </a:r>
                      <a:endParaRPr sz="1100" u="none" strike="noStrike" cap="none">
                        <a:solidFill>
                          <a:schemeClr val="dk1"/>
                        </a:solidFill>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rgbClr val="FF0000"/>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ADI (least disadvantaged)                                                                 (most disadvantaged)</a:t>
                      </a:r>
                      <a:endParaRPr sz="1100" b="1" u="none" strike="noStrike" cap="none">
                        <a:solidFill>
                          <a:srgbClr val="FF0000"/>
                        </a:solidFill>
                      </a:endParaRPr>
                    </a:p>
                    <a:p>
                      <a:pPr marL="0" marR="0" lvl="0" indent="0" algn="l" rtl="0">
                        <a:lnSpc>
                          <a:spcPct val="100000"/>
                        </a:lnSpc>
                        <a:spcBef>
                          <a:spcPts val="0"/>
                        </a:spcBef>
                        <a:spcAft>
                          <a:spcPts val="0"/>
                        </a:spcAft>
                        <a:buClr>
                          <a:srgbClr val="000000"/>
                        </a:buClr>
                        <a:buSzPts val="1100"/>
                        <a:buFont typeface="Arial"/>
                        <a:buNone/>
                      </a:pPr>
                      <a:r>
                        <a:rPr lang="en-US" sz="1100" b="1" u="none" strike="noStrike" cap="none">
                          <a:solidFill>
                            <a:srgbClr val="FF0000"/>
                          </a:solidFill>
                        </a:rPr>
                        <a:t>ADI &amp; Points: 1           2          3         4          5            6             7           8             9            10</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Equity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/10</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tc>
                <a:extLst>
                  <a:ext uri="{0D108BD9-81ED-4DB2-BD59-A6C34878D82A}">
                    <a16:rowId xmlns:a16="http://schemas.microsoft.com/office/drawing/2014/main" val="10001"/>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S1Q2: </a:t>
                      </a:r>
                      <a:r>
                        <a:rPr lang="en-US" sz="1100" b="0" i="0" u="none" strike="noStrike" cap="none"/>
                        <a:t>What is the current rate of biking to work in the proposed project’s Census Tract? </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U.S. Census data, available </a:t>
                      </a:r>
                      <a:r>
                        <a:rPr lang="en-US" sz="1100" u="sng" strike="noStrike" cap="none">
                          <a:solidFill>
                            <a:srgbClr val="0000FF"/>
                          </a:solidFill>
                          <a:hlinkClick r:id="rId4">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Rate:     0-.3%                   .4-1.2%                 1.3-2.5%                 2.6-4.3%            4.9-7.1%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2"/>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S1Q3: </a:t>
                      </a:r>
                      <a:r>
                        <a:rPr lang="en-US" sz="1100" b="0" i="0" u="none" strike="noStrike" cap="none"/>
                        <a:t>What is the current rate of walking to work in the proposed project’s Census Tract? </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U.S. Census data, available </a:t>
                      </a:r>
                      <a:r>
                        <a:rPr lang="en-US" sz="1100" u="sng" strike="noStrike" cap="none">
                          <a:solidFill>
                            <a:srgbClr val="0000FF"/>
                          </a:solidFill>
                          <a:hlinkClick r:id="rId5">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Rate:         0-1.7%               1.8-5%                 5.4-11%           13.6-22.5%          45.3-57.6%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3"/>
                  </a:ext>
                </a:extLst>
              </a:tr>
              <a:tr h="12506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S1Q4: </a:t>
                      </a:r>
                      <a:r>
                        <a:rPr lang="en-US" sz="1100" b="0" i="0" u="none" strike="noStrike" cap="none"/>
                        <a:t>What is the pedestrian crash density in the area?  (pedestrian crashes/sq. mile)</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NDOT map, available </a:t>
                      </a:r>
                      <a:r>
                        <a:rPr lang="en-US" sz="1100" u="sng" strike="noStrike" cap="none">
                          <a:solidFill>
                            <a:srgbClr val="0000FF"/>
                          </a:solidFill>
                          <a:hlinkClick r:id="rId6">
                            <a:extLst>
                              <a:ext uri="{A12FA001-AC4F-418D-AE19-62706E023703}">
                                <ahyp:hlinkClr xmlns:ahyp="http://schemas.microsoft.com/office/drawing/2018/hyperlinkcolor" val="tx"/>
                              </a:ext>
                            </a:extLst>
                          </a:hlinkClick>
                        </a:rPr>
                        <a:t>here</a:t>
                      </a:r>
                      <a:r>
                        <a:rPr lang="en-US" sz="1100" u="none" strike="noStrike" cap="none">
                          <a:solidFill>
                            <a:srgbClr val="0000FF"/>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0-8                        9-16                        17-27                     28-47                   48+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4"/>
                  </a:ext>
                </a:extLst>
              </a:tr>
              <a:tr h="13527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S1Q5: </a:t>
                      </a:r>
                      <a:r>
                        <a:rPr lang="en-US" sz="1100" b="0" i="0" u="none" strike="noStrike" cap="none"/>
                        <a:t>What is the bicycle crash density in the area?  (bicycle crashes/sq. mile)</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NDOT map, available </a:t>
                      </a:r>
                      <a:r>
                        <a:rPr lang="en-US" sz="1100" u="sng" strike="noStrike" cap="none">
                          <a:solidFill>
                            <a:srgbClr val="0000FF"/>
                          </a:solidFill>
                          <a:hlinkClick r:id="rId6">
                            <a:extLst>
                              <a:ext uri="{A12FA001-AC4F-418D-AE19-62706E023703}">
                                <ahyp:hlinkClr xmlns:ahyp="http://schemas.microsoft.com/office/drawing/2018/hyperlinkcolor" val="tx"/>
                              </a:ext>
                            </a:extLst>
                          </a:hlinkClick>
                        </a:rPr>
                        <a:t>here</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0-4                        5-7                        8-10                     11-15                    15+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5"/>
                  </a:ext>
                </a:extLst>
              </a:tr>
              <a:tr h="135277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S1Q6: What is the land use diversity index? (jobs to housing)</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Smart Location database (c. 2010), available here:</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a:solidFill>
                            <a:srgbClr val="0432FF"/>
                          </a:solidFill>
                          <a:hlinkClick r:id="rId7">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00"/>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Diversity:    0-2         2-3        3-4      4-5       5-6          6-7        7-8        8-9         9-10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1.5          2        2.5         3            3.5         4          4.5            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6"/>
                  </a:ext>
                </a:extLst>
              </a:tr>
            </a:tbl>
          </a:graphicData>
        </a:graphic>
      </p:graphicFrame>
      <p:sp>
        <p:nvSpPr>
          <p:cNvPr id="2" name="Footer Placeholder 1">
            <a:extLst>
              <a:ext uri="{FF2B5EF4-FFF2-40B4-BE49-F238E27FC236}">
                <a16:creationId xmlns:a16="http://schemas.microsoft.com/office/drawing/2014/main" id="{E7CCA084-81AA-564A-94B1-648707ACA84B}"/>
              </a:ext>
            </a:extLst>
          </p:cNvPr>
          <p:cNvSpPr>
            <a:spLocks noGrp="1"/>
          </p:cNvSpPr>
          <p:nvPr>
            <p:ph type="ftr" idx="11"/>
          </p:nvPr>
        </p:nvSpPr>
        <p:spPr/>
        <p:txBody>
          <a:bodyPr/>
          <a:lstStyle/>
          <a:p>
            <a:r>
              <a:rPr lang="en-US"/>
              <a:t>V9B</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8701af7b45_0_59"/>
          <p:cNvSpPr txBox="1">
            <a:spLocks noGrp="1"/>
          </p:cNvSpPr>
          <p:nvPr>
            <p:ph type="title"/>
          </p:nvPr>
        </p:nvSpPr>
        <p:spPr>
          <a:xfrm>
            <a:off x="416625" y="95950"/>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100"/>
              <a:t>S1Q5 Instructions</a:t>
            </a:r>
            <a:endParaRPr sz="4100"/>
          </a:p>
        </p:txBody>
      </p:sp>
      <p:sp>
        <p:nvSpPr>
          <p:cNvPr id="271" name="Google Shape;271;g8701af7b45_0_59"/>
          <p:cNvSpPr txBox="1">
            <a:spLocks noGrp="1"/>
          </p:cNvSpPr>
          <p:nvPr>
            <p:ph type="body" idx="1"/>
          </p:nvPr>
        </p:nvSpPr>
        <p:spPr>
          <a:xfrm>
            <a:off x="323850" y="819850"/>
            <a:ext cx="6172200" cy="8257800"/>
          </a:xfrm>
          <a:prstGeom prst="rect">
            <a:avLst/>
          </a:prstGeom>
          <a:noFill/>
          <a:ln>
            <a:noFill/>
          </a:ln>
        </p:spPr>
        <p:txBody>
          <a:bodyPr spcFirstLastPara="1" wrap="square" lIns="91425" tIns="45700" rIns="91425" bIns="45700" anchor="t" anchorCtr="0">
            <a:noAutofit/>
          </a:bodyPr>
          <a:lstStyle/>
          <a:p>
            <a:pPr marL="457200" lvl="0" indent="-330200" algn="l" rtl="0">
              <a:lnSpc>
                <a:spcPct val="100000"/>
              </a:lnSpc>
              <a:spcBef>
                <a:spcPts val="0"/>
              </a:spcBef>
              <a:spcAft>
                <a:spcPts val="0"/>
              </a:spcAft>
              <a:buSzPts val="1600"/>
              <a:buChar char="•"/>
            </a:pPr>
            <a:r>
              <a:rPr lang="en-US" sz="1350" dirty="0"/>
              <a:t>Click on the link for the Nevada Department of Transportation Crash Data 2015-2017 map, available</a:t>
            </a:r>
            <a:r>
              <a:rPr lang="en-US" sz="1350" dirty="0">
                <a:latin typeface="Arial"/>
                <a:ea typeface="Arial"/>
                <a:cs typeface="Arial"/>
                <a:sym typeface="Arial"/>
              </a:rPr>
              <a:t> </a:t>
            </a:r>
            <a:r>
              <a:rPr lang="en-US" sz="1350" u="sng" dirty="0">
                <a:solidFill>
                  <a:schemeClr val="hlink"/>
                </a:solidFill>
                <a:hlinkClick r:id="rId3"/>
              </a:rPr>
              <a:t>here</a:t>
            </a:r>
            <a:r>
              <a:rPr lang="en-US" sz="1350" dirty="0">
                <a:latin typeface="Arial"/>
                <a:ea typeface="Arial"/>
                <a:cs typeface="Arial"/>
                <a:sym typeface="Arial"/>
              </a:rPr>
              <a:t>.</a:t>
            </a:r>
            <a:endParaRPr sz="1350" dirty="0">
              <a:latin typeface="Arial"/>
              <a:ea typeface="Arial"/>
              <a:cs typeface="Arial"/>
              <a:sym typeface="Arial"/>
            </a:endParaRPr>
          </a:p>
          <a:p>
            <a:pPr marL="457200" lvl="0" indent="-330200" algn="l" rtl="0">
              <a:lnSpc>
                <a:spcPct val="100000"/>
              </a:lnSpc>
              <a:spcBef>
                <a:spcPts val="0"/>
              </a:spcBef>
              <a:spcAft>
                <a:spcPts val="0"/>
              </a:spcAft>
              <a:buSzPts val="1600"/>
              <a:buChar char="•"/>
            </a:pPr>
            <a:r>
              <a:rPr lang="en-US" sz="1350" dirty="0"/>
              <a:t>Enter an address within the project area and click “Search.”</a:t>
            </a:r>
            <a:endParaRPr sz="1350" dirty="0"/>
          </a:p>
          <a:p>
            <a:pPr marL="457200" lvl="0" indent="-330200" algn="l" rtl="0">
              <a:lnSpc>
                <a:spcPct val="100000"/>
              </a:lnSpc>
              <a:spcBef>
                <a:spcPts val="0"/>
              </a:spcBef>
              <a:spcAft>
                <a:spcPts val="0"/>
              </a:spcAft>
              <a:buSzPts val="1600"/>
              <a:buChar char="•"/>
            </a:pPr>
            <a:r>
              <a:rPr lang="en-US" sz="1350" dirty="0"/>
              <a:t>Select the “Screening” tool icon.  </a:t>
            </a:r>
            <a:endParaRPr sz="1350" dirty="0"/>
          </a:p>
          <a:p>
            <a:pPr marL="0" lvl="0" indent="0" algn="l" rtl="0">
              <a:lnSpc>
                <a:spcPct val="100000"/>
              </a:lnSpc>
              <a:spcBef>
                <a:spcPts val="0"/>
              </a:spcBef>
              <a:spcAft>
                <a:spcPts val="0"/>
              </a:spcAft>
              <a:buSzPts val="1800"/>
              <a:buNone/>
            </a:pPr>
            <a:endParaRPr sz="1900" dirty="0"/>
          </a:p>
          <a:p>
            <a:pPr marL="0" lvl="0" indent="0" algn="l" rtl="0">
              <a:lnSpc>
                <a:spcPct val="100000"/>
              </a:lnSpc>
              <a:spcBef>
                <a:spcPts val="0"/>
              </a:spcBef>
              <a:spcAft>
                <a:spcPts val="0"/>
              </a:spcAft>
              <a:buSzPts val="1800"/>
              <a:buNone/>
            </a:pPr>
            <a:endParaRPr sz="1900" dirty="0"/>
          </a:p>
          <a:p>
            <a:pPr marL="0" lvl="0" indent="0" algn="l" rtl="0">
              <a:lnSpc>
                <a:spcPct val="100000"/>
              </a:lnSpc>
              <a:spcBef>
                <a:spcPts val="0"/>
              </a:spcBef>
              <a:spcAft>
                <a:spcPts val="0"/>
              </a:spcAft>
              <a:buSzPts val="1800"/>
              <a:buNone/>
            </a:pPr>
            <a:endParaRPr sz="1900" dirty="0"/>
          </a:p>
          <a:p>
            <a:pPr marL="0" lvl="0" indent="0" algn="l" rtl="0">
              <a:lnSpc>
                <a:spcPct val="100000"/>
              </a:lnSpc>
              <a:spcBef>
                <a:spcPts val="0"/>
              </a:spcBef>
              <a:spcAft>
                <a:spcPts val="0"/>
              </a:spcAft>
              <a:buSzPts val="1800"/>
              <a:buNone/>
            </a:pPr>
            <a:endParaRPr sz="1900" dirty="0"/>
          </a:p>
          <a:p>
            <a:pPr marL="228600" lvl="0" indent="0" algn="l" rtl="0">
              <a:lnSpc>
                <a:spcPct val="115000"/>
              </a:lnSpc>
              <a:spcBef>
                <a:spcPts val="0"/>
              </a:spcBef>
              <a:spcAft>
                <a:spcPts val="0"/>
              </a:spcAft>
              <a:buSzPts val="1800"/>
              <a:buNone/>
            </a:pPr>
            <a:endParaRPr sz="800" b="1" dirty="0">
              <a:solidFill>
                <a:srgbClr val="000000"/>
              </a:solidFill>
            </a:endParaRPr>
          </a:p>
          <a:p>
            <a:pPr marL="0" lvl="0" indent="0" algn="l" rtl="0">
              <a:lnSpc>
                <a:spcPct val="115000"/>
              </a:lnSpc>
              <a:spcBef>
                <a:spcPts val="0"/>
              </a:spcBef>
              <a:spcAft>
                <a:spcPts val="0"/>
              </a:spcAft>
              <a:buSzPts val="1800"/>
              <a:buNone/>
            </a:pPr>
            <a:endParaRPr sz="800" b="1" dirty="0">
              <a:solidFill>
                <a:srgbClr val="000000"/>
              </a:solidFill>
            </a:endParaRPr>
          </a:p>
          <a:p>
            <a:pPr marL="457200" lvl="0" indent="-330200" algn="l" rtl="0">
              <a:lnSpc>
                <a:spcPct val="115000"/>
              </a:lnSpc>
              <a:spcBef>
                <a:spcPts val="0"/>
              </a:spcBef>
              <a:spcAft>
                <a:spcPts val="0"/>
              </a:spcAft>
              <a:buSzPts val="1600"/>
              <a:buChar char="•"/>
            </a:pPr>
            <a:r>
              <a:rPr lang="en-US" sz="1350" dirty="0"/>
              <a:t>Under “Search Address,” re-enter the address in “Search for a Location.”  </a:t>
            </a:r>
            <a:endParaRPr sz="1350" dirty="0"/>
          </a:p>
          <a:p>
            <a:pPr marL="457200" lvl="0" indent="-330200" algn="l" rtl="0">
              <a:lnSpc>
                <a:spcPct val="115000"/>
              </a:lnSpc>
              <a:spcBef>
                <a:spcPts val="0"/>
              </a:spcBef>
              <a:spcAft>
                <a:spcPts val="0"/>
              </a:spcAft>
              <a:buSzPts val="1600"/>
              <a:buChar char="•"/>
            </a:pPr>
            <a:r>
              <a:rPr lang="en-US" sz="1350" dirty="0"/>
              <a:t>Under “Show Results Within,” enter 0.25 miles for Buffer distance; a red circle with a .25 mile radius will appear around the address.  </a:t>
            </a:r>
            <a:endParaRPr sz="1350" dirty="0"/>
          </a:p>
          <a:p>
            <a:pPr marL="457200" lvl="0" indent="-330200" algn="l" rtl="0">
              <a:lnSpc>
                <a:spcPct val="115000"/>
              </a:lnSpc>
              <a:spcBef>
                <a:spcPts val="0"/>
              </a:spcBef>
              <a:spcAft>
                <a:spcPts val="0"/>
              </a:spcAft>
              <a:buSzPts val="1600"/>
              <a:buChar char="•"/>
            </a:pPr>
            <a:endParaRPr lang="en-US" sz="1350" dirty="0"/>
          </a:p>
          <a:p>
            <a:pPr marL="457200" lvl="0" indent="-330200" algn="l" rtl="0">
              <a:lnSpc>
                <a:spcPct val="115000"/>
              </a:lnSpc>
              <a:spcBef>
                <a:spcPts val="0"/>
              </a:spcBef>
              <a:spcAft>
                <a:spcPts val="0"/>
              </a:spcAft>
              <a:buSzPts val="1600"/>
              <a:buChar char="•"/>
            </a:pPr>
            <a:endParaRPr lang="en-US" sz="1350" dirty="0"/>
          </a:p>
          <a:p>
            <a:pPr marL="457200" lvl="0" indent="-330200" algn="l" rtl="0">
              <a:lnSpc>
                <a:spcPct val="115000"/>
              </a:lnSpc>
              <a:spcBef>
                <a:spcPts val="0"/>
              </a:spcBef>
              <a:spcAft>
                <a:spcPts val="0"/>
              </a:spcAft>
              <a:buSzPts val="1600"/>
              <a:buChar char="•"/>
            </a:pPr>
            <a:endParaRPr lang="en-US" sz="1350" dirty="0"/>
          </a:p>
          <a:p>
            <a:pPr marL="127000" lvl="0" indent="0" algn="l" rtl="0">
              <a:lnSpc>
                <a:spcPct val="115000"/>
              </a:lnSpc>
              <a:spcBef>
                <a:spcPts val="0"/>
              </a:spcBef>
              <a:spcAft>
                <a:spcPts val="0"/>
              </a:spcAft>
              <a:buSzPts val="1600"/>
              <a:buNone/>
            </a:pPr>
            <a:endParaRPr lang="en-US" sz="1350" dirty="0"/>
          </a:p>
          <a:p>
            <a:pPr marL="457200" lvl="0" indent="-330200" algn="l" rtl="0">
              <a:lnSpc>
                <a:spcPct val="115000"/>
              </a:lnSpc>
              <a:spcBef>
                <a:spcPts val="0"/>
              </a:spcBef>
              <a:spcAft>
                <a:spcPts val="0"/>
              </a:spcAft>
              <a:buSzPts val="1600"/>
              <a:buChar char="•"/>
            </a:pPr>
            <a:endParaRPr lang="en-US" sz="1350" dirty="0"/>
          </a:p>
          <a:p>
            <a:pPr marL="457200" lvl="0" indent="-330200" algn="l" rtl="0">
              <a:lnSpc>
                <a:spcPct val="115000"/>
              </a:lnSpc>
              <a:spcBef>
                <a:spcPts val="0"/>
              </a:spcBef>
              <a:spcAft>
                <a:spcPts val="0"/>
              </a:spcAft>
              <a:buSzPts val="1600"/>
              <a:buChar char="•"/>
            </a:pPr>
            <a:r>
              <a:rPr lang="en-US" sz="1350" dirty="0"/>
              <a:t>Click “Draw an Area” and select draw mode “POLYLINE.”</a:t>
            </a:r>
            <a:endParaRPr sz="1350" dirty="0"/>
          </a:p>
          <a:p>
            <a:pPr marL="0" lvl="0" indent="0" algn="l" rtl="0">
              <a:lnSpc>
                <a:spcPct val="115000"/>
              </a:lnSpc>
              <a:spcBef>
                <a:spcPts val="0"/>
              </a:spcBef>
              <a:spcAft>
                <a:spcPts val="0"/>
              </a:spcAft>
              <a:buSzPts val="1800"/>
              <a:buNone/>
            </a:pPr>
            <a:endParaRPr sz="1600" dirty="0"/>
          </a:p>
          <a:p>
            <a:pPr marL="0" lvl="0" indent="0" algn="l" rtl="0">
              <a:lnSpc>
                <a:spcPct val="115000"/>
              </a:lnSpc>
              <a:spcBef>
                <a:spcPts val="0"/>
              </a:spcBef>
              <a:spcAft>
                <a:spcPts val="0"/>
              </a:spcAft>
              <a:buSzPts val="1800"/>
              <a:buNone/>
            </a:pPr>
            <a:endParaRPr sz="1600" dirty="0"/>
          </a:p>
          <a:p>
            <a:pPr marL="0" lvl="0" indent="0" algn="l" rtl="0">
              <a:lnSpc>
                <a:spcPct val="115000"/>
              </a:lnSpc>
              <a:spcBef>
                <a:spcPts val="0"/>
              </a:spcBef>
              <a:spcAft>
                <a:spcPts val="0"/>
              </a:spcAft>
              <a:buSzPts val="1800"/>
              <a:buNone/>
            </a:pPr>
            <a:endParaRPr sz="1600" dirty="0"/>
          </a:p>
          <a:p>
            <a:pPr marL="0" lvl="0" indent="0" algn="l" rtl="0">
              <a:lnSpc>
                <a:spcPct val="115000"/>
              </a:lnSpc>
              <a:spcBef>
                <a:spcPts val="0"/>
              </a:spcBef>
              <a:spcAft>
                <a:spcPts val="0"/>
              </a:spcAft>
              <a:buSzPts val="1800"/>
              <a:buNone/>
            </a:pPr>
            <a:endParaRPr sz="1600" dirty="0"/>
          </a:p>
          <a:p>
            <a:pPr marL="0" lvl="0" indent="0" algn="l" rtl="0">
              <a:lnSpc>
                <a:spcPct val="115000"/>
              </a:lnSpc>
              <a:spcBef>
                <a:spcPts val="0"/>
              </a:spcBef>
              <a:spcAft>
                <a:spcPts val="0"/>
              </a:spcAft>
              <a:buSzPts val="1800"/>
              <a:buNone/>
            </a:pPr>
            <a:endParaRPr sz="1600" dirty="0"/>
          </a:p>
          <a:p>
            <a:pPr marL="457200" lvl="0" indent="-330200" algn="l" rtl="0">
              <a:lnSpc>
                <a:spcPct val="115000"/>
              </a:lnSpc>
              <a:spcBef>
                <a:spcPts val="0"/>
              </a:spcBef>
              <a:spcAft>
                <a:spcPts val="0"/>
              </a:spcAft>
              <a:buSzPts val="1600"/>
              <a:buChar char="•"/>
            </a:pPr>
            <a:r>
              <a:rPr lang="en-US" sz="1350" dirty="0"/>
              <a:t>Use the POLYLINE</a:t>
            </a:r>
            <a:r>
              <a:rPr lang="en-US" sz="1350" b="1" dirty="0"/>
              <a:t> </a:t>
            </a:r>
            <a:r>
              <a:rPr lang="en-US" sz="1350" dirty="0"/>
              <a:t>tool to draw a line along the project area.  Right click an area on the map to begin drawing. Right click at the end of each segment to continue drawing. Double-click to complete drawing. </a:t>
            </a:r>
            <a:endParaRPr sz="1350" dirty="0"/>
          </a:p>
          <a:p>
            <a:pPr marL="0" lvl="0" indent="0" algn="l" rtl="0">
              <a:lnSpc>
                <a:spcPct val="115000"/>
              </a:lnSpc>
              <a:spcBef>
                <a:spcPts val="0"/>
              </a:spcBef>
              <a:spcAft>
                <a:spcPts val="0"/>
              </a:spcAft>
              <a:buSzPts val="1800"/>
              <a:buNone/>
            </a:pPr>
            <a:endParaRPr sz="1600" dirty="0"/>
          </a:p>
        </p:txBody>
      </p:sp>
      <p:pic>
        <p:nvPicPr>
          <p:cNvPr id="272" name="Google Shape;272;g8701af7b45_0_59"/>
          <p:cNvPicPr preferRelativeResize="0"/>
          <p:nvPr/>
        </p:nvPicPr>
        <p:blipFill rotWithShape="1">
          <a:blip r:embed="rId4">
            <a:alphaModFix/>
          </a:blip>
          <a:srcRect/>
          <a:stretch/>
        </p:blipFill>
        <p:spPr>
          <a:xfrm>
            <a:off x="810624" y="1723060"/>
            <a:ext cx="4788750" cy="1329075"/>
          </a:xfrm>
          <a:prstGeom prst="rect">
            <a:avLst/>
          </a:prstGeom>
          <a:noFill/>
          <a:ln>
            <a:noFill/>
          </a:ln>
        </p:spPr>
      </p:pic>
      <p:sp>
        <p:nvSpPr>
          <p:cNvPr id="273" name="Google Shape;273;g8701af7b45_0_59"/>
          <p:cNvSpPr/>
          <p:nvPr/>
        </p:nvSpPr>
        <p:spPr>
          <a:xfrm rot="5400000">
            <a:off x="1547157" y="2277139"/>
            <a:ext cx="320400" cy="271500"/>
          </a:xfrm>
          <a:prstGeom prst="leftArrow">
            <a:avLst>
              <a:gd name="adj1" fmla="val 50000"/>
              <a:gd name="adj2" fmla="val 5000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4" name="Google Shape;274;g8701af7b45_0_59"/>
          <p:cNvPicPr preferRelativeResize="0"/>
          <p:nvPr/>
        </p:nvPicPr>
        <p:blipFill rotWithShape="1">
          <a:blip r:embed="rId5">
            <a:alphaModFix/>
          </a:blip>
          <a:srcRect r="52926"/>
          <a:stretch/>
        </p:blipFill>
        <p:spPr>
          <a:xfrm>
            <a:off x="4726722" y="3620399"/>
            <a:ext cx="1815716" cy="1345941"/>
          </a:xfrm>
          <a:prstGeom prst="rect">
            <a:avLst/>
          </a:prstGeom>
          <a:noFill/>
          <a:ln>
            <a:noFill/>
          </a:ln>
        </p:spPr>
      </p:pic>
      <p:pic>
        <p:nvPicPr>
          <p:cNvPr id="275" name="Google Shape;275;g8701af7b45_0_59"/>
          <p:cNvPicPr preferRelativeResize="0"/>
          <p:nvPr/>
        </p:nvPicPr>
        <p:blipFill rotWithShape="1">
          <a:blip r:embed="rId6">
            <a:alphaModFix/>
          </a:blip>
          <a:srcRect/>
          <a:stretch/>
        </p:blipFill>
        <p:spPr>
          <a:xfrm>
            <a:off x="1321622" y="7469325"/>
            <a:ext cx="4176656" cy="1448500"/>
          </a:xfrm>
          <a:prstGeom prst="rect">
            <a:avLst/>
          </a:prstGeom>
          <a:noFill/>
          <a:ln>
            <a:noFill/>
          </a:ln>
        </p:spPr>
      </p:pic>
      <p:sp>
        <p:nvSpPr>
          <p:cNvPr id="2" name="Footer Placeholder 1">
            <a:extLst>
              <a:ext uri="{FF2B5EF4-FFF2-40B4-BE49-F238E27FC236}">
                <a16:creationId xmlns:a16="http://schemas.microsoft.com/office/drawing/2014/main" id="{DD558926-E804-4646-9661-8E800DCA9C38}"/>
              </a:ext>
            </a:extLst>
          </p:cNvPr>
          <p:cNvSpPr>
            <a:spLocks noGrp="1"/>
          </p:cNvSpPr>
          <p:nvPr>
            <p:ph type="ftr" idx="11"/>
          </p:nvPr>
        </p:nvSpPr>
        <p:spPr>
          <a:xfrm>
            <a:off x="4823236" y="8657167"/>
            <a:ext cx="2171700" cy="486833"/>
          </a:xfrm>
        </p:spPr>
        <p:txBody>
          <a:bodyPr/>
          <a:lstStyle/>
          <a:p>
            <a:r>
              <a:rPr lang="en-US" dirty="0"/>
              <a:t>V9B</a:t>
            </a:r>
          </a:p>
        </p:txBody>
      </p:sp>
      <p:pic>
        <p:nvPicPr>
          <p:cNvPr id="9" name="Google Shape;274;g8701af7b45_0_59">
            <a:extLst>
              <a:ext uri="{FF2B5EF4-FFF2-40B4-BE49-F238E27FC236}">
                <a16:creationId xmlns:a16="http://schemas.microsoft.com/office/drawing/2014/main" id="{A3E6A827-A589-D54D-BD52-98F9FF317BB5}"/>
              </a:ext>
            </a:extLst>
          </p:cNvPr>
          <p:cNvPicPr preferRelativeResize="0"/>
          <p:nvPr/>
        </p:nvPicPr>
        <p:blipFill rotWithShape="1">
          <a:blip r:embed="rId5">
            <a:alphaModFix/>
          </a:blip>
          <a:srcRect l="56407" r="1902"/>
          <a:stretch/>
        </p:blipFill>
        <p:spPr>
          <a:xfrm>
            <a:off x="2400957" y="5318744"/>
            <a:ext cx="1608083" cy="134594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2" name="Google Shape;282;g8701af7b45_0_69"/>
          <p:cNvSpPr txBox="1">
            <a:spLocks noGrp="1"/>
          </p:cNvSpPr>
          <p:nvPr>
            <p:ph type="title"/>
          </p:nvPr>
        </p:nvSpPr>
        <p:spPr>
          <a:xfrm>
            <a:off x="316225" y="228600"/>
            <a:ext cx="6299400" cy="885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3900"/>
              <a:t>S1Q5 Instructions - Continued</a:t>
            </a:r>
            <a:endParaRPr sz="3900"/>
          </a:p>
        </p:txBody>
      </p:sp>
      <p:sp>
        <p:nvSpPr>
          <p:cNvPr id="283" name="Google Shape;283;g8701af7b45_0_69"/>
          <p:cNvSpPr txBox="1">
            <a:spLocks noGrp="1"/>
          </p:cNvSpPr>
          <p:nvPr>
            <p:ph type="body" idx="1"/>
          </p:nvPr>
        </p:nvSpPr>
        <p:spPr>
          <a:xfrm>
            <a:off x="316225" y="806520"/>
            <a:ext cx="6131400" cy="445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800"/>
              <a:buNone/>
            </a:pPr>
            <a:endParaRPr sz="1600" dirty="0"/>
          </a:p>
          <a:p>
            <a:pPr marL="457200" lvl="0" indent="-342900" algn="l" rtl="0">
              <a:lnSpc>
                <a:spcPct val="100000"/>
              </a:lnSpc>
              <a:spcBef>
                <a:spcPts val="360"/>
              </a:spcBef>
              <a:spcAft>
                <a:spcPts val="0"/>
              </a:spcAft>
              <a:buSzPts val="1800"/>
              <a:buChar char="●"/>
            </a:pPr>
            <a:r>
              <a:rPr lang="en-US" sz="1800" dirty="0"/>
              <a:t>Click “Report”</a:t>
            </a:r>
            <a:r>
              <a:rPr lang="en-US" sz="1800" b="1" dirty="0"/>
              <a:t> </a:t>
            </a:r>
            <a:r>
              <a:rPr lang="en-US" sz="1800" dirty="0"/>
              <a:t>inside the “Screening” toolbox.</a:t>
            </a:r>
            <a:endParaRPr sz="1600" dirty="0"/>
          </a:p>
          <a:p>
            <a:pPr marL="457200" lvl="0" indent="-355600" algn="l" rtl="0">
              <a:lnSpc>
                <a:spcPct val="100000"/>
              </a:lnSpc>
              <a:spcBef>
                <a:spcPts val="1000"/>
              </a:spcBef>
              <a:spcAft>
                <a:spcPts val="0"/>
              </a:spcAft>
              <a:buSzPts val="2000"/>
              <a:buChar char="●"/>
            </a:pPr>
            <a:r>
              <a:rPr lang="en-US" sz="1800" dirty="0"/>
              <a:t>Under “Choose units of analysis,” select “Square Miles” and “Miles.”</a:t>
            </a:r>
            <a:endParaRPr sz="1600" dirty="0"/>
          </a:p>
          <a:p>
            <a:pPr marL="457200" lvl="0" indent="-342900" algn="l" rtl="0">
              <a:lnSpc>
                <a:spcPct val="115000"/>
              </a:lnSpc>
              <a:spcBef>
                <a:spcPts val="1000"/>
              </a:spcBef>
              <a:spcAft>
                <a:spcPts val="0"/>
              </a:spcAft>
              <a:buSzPts val="1800"/>
              <a:buChar char="●"/>
            </a:pPr>
            <a:r>
              <a:rPr lang="en-US" sz="1800" dirty="0"/>
              <a:t>In the “Filter” section, select “Bicycle.”</a:t>
            </a:r>
            <a:endParaRPr sz="1800" dirty="0"/>
          </a:p>
          <a:p>
            <a:pPr marL="914400" lvl="1" indent="-330200" algn="l" rtl="0">
              <a:lnSpc>
                <a:spcPct val="115000"/>
              </a:lnSpc>
              <a:spcBef>
                <a:spcPts val="1000"/>
              </a:spcBef>
              <a:spcAft>
                <a:spcPts val="0"/>
              </a:spcAft>
              <a:buSzPts val="1600"/>
              <a:buChar char="○"/>
            </a:pPr>
            <a:r>
              <a:rPr lang="en-US" sz="1600" dirty="0"/>
              <a:t>In the “Crash Count” section beneath the title, note the “Number of Crashes in Current Extent.”</a:t>
            </a:r>
            <a:endParaRPr sz="1600" dirty="0"/>
          </a:p>
          <a:p>
            <a:pPr marL="914400" lvl="1" indent="-330200" algn="l" rtl="0">
              <a:lnSpc>
                <a:spcPct val="115000"/>
              </a:lnSpc>
              <a:spcBef>
                <a:spcPts val="1000"/>
              </a:spcBef>
              <a:spcAft>
                <a:spcPts val="0"/>
              </a:spcAft>
              <a:buSzPts val="1600"/>
              <a:buFont typeface="Calibri"/>
              <a:buChar char="○"/>
            </a:pPr>
            <a:r>
              <a:rPr lang="en-US" sz="1600" dirty="0"/>
              <a:t>Divide this number of crashes by the Area in mi² for the buffer zone.</a:t>
            </a:r>
            <a:endParaRPr sz="1600" dirty="0"/>
          </a:p>
          <a:p>
            <a:pPr marL="914400" lvl="1" indent="-330200" algn="l" rtl="0">
              <a:lnSpc>
                <a:spcPct val="115000"/>
              </a:lnSpc>
              <a:spcBef>
                <a:spcPts val="1000"/>
              </a:spcBef>
              <a:spcAft>
                <a:spcPts val="0"/>
              </a:spcAft>
              <a:buSzPts val="1600"/>
              <a:buFont typeface="Calibri"/>
              <a:buChar char="○"/>
            </a:pPr>
            <a:r>
              <a:rPr lang="en-US" sz="1600" dirty="0"/>
              <a:t>Round to the nearest whole number </a:t>
            </a:r>
            <a:endParaRPr sz="1600" dirty="0"/>
          </a:p>
          <a:p>
            <a:pPr marL="457200" lvl="0" indent="-342900" algn="l" rtl="0">
              <a:lnSpc>
                <a:spcPct val="115000"/>
              </a:lnSpc>
              <a:spcBef>
                <a:spcPts val="1000"/>
              </a:spcBef>
              <a:spcAft>
                <a:spcPts val="0"/>
              </a:spcAft>
              <a:buSzPts val="1800"/>
              <a:buFont typeface="Calibri"/>
              <a:buChar char="●"/>
            </a:pPr>
            <a:r>
              <a:rPr lang="en-US" sz="1800" dirty="0"/>
              <a:t>Record the calculated points</a:t>
            </a:r>
            <a:endParaRPr sz="1800" dirty="0"/>
          </a:p>
          <a:p>
            <a:pPr marL="0" lvl="0" indent="0" algn="l" rtl="0">
              <a:lnSpc>
                <a:spcPct val="100000"/>
              </a:lnSpc>
              <a:spcBef>
                <a:spcPts val="1000"/>
              </a:spcBef>
              <a:spcAft>
                <a:spcPts val="0"/>
              </a:spcAft>
              <a:buSzPts val="1800"/>
              <a:buNone/>
            </a:pPr>
            <a:endParaRPr sz="1400" dirty="0"/>
          </a:p>
          <a:p>
            <a:pPr marL="0" lvl="0" indent="0" algn="l" rtl="0">
              <a:lnSpc>
                <a:spcPct val="115000"/>
              </a:lnSpc>
              <a:spcBef>
                <a:spcPts val="0"/>
              </a:spcBef>
              <a:spcAft>
                <a:spcPts val="0"/>
              </a:spcAft>
              <a:buSzPts val="1800"/>
              <a:buNone/>
            </a:pPr>
            <a:endParaRPr sz="1900" dirty="0"/>
          </a:p>
        </p:txBody>
      </p:sp>
      <p:grpSp>
        <p:nvGrpSpPr>
          <p:cNvPr id="4" name="Group 3">
            <a:extLst>
              <a:ext uri="{FF2B5EF4-FFF2-40B4-BE49-F238E27FC236}">
                <a16:creationId xmlns:a16="http://schemas.microsoft.com/office/drawing/2014/main" id="{7CC1B895-2057-8A4A-97E2-98C237716568}"/>
              </a:ext>
            </a:extLst>
          </p:cNvPr>
          <p:cNvGrpSpPr/>
          <p:nvPr/>
        </p:nvGrpSpPr>
        <p:grpSpPr>
          <a:xfrm>
            <a:off x="817975" y="4988370"/>
            <a:ext cx="5295900" cy="3124200"/>
            <a:chOff x="817975" y="1190700"/>
            <a:chExt cx="5295900" cy="3124200"/>
          </a:xfrm>
        </p:grpSpPr>
        <p:grpSp>
          <p:nvGrpSpPr>
            <p:cNvPr id="3" name="Group 2">
              <a:extLst>
                <a:ext uri="{FF2B5EF4-FFF2-40B4-BE49-F238E27FC236}">
                  <a16:creationId xmlns:a16="http://schemas.microsoft.com/office/drawing/2014/main" id="{469437B1-1113-7447-B9E8-D29286F00873}"/>
                </a:ext>
              </a:extLst>
            </p:cNvPr>
            <p:cNvGrpSpPr/>
            <p:nvPr/>
          </p:nvGrpSpPr>
          <p:grpSpPr>
            <a:xfrm>
              <a:off x="817975" y="1190700"/>
              <a:ext cx="5295900" cy="3124200"/>
              <a:chOff x="817975" y="1190700"/>
              <a:chExt cx="5295900" cy="3124200"/>
            </a:xfrm>
          </p:grpSpPr>
          <p:pic>
            <p:nvPicPr>
              <p:cNvPr id="281" name="Google Shape;281;g8701af7b45_0_69"/>
              <p:cNvPicPr preferRelativeResize="0"/>
              <p:nvPr/>
            </p:nvPicPr>
            <p:blipFill rotWithShape="1">
              <a:blip r:embed="rId3">
                <a:alphaModFix/>
              </a:blip>
              <a:srcRect/>
              <a:stretch/>
            </p:blipFill>
            <p:spPr>
              <a:xfrm>
                <a:off x="817975" y="1190700"/>
                <a:ext cx="5295900" cy="3124200"/>
              </a:xfrm>
              <a:prstGeom prst="rect">
                <a:avLst/>
              </a:prstGeom>
              <a:noFill/>
              <a:ln>
                <a:noFill/>
              </a:ln>
            </p:spPr>
          </p:pic>
          <p:sp>
            <p:nvSpPr>
              <p:cNvPr id="284" name="Google Shape;284;g8701af7b45_0_69"/>
              <p:cNvSpPr/>
              <p:nvPr/>
            </p:nvSpPr>
            <p:spPr>
              <a:xfrm>
                <a:off x="2460800" y="3821752"/>
                <a:ext cx="1122600" cy="243600"/>
              </a:xfrm>
              <a:prstGeom prst="rightArrow">
                <a:avLst>
                  <a:gd name="adj1" fmla="val 50000"/>
                  <a:gd name="adj2" fmla="val 5000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5" name="Google Shape;285;g8701af7b45_0_69"/>
            <p:cNvSpPr/>
            <p:nvPr/>
          </p:nvSpPr>
          <p:spPr>
            <a:xfrm>
              <a:off x="4212225" y="1324050"/>
              <a:ext cx="406200" cy="288600"/>
            </a:xfrm>
            <a:prstGeom prst="bentArrow">
              <a:avLst>
                <a:gd name="adj1" fmla="val 25000"/>
                <a:gd name="adj2" fmla="val 25000"/>
                <a:gd name="adj3" fmla="val 25000"/>
                <a:gd name="adj4" fmla="val 4375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 name="Footer Placeholder 1">
            <a:extLst>
              <a:ext uri="{FF2B5EF4-FFF2-40B4-BE49-F238E27FC236}">
                <a16:creationId xmlns:a16="http://schemas.microsoft.com/office/drawing/2014/main" id="{25FE3C99-4864-AF40-8D6D-F82AC88239F8}"/>
              </a:ext>
            </a:extLst>
          </p:cNvPr>
          <p:cNvSpPr>
            <a:spLocks noGrp="1"/>
          </p:cNvSpPr>
          <p:nvPr>
            <p:ph type="ftr" idx="11"/>
          </p:nvPr>
        </p:nvSpPr>
        <p:spPr/>
        <p:txBody>
          <a:bodyPr/>
          <a:lstStyle/>
          <a:p>
            <a:r>
              <a:rPr lang="en-US"/>
              <a:t>V9B</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783ce67ac1_0_38"/>
          <p:cNvSpPr txBox="1">
            <a:spLocks noGrp="1"/>
          </p:cNvSpPr>
          <p:nvPr>
            <p:ph type="title"/>
          </p:nvPr>
        </p:nvSpPr>
        <p:spPr>
          <a:xfrm>
            <a:off x="44250" y="102900"/>
            <a:ext cx="6769500" cy="885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3900"/>
              <a:t>S1Q5 Instructions - Continued</a:t>
            </a:r>
            <a:endParaRPr sz="3900"/>
          </a:p>
        </p:txBody>
      </p:sp>
      <p:sp>
        <p:nvSpPr>
          <p:cNvPr id="292" name="Google Shape;292;g783ce67ac1_0_38"/>
          <p:cNvSpPr txBox="1">
            <a:spLocks noGrp="1"/>
          </p:cNvSpPr>
          <p:nvPr>
            <p:ph type="body" idx="1"/>
          </p:nvPr>
        </p:nvSpPr>
        <p:spPr>
          <a:xfrm>
            <a:off x="342900" y="4484400"/>
            <a:ext cx="6172200" cy="4316700"/>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SzPts val="1800"/>
              <a:buChar char="●"/>
            </a:pPr>
            <a:r>
              <a:rPr lang="en-US" sz="1800"/>
              <a:t>Select </a:t>
            </a:r>
            <a:r>
              <a:rPr lang="en-US" sz="1800" b="1"/>
              <a:t>Report </a:t>
            </a:r>
            <a:r>
              <a:rPr lang="en-US" sz="1800"/>
              <a:t>inside the </a:t>
            </a:r>
            <a:r>
              <a:rPr lang="en-US" sz="1800" b="1"/>
              <a:t>Screening</a:t>
            </a:r>
            <a:r>
              <a:rPr lang="en-US" sz="1800"/>
              <a:t> toolbox.</a:t>
            </a:r>
            <a:endParaRPr sz="1800"/>
          </a:p>
          <a:p>
            <a:pPr marL="914400" lvl="1" indent="-330200" algn="l" rtl="0">
              <a:lnSpc>
                <a:spcPct val="100000"/>
              </a:lnSpc>
              <a:spcBef>
                <a:spcPts val="0"/>
              </a:spcBef>
              <a:spcAft>
                <a:spcPts val="0"/>
              </a:spcAft>
              <a:buSzPts val="1600"/>
              <a:buChar char="○"/>
            </a:pPr>
            <a:r>
              <a:rPr lang="en-US" sz="1600"/>
              <a:t>Click on the </a:t>
            </a:r>
            <a:r>
              <a:rPr lang="en-US" sz="1600" b="1"/>
              <a:t>gear icon </a:t>
            </a:r>
            <a:r>
              <a:rPr lang="en-US" sz="1600"/>
              <a:t>(Choose units for analysis).</a:t>
            </a:r>
            <a:endParaRPr sz="1600"/>
          </a:p>
          <a:p>
            <a:pPr marL="914400" lvl="1" indent="-330200" algn="l" rtl="0">
              <a:lnSpc>
                <a:spcPct val="100000"/>
              </a:lnSpc>
              <a:spcBef>
                <a:spcPts val="0"/>
              </a:spcBef>
              <a:spcAft>
                <a:spcPts val="0"/>
              </a:spcAft>
              <a:buSzPts val="1600"/>
              <a:buChar char="○"/>
            </a:pPr>
            <a:r>
              <a:rPr lang="en-US" sz="1600"/>
              <a:t>Under </a:t>
            </a:r>
            <a:r>
              <a:rPr lang="en-US" sz="1600" b="1"/>
              <a:t>Show area results in</a:t>
            </a:r>
            <a:r>
              <a:rPr lang="en-US" sz="1600"/>
              <a:t>, use the tab down menu to select Square Miles.</a:t>
            </a:r>
            <a:endParaRPr sz="1600"/>
          </a:p>
          <a:p>
            <a:pPr marL="914400" lvl="1" indent="-330200" algn="l" rtl="0">
              <a:lnSpc>
                <a:spcPct val="100000"/>
              </a:lnSpc>
              <a:spcBef>
                <a:spcPts val="0"/>
              </a:spcBef>
              <a:spcAft>
                <a:spcPts val="0"/>
              </a:spcAft>
              <a:buSzPts val="1600"/>
              <a:buChar char="○"/>
            </a:pPr>
            <a:r>
              <a:rPr lang="en-US" sz="1600"/>
              <a:t>Ensure the tab down menu for </a:t>
            </a:r>
            <a:r>
              <a:rPr lang="en-US" sz="1600" b="1"/>
              <a:t>Show length results in</a:t>
            </a:r>
            <a:r>
              <a:rPr lang="en-US" sz="1600"/>
              <a:t> is set to Feet. </a:t>
            </a:r>
            <a:endParaRPr sz="1600"/>
          </a:p>
          <a:p>
            <a:pPr marL="914400" lvl="1" indent="-330200" algn="l" rtl="0">
              <a:lnSpc>
                <a:spcPct val="100000"/>
              </a:lnSpc>
              <a:spcBef>
                <a:spcPts val="0"/>
              </a:spcBef>
              <a:spcAft>
                <a:spcPts val="0"/>
              </a:spcAft>
              <a:buSzPts val="1600"/>
              <a:buChar char="○"/>
            </a:pPr>
            <a:r>
              <a:rPr lang="en-US" sz="1600"/>
              <a:t>Note the Area will change from square ft (ft²) to square miles (mi²); use the area in mi² for calculations.</a:t>
            </a:r>
            <a:endParaRPr sz="1600"/>
          </a:p>
          <a:p>
            <a:pPr marL="457200" lvl="0" indent="-342900" algn="l" rtl="0">
              <a:lnSpc>
                <a:spcPct val="115000"/>
              </a:lnSpc>
              <a:spcBef>
                <a:spcPts val="0"/>
              </a:spcBef>
              <a:spcAft>
                <a:spcPts val="0"/>
              </a:spcAft>
              <a:buSzPts val="1800"/>
              <a:buChar char="●"/>
            </a:pPr>
            <a:r>
              <a:rPr lang="en-US" sz="1800"/>
              <a:t>Under the </a:t>
            </a:r>
            <a:r>
              <a:rPr lang="en-US" sz="1800" b="1" i="1"/>
              <a:t>Filter</a:t>
            </a:r>
            <a:r>
              <a:rPr lang="en-US" sz="1800"/>
              <a:t> section, click on the tab to select </a:t>
            </a:r>
            <a:r>
              <a:rPr lang="en-US" sz="1800" b="1" i="1"/>
              <a:t>Bicycle</a:t>
            </a:r>
            <a:r>
              <a:rPr lang="en-US" sz="1800"/>
              <a:t>.</a:t>
            </a:r>
            <a:endParaRPr sz="1800"/>
          </a:p>
          <a:p>
            <a:pPr marL="914400" lvl="1" indent="-330200" algn="l" rtl="0">
              <a:lnSpc>
                <a:spcPct val="115000"/>
              </a:lnSpc>
              <a:spcBef>
                <a:spcPts val="0"/>
              </a:spcBef>
              <a:spcAft>
                <a:spcPts val="0"/>
              </a:spcAft>
              <a:buSzPts val="1600"/>
              <a:buChar char="○"/>
            </a:pPr>
            <a:r>
              <a:rPr lang="en-US" sz="1600"/>
              <a:t>In the </a:t>
            </a:r>
            <a:r>
              <a:rPr lang="en-US" sz="1600" b="1" i="1"/>
              <a:t>Crash Count</a:t>
            </a:r>
            <a:r>
              <a:rPr lang="en-US" sz="1600"/>
              <a:t> section beneath the title, </a:t>
            </a:r>
            <a:r>
              <a:rPr lang="en-US" sz="1600" b="1"/>
              <a:t>Number of Crashes in Current Extent</a:t>
            </a:r>
            <a:r>
              <a:rPr lang="en-US" sz="1600"/>
              <a:t>, note the number of crashes.</a:t>
            </a:r>
            <a:endParaRPr sz="1600"/>
          </a:p>
          <a:p>
            <a:pPr marL="914400" lvl="1" indent="-330200" algn="l" rtl="0">
              <a:lnSpc>
                <a:spcPct val="115000"/>
              </a:lnSpc>
              <a:spcBef>
                <a:spcPts val="0"/>
              </a:spcBef>
              <a:spcAft>
                <a:spcPts val="0"/>
              </a:spcAft>
              <a:buSzPts val="1600"/>
              <a:buFont typeface="Calibri"/>
              <a:buChar char="○"/>
            </a:pPr>
            <a:r>
              <a:rPr lang="en-US" sz="1600"/>
              <a:t>Divide the number of crashes by the Area in square miles for the buffer zone.</a:t>
            </a:r>
            <a:endParaRPr sz="1600"/>
          </a:p>
          <a:p>
            <a:pPr marL="914400" lvl="1" indent="-330200" algn="l" rtl="0">
              <a:lnSpc>
                <a:spcPct val="115000"/>
              </a:lnSpc>
              <a:spcBef>
                <a:spcPts val="0"/>
              </a:spcBef>
              <a:spcAft>
                <a:spcPts val="0"/>
              </a:spcAft>
              <a:buSzPts val="1600"/>
              <a:buFont typeface="Calibri"/>
              <a:buChar char="○"/>
            </a:pPr>
            <a:r>
              <a:rPr lang="en-US" sz="1600"/>
              <a:t>Round to the nearest whole number as necessary</a:t>
            </a:r>
            <a:endParaRPr sz="1600"/>
          </a:p>
          <a:p>
            <a:pPr marL="914400" lvl="1" indent="-330200" algn="l" rtl="0">
              <a:lnSpc>
                <a:spcPct val="115000"/>
              </a:lnSpc>
              <a:spcBef>
                <a:spcPts val="0"/>
              </a:spcBef>
              <a:spcAft>
                <a:spcPts val="0"/>
              </a:spcAft>
              <a:buSzPts val="1600"/>
              <a:buChar char="○"/>
            </a:pPr>
            <a:r>
              <a:rPr lang="en-US" sz="1600"/>
              <a:t>Place the calculated Point value in the </a:t>
            </a:r>
            <a:r>
              <a:rPr lang="en-US" sz="1600" b="1" i="1"/>
              <a:t>“Pts”</a:t>
            </a:r>
            <a:r>
              <a:rPr lang="en-US" sz="1600"/>
              <a:t> column.</a:t>
            </a:r>
            <a:endParaRPr sz="1600"/>
          </a:p>
          <a:p>
            <a:pPr marL="0" lvl="0" indent="0" algn="l" rtl="0">
              <a:lnSpc>
                <a:spcPct val="100000"/>
              </a:lnSpc>
              <a:spcBef>
                <a:spcPts val="360"/>
              </a:spcBef>
              <a:spcAft>
                <a:spcPts val="0"/>
              </a:spcAft>
              <a:buSzPts val="1800"/>
              <a:buNone/>
            </a:pPr>
            <a:endParaRPr sz="1400"/>
          </a:p>
          <a:p>
            <a:pPr marL="0" lvl="0" indent="0" algn="l" rtl="0">
              <a:lnSpc>
                <a:spcPct val="115000"/>
              </a:lnSpc>
              <a:spcBef>
                <a:spcPts val="0"/>
              </a:spcBef>
              <a:spcAft>
                <a:spcPts val="0"/>
              </a:spcAft>
              <a:buSzPts val="1800"/>
              <a:buNone/>
            </a:pPr>
            <a:endParaRPr sz="1900"/>
          </a:p>
        </p:txBody>
      </p:sp>
      <p:pic>
        <p:nvPicPr>
          <p:cNvPr id="293" name="Google Shape;293;g783ce67ac1_0_38"/>
          <p:cNvPicPr preferRelativeResize="0"/>
          <p:nvPr/>
        </p:nvPicPr>
        <p:blipFill rotWithShape="1">
          <a:blip r:embed="rId3">
            <a:alphaModFix/>
          </a:blip>
          <a:srcRect/>
          <a:stretch/>
        </p:blipFill>
        <p:spPr>
          <a:xfrm>
            <a:off x="781050" y="1174500"/>
            <a:ext cx="5295900" cy="3124200"/>
          </a:xfrm>
          <a:prstGeom prst="rect">
            <a:avLst/>
          </a:prstGeom>
          <a:noFill/>
          <a:ln>
            <a:noFill/>
          </a:ln>
        </p:spPr>
      </p:pic>
      <p:sp>
        <p:nvSpPr>
          <p:cNvPr id="294" name="Google Shape;294;g783ce67ac1_0_38"/>
          <p:cNvSpPr/>
          <p:nvPr/>
        </p:nvSpPr>
        <p:spPr>
          <a:xfrm>
            <a:off x="634459" y="3784839"/>
            <a:ext cx="1122600" cy="243600"/>
          </a:xfrm>
          <a:prstGeom prst="rightArrow">
            <a:avLst>
              <a:gd name="adj1" fmla="val 50000"/>
              <a:gd name="adj2" fmla="val 5000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g783ce67ac1_0_38"/>
          <p:cNvSpPr/>
          <p:nvPr/>
        </p:nvSpPr>
        <p:spPr>
          <a:xfrm>
            <a:off x="4145550" y="1333575"/>
            <a:ext cx="406200" cy="288600"/>
          </a:xfrm>
          <a:prstGeom prst="bentArrow">
            <a:avLst>
              <a:gd name="adj1" fmla="val 25000"/>
              <a:gd name="adj2" fmla="val 25000"/>
              <a:gd name="adj3" fmla="val 25000"/>
              <a:gd name="adj4" fmla="val 4375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9BDD60F2-CDE6-F145-8DB7-F5632FC4A9E7}"/>
              </a:ext>
            </a:extLst>
          </p:cNvPr>
          <p:cNvSpPr>
            <a:spLocks noGrp="1"/>
          </p:cNvSpPr>
          <p:nvPr>
            <p:ph type="ftr" idx="11"/>
          </p:nvPr>
        </p:nvSpPr>
        <p:spPr/>
        <p:txBody>
          <a:bodyPr/>
          <a:lstStyle/>
          <a:p>
            <a:r>
              <a:rPr lang="en-US"/>
              <a:t>V9B</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g783ce67ac1_0_47"/>
          <p:cNvSpPr/>
          <p:nvPr/>
        </p:nvSpPr>
        <p:spPr>
          <a:xfrm>
            <a:off x="1157416" y="120134"/>
            <a:ext cx="45432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317" name="Google Shape;317;g783ce67ac1_0_47"/>
          <p:cNvGraphicFramePr/>
          <p:nvPr/>
        </p:nvGraphicFramePr>
        <p:xfrm>
          <a:off x="110067" y="643355"/>
          <a:ext cx="6654800" cy="7507040"/>
        </p:xfrm>
        <a:graphic>
          <a:graphicData uri="http://schemas.openxmlformats.org/drawingml/2006/table">
            <a:tbl>
              <a:tblPr firstRow="1" bandRow="1">
                <a:noFill/>
                <a:tableStyleId>{CAC760E6-1B21-447E-AD2F-912B2140AA3E}</a:tableStyleId>
              </a:tblPr>
              <a:tblGrid>
                <a:gridCol w="54610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482600">
                  <a:extLst>
                    <a:ext uri="{9D8B030D-6E8A-4147-A177-3AD203B41FA5}">
                      <a16:colId xmlns:a16="http://schemas.microsoft.com/office/drawing/2014/main" val="20002"/>
                    </a:ext>
                  </a:extLst>
                </a:gridCol>
              </a:tblGrid>
              <a:tr h="2809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needs assessment</a:t>
                      </a:r>
                      <a:endParaRPr sz="1400" u="none" strike="noStrike" cap="none"/>
                    </a:p>
                    <a:p>
                      <a:pPr marL="0" marR="0" lvl="0" indent="0" algn="l" rtl="0">
                        <a:lnSpc>
                          <a:spcPct val="100000"/>
                        </a:lnSpc>
                        <a:spcBef>
                          <a:spcPts val="0"/>
                        </a:spcBef>
                        <a:spcAft>
                          <a:spcPts val="0"/>
                        </a:spcAft>
                        <a:buClr>
                          <a:srgbClr val="000000"/>
                        </a:buClr>
                        <a:buSzPts val="1100"/>
                        <a:buFont typeface="Arial"/>
                        <a:buNone/>
                      </a:pP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088800">
                <a:tc>
                  <a:txBody>
                    <a:bodyPr/>
                    <a:lstStyle/>
                    <a:p>
                      <a:pPr marL="0" marR="0" lvl="0" indent="0" algn="l" rtl="0">
                        <a:lnSpc>
                          <a:spcPct val="100000"/>
                        </a:lnSpc>
                        <a:spcBef>
                          <a:spcPts val="0"/>
                        </a:spcBef>
                        <a:spcAft>
                          <a:spcPts val="0"/>
                        </a:spcAft>
                        <a:buClr>
                          <a:schemeClr val="dk1"/>
                        </a:buClr>
                        <a:buSzPts val="1100"/>
                        <a:buFont typeface="Arial"/>
                        <a:buNone/>
                      </a:pPr>
                      <a:r>
                        <a:rPr lang="en-US" sz="1100" u="none" strike="noStrike" cap="none"/>
                        <a:t>S1Q1: How underserved is the geographic area where the project will be built?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use U. of Wisconsin Area Deprivation Index (state deciles), available </a:t>
                      </a:r>
                      <a:r>
                        <a:rPr lang="en-US" sz="1100" u="sng" strike="noStrike" cap="none">
                          <a:solidFill>
                            <a:srgbClr val="0000FF"/>
                          </a:solidFill>
                          <a:hlinkClick r:id="rId3">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rgbClr val="000000"/>
                        </a:buClr>
                        <a:buSzPts val="1100"/>
                        <a:buFont typeface="Arial"/>
                        <a:buNone/>
                      </a:pPr>
                      <a:r>
                        <a:rPr lang="en-US" sz="1100" u="none" strike="noStrike" cap="none">
                          <a:solidFill>
                            <a:srgbClr val="0000FF"/>
                          </a:solidFill>
                        </a:rPr>
                        <a:t>https://www.neighborhoodatlas.medicine.wisc.edu/mapping</a:t>
                      </a:r>
                      <a:endParaRPr sz="1100" u="none" strike="noStrike" cap="none">
                        <a:solidFill>
                          <a:schemeClr val="dk1"/>
                        </a:solidFill>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rgbClr val="FF0000"/>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ADI (least disadvantaged)                                                                 (most disadvantaged)</a:t>
                      </a:r>
                      <a:endParaRPr sz="1100" b="1" u="none" strike="noStrike" cap="none">
                        <a:solidFill>
                          <a:srgbClr val="FF0000"/>
                        </a:solidFill>
                      </a:endParaRPr>
                    </a:p>
                    <a:p>
                      <a:pPr marL="0" marR="0" lvl="0" indent="0" algn="l" rtl="0">
                        <a:lnSpc>
                          <a:spcPct val="100000"/>
                        </a:lnSpc>
                        <a:spcBef>
                          <a:spcPts val="0"/>
                        </a:spcBef>
                        <a:spcAft>
                          <a:spcPts val="0"/>
                        </a:spcAft>
                        <a:buClr>
                          <a:srgbClr val="000000"/>
                        </a:buClr>
                        <a:buSzPts val="1100"/>
                        <a:buFont typeface="Arial"/>
                        <a:buNone/>
                      </a:pPr>
                      <a:r>
                        <a:rPr lang="en-US" sz="1100" b="1" u="none" strike="noStrike" cap="none">
                          <a:solidFill>
                            <a:srgbClr val="FF0000"/>
                          </a:solidFill>
                        </a:rPr>
                        <a:t>ADI &amp; Points: 1           2          3         4          5            6             7           8             9            10</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Equity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/10</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tc>
                <a:extLst>
                  <a:ext uri="{0D108BD9-81ED-4DB2-BD59-A6C34878D82A}">
                    <a16:rowId xmlns:a16="http://schemas.microsoft.com/office/drawing/2014/main" val="10001"/>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S1Q2: </a:t>
                      </a:r>
                      <a:r>
                        <a:rPr lang="en-US" sz="1100" b="0" i="0" u="none" strike="noStrike" cap="none"/>
                        <a:t>What is the current rate of biking to work in the proposed project’s Census Tract? </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U.S. Census data, available </a:t>
                      </a:r>
                      <a:r>
                        <a:rPr lang="en-US" sz="1100" u="sng" strike="noStrike" cap="none">
                          <a:solidFill>
                            <a:srgbClr val="0000FF"/>
                          </a:solidFill>
                          <a:hlinkClick r:id="rId4">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1"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Rate:     0-.3%                   .4-1.2%                 1.3-2.5%                 2.6-4.3%            4.9-7.1%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2"/>
                  </a:ext>
                </a:extLst>
              </a:tr>
              <a:tr h="9269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S1Q3: </a:t>
                      </a:r>
                      <a:r>
                        <a:rPr lang="en-US" sz="1100" b="0" i="0" u="none" strike="noStrike" cap="none"/>
                        <a:t>What is the current rate of walking to work in the proposed project’s Census Tract? </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U.S. Census data, available </a:t>
                      </a:r>
                      <a:r>
                        <a:rPr lang="en-US" sz="1100" u="sng" strike="noStrike" cap="none">
                          <a:solidFill>
                            <a:srgbClr val="0000FF"/>
                          </a:solidFill>
                          <a:hlinkClick r:id="rId5">
                            <a:extLst>
                              <a:ext uri="{A12FA001-AC4F-418D-AE19-62706E023703}">
                                <ahyp:hlinkClr xmlns:ahyp="http://schemas.microsoft.com/office/drawing/2018/hyperlinkcolor" val="tx"/>
                              </a:ext>
                            </a:extLst>
                          </a:hlinkClick>
                        </a:rPr>
                        <a:t>here</a:t>
                      </a:r>
                      <a:r>
                        <a:rPr lang="en-US" sz="1100" u="none" strike="noStrike" cap="none">
                          <a:solidFill>
                            <a:srgbClr val="0000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Rate:         0-1.7%               1.8-5%                 5.4-11%           13.6-22.5%          45.3-57.6%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Active transport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3"/>
                  </a:ext>
                </a:extLst>
              </a:tr>
              <a:tr h="125065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S1Q4: </a:t>
                      </a:r>
                      <a:r>
                        <a:rPr lang="en-US" sz="1100" b="0" i="0" u="none" strike="noStrike" cap="none"/>
                        <a:t>What is the pedestrian crash density in the area?  (pedestrian crashes/sq. mile)</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NDOT map, available </a:t>
                      </a:r>
                      <a:r>
                        <a:rPr lang="en-US" sz="1100" u="sng" strike="noStrike" cap="none">
                          <a:solidFill>
                            <a:srgbClr val="0000FF"/>
                          </a:solidFill>
                          <a:hlinkClick r:id="rId6">
                            <a:extLst>
                              <a:ext uri="{A12FA001-AC4F-418D-AE19-62706E023703}">
                                <ahyp:hlinkClr xmlns:ahyp="http://schemas.microsoft.com/office/drawing/2018/hyperlinkcolor" val="tx"/>
                              </a:ext>
                            </a:extLst>
                          </a:hlinkClick>
                        </a:rPr>
                        <a:t>here</a:t>
                      </a:r>
                      <a:r>
                        <a:rPr lang="en-US" sz="1100" u="none" strike="noStrike" cap="none">
                          <a:solidFill>
                            <a:srgbClr val="0000FF"/>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0-8                        9-16                        17-27                     28-47                   48+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4"/>
                  </a:ext>
                </a:extLst>
              </a:tr>
              <a:tr h="13527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S1Q5: </a:t>
                      </a:r>
                      <a:r>
                        <a:rPr lang="en-US" sz="1100" b="0" i="0" u="none" strike="noStrike" cap="none"/>
                        <a:t>What is the bicycle crash density in the area?  (bicycle crashes/sq. mile)</a:t>
                      </a:r>
                      <a:endParaRPr sz="1400" u="none" strike="noStrike" cap="none"/>
                    </a:p>
                    <a:p>
                      <a:pPr marL="0" marR="0" lvl="0" indent="0" algn="l" rtl="0">
                        <a:lnSpc>
                          <a:spcPct val="100000"/>
                        </a:lnSpc>
                        <a:spcBef>
                          <a:spcPts val="0"/>
                        </a:spcBef>
                        <a:spcAft>
                          <a:spcPts val="0"/>
                        </a:spcAft>
                        <a:buClr>
                          <a:srgbClr val="0000FF"/>
                        </a:buClr>
                        <a:buSzPts val="1100"/>
                        <a:buFont typeface="Calibri"/>
                        <a:buNone/>
                      </a:pPr>
                      <a:r>
                        <a:rPr lang="en-US" sz="1100" u="none" strike="noStrike" cap="none">
                          <a:solidFill>
                            <a:srgbClr val="0000FF"/>
                          </a:solidFill>
                        </a:rPr>
                        <a:t>(use NDOT map, available </a:t>
                      </a:r>
                      <a:r>
                        <a:rPr lang="en-US" sz="1100" u="sng" strike="noStrike" cap="none">
                          <a:solidFill>
                            <a:srgbClr val="0000FF"/>
                          </a:solidFill>
                          <a:hlinkClick r:id="rId6">
                            <a:extLst>
                              <a:ext uri="{A12FA001-AC4F-418D-AE19-62706E023703}">
                                <ahyp:hlinkClr xmlns:ahyp="http://schemas.microsoft.com/office/drawing/2018/hyperlinkcolor" val="tx"/>
                              </a:ext>
                            </a:extLst>
                          </a:hlinkClick>
                        </a:rPr>
                        <a:t>here</a:t>
                      </a:r>
                      <a:r>
                        <a:rPr lang="en-US" sz="1100" u="none" strike="noStrike" cap="none">
                          <a:solidFill>
                            <a:srgbClr val="0000FF"/>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000FF"/>
                        </a:solidFill>
                      </a:endParaRPr>
                    </a:p>
                    <a:p>
                      <a:pPr marL="0" marR="0" lvl="0" indent="0" algn="l" rtl="0">
                        <a:lnSpc>
                          <a:spcPct val="100000"/>
                        </a:lnSpc>
                        <a:spcBef>
                          <a:spcPts val="0"/>
                        </a:spcBef>
                        <a:spcAft>
                          <a:spcPts val="0"/>
                        </a:spcAft>
                        <a:buClr>
                          <a:schemeClr val="dk1"/>
                        </a:buClr>
                        <a:buSzPts val="1100"/>
                        <a:buFont typeface="Calibri"/>
                        <a:buNone/>
                      </a:pPr>
                      <a:r>
                        <a:rPr lang="en-US" sz="1100" b="1" u="none" strike="noStrike" cap="none">
                          <a:solidFill>
                            <a:schemeClr val="dk1"/>
                          </a:solidFill>
                        </a:rPr>
                        <a:t>Crashes:    0-4                        5-7                        8-10                     11-15                    15+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Crash</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5"/>
                  </a:ext>
                </a:extLst>
              </a:tr>
              <a:tr h="135277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dirty="0">
                          <a:solidFill>
                            <a:srgbClr val="000000"/>
                          </a:solidFill>
                        </a:rPr>
                        <a:t>S1Q6: What is the land use diversity index? (jobs to housing)</a:t>
                      </a:r>
                      <a:endParaRPr sz="1400" u="none" strike="noStrike" cap="none" dirty="0"/>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dirty="0">
                          <a:solidFill>
                            <a:srgbClr val="0432FF"/>
                          </a:solidFill>
                        </a:rPr>
                        <a:t>(use EPA Smart Location database (c. 2010), available here:</a:t>
                      </a:r>
                      <a:endParaRPr sz="1400" u="none" strike="noStrike" cap="none" dirty="0"/>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dirty="0">
                          <a:solidFill>
                            <a:srgbClr val="0432FF"/>
                          </a:solidFill>
                          <a:hlinkClick r:id="rId7">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dirty="0">
                          <a:solidFill>
                            <a:srgbClr val="0432FF"/>
                          </a:solidFill>
                        </a:rPr>
                        <a:t>)</a:t>
                      </a:r>
                      <a:endParaRPr sz="1400" u="none" strike="noStrike" cap="none" dirty="0"/>
                    </a:p>
                    <a:p>
                      <a:pPr marL="0" marR="0" lvl="0" indent="0" algn="l" rtl="0">
                        <a:lnSpc>
                          <a:spcPct val="100000"/>
                        </a:lnSpc>
                        <a:spcBef>
                          <a:spcPts val="0"/>
                        </a:spcBef>
                        <a:spcAft>
                          <a:spcPts val="0"/>
                        </a:spcAft>
                        <a:buClr>
                          <a:schemeClr val="dk1"/>
                        </a:buClr>
                        <a:buSzPts val="1100"/>
                        <a:buFont typeface="Calibri"/>
                        <a:buNone/>
                      </a:pPr>
                      <a:endParaRPr sz="1100" u="none" strike="noStrike" cap="none" dirty="0">
                        <a:solidFill>
                          <a:srgbClr val="000000"/>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Diversity:    0-2         2-3        3-4      4-5       5-6          6-7        7-8        8-9         9-10</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1            1.5          2        2.5         3            3.5         4          4.5            5</a:t>
                      </a:r>
                      <a:endParaRPr sz="1400" u="none" strike="noStrike" cap="none" dirty="0"/>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a:t>
                      </a:r>
                      <a:endParaRPr sz="1400" u="none" strike="noStrike" cap="none" dirty="0"/>
                    </a:p>
                  </a:txBody>
                  <a:tcPr marL="68575" marR="68575" marT="60950" marB="60950">
                    <a:solidFill>
                      <a:srgbClr val="00FF00"/>
                    </a:solidFill>
                  </a:tcPr>
                </a:tc>
                <a:extLst>
                  <a:ext uri="{0D108BD9-81ED-4DB2-BD59-A6C34878D82A}">
                    <a16:rowId xmlns:a16="http://schemas.microsoft.com/office/drawing/2014/main" val="10006"/>
                  </a:ext>
                </a:extLst>
              </a:tr>
            </a:tbl>
          </a:graphicData>
        </a:graphic>
      </p:graphicFrame>
      <p:sp>
        <p:nvSpPr>
          <p:cNvPr id="2" name="Footer Placeholder 1">
            <a:extLst>
              <a:ext uri="{FF2B5EF4-FFF2-40B4-BE49-F238E27FC236}">
                <a16:creationId xmlns:a16="http://schemas.microsoft.com/office/drawing/2014/main" id="{2EF97DA4-F1A7-7B4C-98A7-15FA007D1BF3}"/>
              </a:ext>
            </a:extLst>
          </p:cNvPr>
          <p:cNvSpPr>
            <a:spLocks noGrp="1"/>
          </p:cNvSpPr>
          <p:nvPr>
            <p:ph type="ftr" idx="11"/>
          </p:nvPr>
        </p:nvSpPr>
        <p:spPr/>
        <p:txBody>
          <a:bodyPr/>
          <a:lstStyle/>
          <a:p>
            <a:r>
              <a:rPr lang="en-US"/>
              <a:t>V9B</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783ce67ac1_0_54"/>
          <p:cNvSpPr txBox="1">
            <a:spLocks noGrp="1"/>
          </p:cNvSpPr>
          <p:nvPr>
            <p:ph type="title"/>
          </p:nvPr>
        </p:nvSpPr>
        <p:spPr>
          <a:xfrm>
            <a:off x="342900" y="57150"/>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200"/>
              <a:t>S1Q6 Instructions</a:t>
            </a:r>
            <a:endParaRPr sz="4200"/>
          </a:p>
        </p:txBody>
      </p:sp>
      <p:sp>
        <p:nvSpPr>
          <p:cNvPr id="325" name="Google Shape;325;g783ce67ac1_0_54"/>
          <p:cNvSpPr txBox="1">
            <a:spLocks noGrp="1"/>
          </p:cNvSpPr>
          <p:nvPr>
            <p:ph type="body" idx="1"/>
          </p:nvPr>
        </p:nvSpPr>
        <p:spPr>
          <a:xfrm>
            <a:off x="409575" y="962725"/>
            <a:ext cx="6105600" cy="67431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0"/>
              </a:spcBef>
              <a:spcAft>
                <a:spcPts val="0"/>
              </a:spcAft>
              <a:buSzPts val="1800"/>
              <a:buChar char="●"/>
            </a:pPr>
            <a:r>
              <a:rPr lang="en-US" sz="1800" dirty="0"/>
              <a:t>Click on the link provided for the U.S. Environmental Protection Agency (EPA) Smart Location database; available </a:t>
            </a:r>
            <a:r>
              <a:rPr lang="en-US" sz="1800" u="sng" dirty="0">
                <a:solidFill>
                  <a:schemeClr val="hlink"/>
                </a:solidFill>
                <a:hlinkClick r:id="rId3"/>
              </a:rPr>
              <a:t>here</a:t>
            </a:r>
            <a:r>
              <a:rPr lang="en-US" sz="1800" dirty="0"/>
              <a:t>.</a:t>
            </a:r>
            <a:endParaRPr sz="1800" dirty="0"/>
          </a:p>
          <a:p>
            <a:pPr marL="457200" lvl="0" indent="-342900" algn="l" rtl="0">
              <a:lnSpc>
                <a:spcPct val="115000"/>
              </a:lnSpc>
              <a:spcBef>
                <a:spcPts val="0"/>
              </a:spcBef>
              <a:spcAft>
                <a:spcPts val="0"/>
              </a:spcAft>
              <a:buSzPts val="1800"/>
              <a:buChar char="●"/>
            </a:pPr>
            <a:r>
              <a:rPr lang="en-US" sz="1800" dirty="0"/>
              <a:t>Under “View In,” select “ArcGIS Online Map Viewer” </a:t>
            </a:r>
            <a:endParaRPr sz="1800" b="1" i="1" dirty="0"/>
          </a:p>
          <a:p>
            <a:pPr marL="457200" lvl="0" indent="-342900" algn="l" rtl="0">
              <a:lnSpc>
                <a:spcPct val="115000"/>
              </a:lnSpc>
              <a:spcBef>
                <a:spcPts val="0"/>
              </a:spcBef>
              <a:spcAft>
                <a:spcPts val="0"/>
              </a:spcAft>
              <a:buSzPts val="1800"/>
              <a:buChar char="●"/>
            </a:pPr>
            <a:r>
              <a:rPr lang="en-US" sz="1800" dirty="0"/>
              <a:t>Enter the address for project area inside the text box on the top right.</a:t>
            </a:r>
            <a:endParaRPr sz="1800" b="1" i="1" dirty="0"/>
          </a:p>
          <a:p>
            <a:pPr marL="457200" lvl="0" indent="-342900" algn="l" rtl="0">
              <a:lnSpc>
                <a:spcPct val="115000"/>
              </a:lnSpc>
              <a:spcBef>
                <a:spcPts val="0"/>
              </a:spcBef>
              <a:spcAft>
                <a:spcPts val="0"/>
              </a:spcAft>
              <a:buSzPts val="1800"/>
              <a:buChar char="●"/>
            </a:pPr>
            <a:r>
              <a:rPr lang="en-US" sz="1800" dirty="0"/>
              <a:t>On the left, click on “</a:t>
            </a:r>
            <a:r>
              <a:rPr lang="en-US" sz="1800" dirty="0" err="1"/>
              <a:t>Basemap</a:t>
            </a:r>
            <a:r>
              <a:rPr lang="en-US" sz="1800" dirty="0"/>
              <a:t>” and select “Imagery Hybrid.”</a:t>
            </a:r>
            <a:endParaRPr sz="1800" dirty="0"/>
          </a:p>
          <a:p>
            <a:pPr marL="457200" lvl="0" indent="-342900" algn="l" rtl="0">
              <a:lnSpc>
                <a:spcPct val="115000"/>
              </a:lnSpc>
              <a:spcBef>
                <a:spcPts val="0"/>
              </a:spcBef>
              <a:spcAft>
                <a:spcPts val="0"/>
              </a:spcAft>
              <a:buSzPts val="1800"/>
              <a:buChar char="●"/>
            </a:pPr>
            <a:r>
              <a:rPr lang="en-US" sz="1800" dirty="0"/>
              <a:t>Click on “Details”</a:t>
            </a:r>
            <a:r>
              <a:rPr lang="en-US" sz="1800" b="1" dirty="0"/>
              <a:t> </a:t>
            </a:r>
            <a:r>
              <a:rPr lang="en-US" sz="1800" dirty="0"/>
              <a:t>in the top left</a:t>
            </a:r>
            <a:r>
              <a:rPr lang="en-US" sz="1800" b="1" dirty="0"/>
              <a:t> </a:t>
            </a:r>
            <a:r>
              <a:rPr lang="en-US" sz="1800" dirty="0"/>
              <a:t>and then click on “Content.” </a:t>
            </a:r>
            <a:endParaRPr sz="1800" dirty="0"/>
          </a:p>
          <a:p>
            <a:pPr marL="457200" lvl="0" indent="-342900" algn="l" rtl="0">
              <a:lnSpc>
                <a:spcPct val="115000"/>
              </a:lnSpc>
              <a:spcBef>
                <a:spcPts val="0"/>
              </a:spcBef>
              <a:spcAft>
                <a:spcPts val="0"/>
              </a:spcAft>
              <a:buSzPts val="1800"/>
              <a:buChar char="●"/>
            </a:pPr>
            <a:r>
              <a:rPr lang="en-US" sz="1800" dirty="0"/>
              <a:t>Click on the right-pointing arrow next to “Smart Location Database” to reveal the drop-down menu. </a:t>
            </a:r>
            <a:endParaRPr sz="1800" dirty="0"/>
          </a:p>
          <a:p>
            <a:pPr marL="457200" lvl="0" indent="-342900" algn="l" rtl="0">
              <a:lnSpc>
                <a:spcPct val="115000"/>
              </a:lnSpc>
              <a:spcBef>
                <a:spcPts val="0"/>
              </a:spcBef>
              <a:spcAft>
                <a:spcPts val="0"/>
              </a:spcAft>
              <a:buSzPts val="1800"/>
              <a:buChar char="●"/>
            </a:pPr>
            <a:r>
              <a:rPr lang="en-US" sz="1800" dirty="0"/>
              <a:t>Check the the “Land use diversity” tab box. The map will adjust to show a color-coded view of the data.</a:t>
            </a:r>
            <a:endParaRPr sz="1800" dirty="0"/>
          </a:p>
          <a:p>
            <a:pPr marL="457200" lvl="0" indent="-342900" algn="l" rtl="0">
              <a:lnSpc>
                <a:spcPct val="115000"/>
              </a:lnSpc>
              <a:spcBef>
                <a:spcPts val="0"/>
              </a:spcBef>
              <a:spcAft>
                <a:spcPts val="0"/>
              </a:spcAft>
              <a:buSzPts val="1800"/>
              <a:buChar char="●"/>
            </a:pPr>
            <a:r>
              <a:rPr lang="en-US" sz="1800" dirty="0"/>
              <a:t>Click on “Legend” in the top left. Cross-reference color(s) in the project area with the color/number range in the map key.</a:t>
            </a:r>
            <a:endParaRPr sz="1800" dirty="0"/>
          </a:p>
          <a:p>
            <a:pPr marL="914400" lvl="1" indent="-342900" algn="l" rtl="0">
              <a:lnSpc>
                <a:spcPct val="115000"/>
              </a:lnSpc>
              <a:spcBef>
                <a:spcPts val="0"/>
              </a:spcBef>
              <a:spcAft>
                <a:spcPts val="0"/>
              </a:spcAft>
              <a:buSzPts val="1800"/>
              <a:buChar char="○"/>
            </a:pPr>
            <a:r>
              <a:rPr lang="en-US" sz="1800" dirty="0"/>
              <a:t>If the project area straddles multiple color-coded zones, calculate the average. If this average is a whole number, the points assigned should be the average of the two values associated with that whole number.</a:t>
            </a:r>
            <a:endParaRPr sz="1800" dirty="0"/>
          </a:p>
          <a:p>
            <a:pPr marL="457200" lvl="0" indent="-342900" algn="l" rtl="0">
              <a:lnSpc>
                <a:spcPct val="115000"/>
              </a:lnSpc>
              <a:spcBef>
                <a:spcPts val="0"/>
              </a:spcBef>
              <a:spcAft>
                <a:spcPts val="0"/>
              </a:spcAft>
              <a:buSzPts val="1800"/>
              <a:buChar char="●"/>
            </a:pPr>
            <a:r>
              <a:rPr lang="en-US" sz="1800" dirty="0"/>
              <a:t>Record the corresponding points.</a:t>
            </a:r>
            <a:endParaRPr sz="1800" dirty="0"/>
          </a:p>
          <a:p>
            <a:pPr marL="0" lvl="0" indent="0" algn="l" rtl="0">
              <a:lnSpc>
                <a:spcPct val="115000"/>
              </a:lnSpc>
              <a:spcBef>
                <a:spcPts val="1000"/>
              </a:spcBef>
              <a:spcAft>
                <a:spcPts val="0"/>
              </a:spcAft>
              <a:buSzPts val="1800"/>
              <a:buNone/>
            </a:pPr>
            <a:endParaRPr sz="1400" dirty="0"/>
          </a:p>
          <a:p>
            <a:pPr marL="457200" lvl="0" indent="0" algn="l" rtl="0">
              <a:lnSpc>
                <a:spcPct val="115000"/>
              </a:lnSpc>
              <a:spcBef>
                <a:spcPts val="0"/>
              </a:spcBef>
              <a:spcAft>
                <a:spcPts val="0"/>
              </a:spcAft>
              <a:buSzPts val="1800"/>
              <a:buNone/>
            </a:pPr>
            <a:endParaRPr sz="1600" dirty="0"/>
          </a:p>
          <a:p>
            <a:pPr marL="0" lvl="0" indent="0" algn="l" rtl="0">
              <a:lnSpc>
                <a:spcPct val="115000"/>
              </a:lnSpc>
              <a:spcBef>
                <a:spcPts val="0"/>
              </a:spcBef>
              <a:spcAft>
                <a:spcPts val="0"/>
              </a:spcAft>
              <a:buSzPts val="1800"/>
              <a:buNone/>
            </a:pPr>
            <a:endParaRPr sz="1600" dirty="0"/>
          </a:p>
        </p:txBody>
      </p:sp>
      <p:sp>
        <p:nvSpPr>
          <p:cNvPr id="2" name="Footer Placeholder 1">
            <a:extLst>
              <a:ext uri="{FF2B5EF4-FFF2-40B4-BE49-F238E27FC236}">
                <a16:creationId xmlns:a16="http://schemas.microsoft.com/office/drawing/2014/main" id="{65687852-4ADE-154E-BD47-61846F7D0F10}"/>
              </a:ext>
            </a:extLst>
          </p:cNvPr>
          <p:cNvSpPr>
            <a:spLocks noGrp="1"/>
          </p:cNvSpPr>
          <p:nvPr>
            <p:ph type="ftr" idx="11"/>
          </p:nvPr>
        </p:nvSpPr>
        <p:spPr/>
        <p:txBody>
          <a:bodyPr/>
          <a:lstStyle/>
          <a:p>
            <a:r>
              <a:rPr lang="en-US"/>
              <a:t>V9B</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9" name="Google Shape;339;p4"/>
          <p:cNvSpPr/>
          <p:nvPr/>
        </p:nvSpPr>
        <p:spPr>
          <a:xfrm>
            <a:off x="1157416" y="120134"/>
            <a:ext cx="454316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340" name="Google Shape;340;p4"/>
          <p:cNvGraphicFramePr/>
          <p:nvPr>
            <p:extLst>
              <p:ext uri="{D42A27DB-BD31-4B8C-83A1-F6EECF244321}">
                <p14:modId xmlns:p14="http://schemas.microsoft.com/office/powerpoint/2010/main" val="2283857059"/>
              </p:ext>
            </p:extLst>
          </p:nvPr>
        </p:nvGraphicFramePr>
        <p:xfrm>
          <a:off x="118579" y="878883"/>
          <a:ext cx="6608575" cy="7419991"/>
        </p:xfrm>
        <a:graphic>
          <a:graphicData uri="http://schemas.openxmlformats.org/drawingml/2006/table">
            <a:tbl>
              <a:tblPr firstRow="1" bandRow="1">
                <a:noFill/>
                <a:tableStyleId>{CAC760E6-1B21-447E-AD2F-912B2140AA3E}</a:tableStyleId>
              </a:tblPr>
              <a:tblGrid>
                <a:gridCol w="5435175">
                  <a:extLst>
                    <a:ext uri="{9D8B030D-6E8A-4147-A177-3AD203B41FA5}">
                      <a16:colId xmlns:a16="http://schemas.microsoft.com/office/drawing/2014/main" val="20000"/>
                    </a:ext>
                  </a:extLst>
                </a:gridCol>
                <a:gridCol w="697700">
                  <a:extLst>
                    <a:ext uri="{9D8B030D-6E8A-4147-A177-3AD203B41FA5}">
                      <a16:colId xmlns:a16="http://schemas.microsoft.com/office/drawing/2014/main" val="20001"/>
                    </a:ext>
                  </a:extLst>
                </a:gridCol>
                <a:gridCol w="475700">
                  <a:extLst>
                    <a:ext uri="{9D8B030D-6E8A-4147-A177-3AD203B41FA5}">
                      <a16:colId xmlns:a16="http://schemas.microsoft.com/office/drawing/2014/main" val="20002"/>
                    </a:ext>
                  </a:extLst>
                </a:gridCol>
              </a:tblGrid>
              <a:tr h="38822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needs assessment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214954">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S1Q7: </a:t>
                      </a:r>
                      <a:r>
                        <a:rPr lang="en-US" sz="1100" b="0" i="0" u="none" strike="noStrike" cap="none"/>
                        <a:t>How many housing units + jobs per acre in the area?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Smart Location database (c. 2010), available here:</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a:solidFill>
                            <a:srgbClr val="0432FF"/>
                          </a:solidFill>
                          <a:hlinkClick r:id="rId3">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Density:    0-10                10-25                     25-50                     50-100               100+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1"/>
                  </a:ext>
                </a:extLst>
              </a:tr>
              <a:tr h="1313590">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S1Q8: </a:t>
                      </a:r>
                      <a:r>
                        <a:rPr lang="en-US" sz="1100" b="0" i="0" u="none" strike="noStrike" cap="none"/>
                        <a:t>How many schools (CCSD, private, or charter) are in the area and within ½ mile radius? </a:t>
                      </a:r>
                      <a:endParaRPr sz="1100" b="0" i="0" u="none" strike="noStrike" cap="none"/>
                    </a:p>
                    <a:p>
                      <a:pPr marL="0" marR="0" lvl="0" indent="0" algn="l" rtl="0">
                        <a:lnSpc>
                          <a:spcPct val="100000"/>
                        </a:lnSpc>
                        <a:spcBef>
                          <a:spcPts val="0"/>
                        </a:spcBef>
                        <a:spcAft>
                          <a:spcPts val="0"/>
                        </a:spcAft>
                        <a:buClr>
                          <a:schemeClr val="dk1"/>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&gt;1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1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2"/>
                  </a:ext>
                </a:extLst>
              </a:tr>
              <a:tr h="1033917">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S1Q9: </a:t>
                      </a:r>
                      <a:r>
                        <a:rPr lang="en-US" sz="1100" b="0" i="0" u="none" strike="noStrike" cap="none"/>
                        <a:t>How many </a:t>
                      </a:r>
                      <a:r>
                        <a:rPr lang="en-US" sz="1100" u="none" strike="noStrike" cap="none"/>
                        <a:t>public parks are</a:t>
                      </a:r>
                      <a:r>
                        <a:rPr lang="en-US" sz="1100" b="0" i="0" u="none" strike="noStrike" cap="none"/>
                        <a:t> in the project area or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&gt;1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1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3"/>
                  </a:ext>
                </a:extLst>
              </a:tr>
              <a:tr h="1202547">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S1Q10: </a:t>
                      </a:r>
                      <a:r>
                        <a:rPr lang="en-US" sz="1100" b="0" i="0" u="none" strike="noStrike" cap="none"/>
                        <a:t>How many bus stops are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432FF"/>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or more</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4"/>
                  </a:ext>
                </a:extLst>
              </a:tr>
              <a:tr h="1413878">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dirty="0">
                          <a:solidFill>
                            <a:srgbClr val="000000"/>
                          </a:solidFill>
                        </a:rPr>
                        <a:t>S1Q11: How many bike streets are in the area or within ¼ mile radius? </a:t>
                      </a:r>
                      <a:endParaRPr sz="1400" u="none" strike="noStrike" cap="none" dirty="0"/>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dirty="0">
                          <a:solidFill>
                            <a:srgbClr val="0432FF"/>
                          </a:solidFill>
                        </a:rPr>
                        <a:t>(bike streets: use City of Las Vegas data, available here:</a:t>
                      </a:r>
                      <a:endParaRPr sz="1100" b="0" u="none" strike="noStrike" cap="none" dirty="0">
                        <a:solidFill>
                          <a:srgbClr val="0432FF"/>
                        </a:solidFill>
                      </a:endParaRPr>
                    </a:p>
                    <a:p>
                      <a:pPr marL="0" marR="0" lvl="0" indent="0" algn="l" rtl="0">
                        <a:lnSpc>
                          <a:spcPct val="100000"/>
                        </a:lnSpc>
                        <a:spcBef>
                          <a:spcPts val="0"/>
                        </a:spcBef>
                        <a:spcAft>
                          <a:spcPts val="0"/>
                        </a:spcAft>
                        <a:buClr>
                          <a:srgbClr val="0432FF"/>
                        </a:buClr>
                        <a:buSzPts val="1100"/>
                        <a:buFont typeface="Calibri"/>
                        <a:buNone/>
                      </a:pPr>
                      <a:r>
                        <a:rPr lang="en-US" sz="1100" u="sng" strike="noStrike" cap="none" dirty="0">
                          <a:solidFill>
                            <a:srgbClr val="0432FF"/>
                          </a:solidFill>
                          <a:hlinkClick r:id="rId4"/>
                        </a:rPr>
                        <a:t>https://geoview-lasvegasnevada-gov.appspot.com/</a:t>
                      </a:r>
                      <a:r>
                        <a:rPr lang="en-US" sz="1100" u="sng" strike="noStrike" cap="none" dirty="0">
                          <a:solidFill>
                            <a:srgbClr val="0432FF"/>
                          </a:solidFill>
                        </a:rPr>
                        <a:t>)</a:t>
                      </a:r>
                    </a:p>
                    <a:p>
                      <a:pPr marL="0" marR="0" lvl="0" indent="0" algn="l" rtl="0">
                        <a:lnSpc>
                          <a:spcPct val="100000"/>
                        </a:lnSpc>
                        <a:spcBef>
                          <a:spcPts val="0"/>
                        </a:spcBef>
                        <a:spcAft>
                          <a:spcPts val="0"/>
                        </a:spcAft>
                        <a:buClr>
                          <a:srgbClr val="0432FF"/>
                        </a:buClr>
                        <a:buSzPts val="1100"/>
                        <a:buFont typeface="Calibri"/>
                        <a:buNone/>
                      </a:pPr>
                      <a:endParaRPr sz="1100" b="1" i="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Number:                 0                                            1                                                &gt;1</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0                                            2                                                 4</a:t>
                      </a:r>
                      <a:endParaRPr sz="1400" u="none" strike="noStrike" cap="none" dirty="0"/>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/4</a:t>
                      </a:r>
                      <a:endParaRPr sz="1400" u="none" strike="noStrike" cap="none" dirty="0"/>
                    </a:p>
                  </a:txBody>
                  <a:tcPr marL="68575" marR="68575" marT="60950" marB="60950"/>
                </a:tc>
                <a:extLst>
                  <a:ext uri="{0D108BD9-81ED-4DB2-BD59-A6C34878D82A}">
                    <a16:rowId xmlns:a16="http://schemas.microsoft.com/office/drawing/2014/main" val="10005"/>
                  </a:ext>
                </a:extLst>
              </a:tr>
              <a:tr h="852880">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Step 1 Points</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0-17 points: Low Need</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18-32 points: Medium Need</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33-50: High Need</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/50</a:t>
                      </a:r>
                      <a:endParaRPr sz="1400" u="none" strike="noStrike" cap="none" dirty="0"/>
                    </a:p>
                  </a:txBody>
                  <a:tcPr marL="68575" marR="68575" marT="60950" marB="60950"/>
                </a:tc>
                <a:extLst>
                  <a:ext uri="{0D108BD9-81ED-4DB2-BD59-A6C34878D82A}">
                    <a16:rowId xmlns:a16="http://schemas.microsoft.com/office/drawing/2014/main" val="10007"/>
                  </a:ext>
                </a:extLst>
              </a:tr>
            </a:tbl>
          </a:graphicData>
        </a:graphic>
      </p:graphicFrame>
      <p:sp>
        <p:nvSpPr>
          <p:cNvPr id="2" name="Footer Placeholder 1">
            <a:extLst>
              <a:ext uri="{FF2B5EF4-FFF2-40B4-BE49-F238E27FC236}">
                <a16:creationId xmlns:a16="http://schemas.microsoft.com/office/drawing/2014/main" id="{426946C1-CFDD-284F-9FAC-3AA1A51DB5EC}"/>
              </a:ext>
            </a:extLst>
          </p:cNvPr>
          <p:cNvSpPr>
            <a:spLocks noGrp="1"/>
          </p:cNvSpPr>
          <p:nvPr>
            <p:ph type="ftr" idx="11"/>
          </p:nvPr>
        </p:nvSpPr>
        <p:spPr/>
        <p:txBody>
          <a:bodyPr/>
          <a:lstStyle/>
          <a:p>
            <a:r>
              <a:rPr lang="en-US"/>
              <a:t>V9B</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8701af7b45_0_79"/>
          <p:cNvSpPr txBox="1">
            <a:spLocks noGrp="1"/>
          </p:cNvSpPr>
          <p:nvPr>
            <p:ph type="title"/>
          </p:nvPr>
        </p:nvSpPr>
        <p:spPr>
          <a:xfrm>
            <a:off x="342900" y="95950"/>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000"/>
              <a:t>S1Q7 Instructions</a:t>
            </a:r>
            <a:endParaRPr sz="4000"/>
          </a:p>
        </p:txBody>
      </p:sp>
      <p:sp>
        <p:nvSpPr>
          <p:cNvPr id="348" name="Google Shape;348;g8701af7b45_0_79"/>
          <p:cNvSpPr txBox="1">
            <a:spLocks noGrp="1"/>
          </p:cNvSpPr>
          <p:nvPr>
            <p:ph type="body" idx="1"/>
          </p:nvPr>
        </p:nvSpPr>
        <p:spPr>
          <a:xfrm>
            <a:off x="342900" y="1010350"/>
            <a:ext cx="6172200" cy="82578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0"/>
              </a:spcBef>
              <a:spcAft>
                <a:spcPts val="0"/>
              </a:spcAft>
              <a:buSzPts val="1800"/>
              <a:buChar char="●"/>
            </a:pPr>
            <a:r>
              <a:rPr lang="en-US" sz="1800"/>
              <a:t>Click on the link provided for the U.S. Environmental Protection Agency (EPA) Smart Location database; available </a:t>
            </a:r>
            <a:r>
              <a:rPr lang="en-US" sz="1800" u="sng">
                <a:solidFill>
                  <a:schemeClr val="hlink"/>
                </a:solidFill>
                <a:hlinkClick r:id="rId3"/>
              </a:rPr>
              <a:t>here</a:t>
            </a:r>
            <a:r>
              <a:rPr lang="en-US" sz="1800"/>
              <a:t>.</a:t>
            </a:r>
            <a:endParaRPr sz="1800"/>
          </a:p>
          <a:p>
            <a:pPr marL="457200" lvl="0" indent="-342900" algn="l" rtl="0">
              <a:lnSpc>
                <a:spcPct val="115000"/>
              </a:lnSpc>
              <a:spcBef>
                <a:spcPts val="0"/>
              </a:spcBef>
              <a:spcAft>
                <a:spcPts val="0"/>
              </a:spcAft>
              <a:buSzPts val="1800"/>
              <a:buChar char="●"/>
            </a:pPr>
            <a:r>
              <a:rPr lang="en-US" sz="1800"/>
              <a:t>Under “View In,” select “ArcGIS Online map” </a:t>
            </a:r>
            <a:endParaRPr sz="1800" b="1" i="1"/>
          </a:p>
          <a:p>
            <a:pPr marL="457200" lvl="0" indent="-342900" algn="l" rtl="0">
              <a:lnSpc>
                <a:spcPct val="115000"/>
              </a:lnSpc>
              <a:spcBef>
                <a:spcPts val="0"/>
              </a:spcBef>
              <a:spcAft>
                <a:spcPts val="0"/>
              </a:spcAft>
              <a:buSzPts val="1800"/>
              <a:buChar char="●"/>
            </a:pPr>
            <a:r>
              <a:rPr lang="en-US" sz="1800"/>
              <a:t>Enter the address for project area inside the text box on the top right.</a:t>
            </a:r>
            <a:endParaRPr sz="1800" b="1" i="1"/>
          </a:p>
          <a:p>
            <a:pPr marL="457200" lvl="0" indent="-342900" algn="l" rtl="0">
              <a:lnSpc>
                <a:spcPct val="115000"/>
              </a:lnSpc>
              <a:spcBef>
                <a:spcPts val="0"/>
              </a:spcBef>
              <a:spcAft>
                <a:spcPts val="0"/>
              </a:spcAft>
              <a:buSzPts val="1800"/>
              <a:buChar char="●"/>
            </a:pPr>
            <a:r>
              <a:rPr lang="en-US" sz="1800"/>
              <a:t>On the left, click on “Basemap” and select “Imagery Hybrid.”</a:t>
            </a:r>
            <a:endParaRPr sz="1800"/>
          </a:p>
          <a:p>
            <a:pPr marL="457200" lvl="0" indent="-342900" algn="l" rtl="0">
              <a:lnSpc>
                <a:spcPct val="115000"/>
              </a:lnSpc>
              <a:spcBef>
                <a:spcPts val="0"/>
              </a:spcBef>
              <a:spcAft>
                <a:spcPts val="0"/>
              </a:spcAft>
              <a:buSzPts val="1800"/>
              <a:buChar char="●"/>
            </a:pPr>
            <a:r>
              <a:rPr lang="en-US" sz="1800"/>
              <a:t>Click on “Details”</a:t>
            </a:r>
            <a:r>
              <a:rPr lang="en-US" sz="1800" b="1"/>
              <a:t> </a:t>
            </a:r>
            <a:r>
              <a:rPr lang="en-US" sz="1800"/>
              <a:t>in the top left</a:t>
            </a:r>
            <a:r>
              <a:rPr lang="en-US" sz="1800" b="1"/>
              <a:t> </a:t>
            </a:r>
            <a:r>
              <a:rPr lang="en-US" sz="1800"/>
              <a:t>and then click on “Content.” </a:t>
            </a:r>
            <a:endParaRPr sz="1800"/>
          </a:p>
          <a:p>
            <a:pPr marL="457200" lvl="0" indent="-342900" algn="l" rtl="0">
              <a:lnSpc>
                <a:spcPct val="115000"/>
              </a:lnSpc>
              <a:spcBef>
                <a:spcPts val="0"/>
              </a:spcBef>
              <a:spcAft>
                <a:spcPts val="0"/>
              </a:spcAft>
              <a:buSzPts val="1800"/>
              <a:buChar char="●"/>
            </a:pPr>
            <a:r>
              <a:rPr lang="en-US" sz="1800"/>
              <a:t>Click on the right-pointing arrow next to “Smart Location Database” to reveal the drop down menu. </a:t>
            </a:r>
            <a:endParaRPr sz="1800"/>
          </a:p>
          <a:p>
            <a:pPr marL="457200" lvl="0" indent="-342900" algn="l" rtl="0">
              <a:lnSpc>
                <a:spcPct val="115000"/>
              </a:lnSpc>
              <a:spcBef>
                <a:spcPts val="0"/>
              </a:spcBef>
              <a:spcAft>
                <a:spcPts val="0"/>
              </a:spcAft>
              <a:buSzPts val="1800"/>
              <a:buChar char="●"/>
            </a:pPr>
            <a:r>
              <a:rPr lang="en-US" sz="1100">
                <a:latin typeface="Times New Roman"/>
                <a:ea typeface="Times New Roman"/>
                <a:cs typeface="Times New Roman"/>
                <a:sym typeface="Times New Roman"/>
              </a:rPr>
              <a:t> </a:t>
            </a:r>
            <a:r>
              <a:rPr lang="en-US" sz="1800"/>
              <a:t>Check the the “Activity Density” tab box. The map will adjust to show a color-coded view of the data.</a:t>
            </a:r>
            <a:endParaRPr sz="1800"/>
          </a:p>
          <a:p>
            <a:pPr marL="457200" lvl="0" indent="-342900" algn="l" rtl="0">
              <a:lnSpc>
                <a:spcPct val="115000"/>
              </a:lnSpc>
              <a:spcBef>
                <a:spcPts val="0"/>
              </a:spcBef>
              <a:spcAft>
                <a:spcPts val="0"/>
              </a:spcAft>
              <a:buSzPts val="1800"/>
              <a:buChar char="●"/>
            </a:pPr>
            <a:r>
              <a:rPr lang="en-US" sz="1800"/>
              <a:t>Click on “Legend” in the top left. Cross-reference color(s) in the project area with the color/number range in the map key.</a:t>
            </a:r>
            <a:endParaRPr sz="1800"/>
          </a:p>
          <a:p>
            <a:pPr marL="914400" lvl="1" indent="-342900" algn="l" rtl="0">
              <a:lnSpc>
                <a:spcPct val="115000"/>
              </a:lnSpc>
              <a:spcBef>
                <a:spcPts val="0"/>
              </a:spcBef>
              <a:spcAft>
                <a:spcPts val="0"/>
              </a:spcAft>
              <a:buSzPts val="1800"/>
              <a:buChar char="○"/>
            </a:pPr>
            <a:r>
              <a:rPr lang="en-US" sz="1800"/>
              <a:t>If the project area straddles multiple color-coded zones, calculate the average.  </a:t>
            </a:r>
            <a:endParaRPr sz="1800"/>
          </a:p>
          <a:p>
            <a:pPr marL="457200" lvl="0" indent="-342900" algn="l" rtl="0">
              <a:lnSpc>
                <a:spcPct val="115000"/>
              </a:lnSpc>
              <a:spcBef>
                <a:spcPts val="0"/>
              </a:spcBef>
              <a:spcAft>
                <a:spcPts val="0"/>
              </a:spcAft>
              <a:buSzPts val="1800"/>
              <a:buChar char="●"/>
            </a:pPr>
            <a:r>
              <a:rPr lang="en-US" sz="1800"/>
              <a:t>Record the corresponding points.</a:t>
            </a:r>
            <a:endParaRPr sz="1800"/>
          </a:p>
          <a:p>
            <a:pPr marL="0" lvl="0" indent="0" algn="l" rtl="0">
              <a:lnSpc>
                <a:spcPct val="115000"/>
              </a:lnSpc>
              <a:spcBef>
                <a:spcPts val="1000"/>
              </a:spcBef>
              <a:spcAft>
                <a:spcPts val="0"/>
              </a:spcAft>
              <a:buSzPts val="1800"/>
              <a:buNone/>
            </a:pPr>
            <a:endParaRPr sz="1400"/>
          </a:p>
          <a:p>
            <a:pPr marL="457200" lvl="0" indent="0" algn="l" rtl="0">
              <a:lnSpc>
                <a:spcPct val="115000"/>
              </a:lnSpc>
              <a:spcBef>
                <a:spcPts val="0"/>
              </a:spcBef>
              <a:spcAft>
                <a:spcPts val="0"/>
              </a:spcAft>
              <a:buSzPts val="1800"/>
              <a:buNone/>
            </a:pPr>
            <a:endParaRPr sz="1600"/>
          </a:p>
          <a:p>
            <a:pPr marL="0" lvl="0" indent="0" algn="l" rtl="0">
              <a:lnSpc>
                <a:spcPct val="115000"/>
              </a:lnSpc>
              <a:spcBef>
                <a:spcPts val="0"/>
              </a:spcBef>
              <a:spcAft>
                <a:spcPts val="0"/>
              </a:spcAft>
              <a:buSzPts val="1800"/>
              <a:buNone/>
            </a:pPr>
            <a:endParaRPr sz="1600"/>
          </a:p>
        </p:txBody>
      </p:sp>
      <p:sp>
        <p:nvSpPr>
          <p:cNvPr id="2" name="Footer Placeholder 1">
            <a:extLst>
              <a:ext uri="{FF2B5EF4-FFF2-40B4-BE49-F238E27FC236}">
                <a16:creationId xmlns:a16="http://schemas.microsoft.com/office/drawing/2014/main" id="{4CA12DA5-00B1-F141-B1B4-09D39A847011}"/>
              </a:ext>
            </a:extLst>
          </p:cNvPr>
          <p:cNvSpPr>
            <a:spLocks noGrp="1"/>
          </p:cNvSpPr>
          <p:nvPr>
            <p:ph type="ftr" idx="11"/>
          </p:nvPr>
        </p:nvSpPr>
        <p:spPr/>
        <p:txBody>
          <a:bodyPr/>
          <a:lstStyle/>
          <a:p>
            <a:r>
              <a:rPr lang="en-US"/>
              <a:t>V9B</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9" name="Google Shape;369;g783ce67ac1_0_107"/>
          <p:cNvSpPr/>
          <p:nvPr/>
        </p:nvSpPr>
        <p:spPr>
          <a:xfrm>
            <a:off x="1157416" y="120134"/>
            <a:ext cx="45432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370" name="Google Shape;370;g783ce67ac1_0_107"/>
          <p:cNvGraphicFramePr/>
          <p:nvPr>
            <p:extLst>
              <p:ext uri="{D42A27DB-BD31-4B8C-83A1-F6EECF244321}">
                <p14:modId xmlns:p14="http://schemas.microsoft.com/office/powerpoint/2010/main" val="1719619404"/>
              </p:ext>
            </p:extLst>
          </p:nvPr>
        </p:nvGraphicFramePr>
        <p:xfrm>
          <a:off x="129148" y="747050"/>
          <a:ext cx="6608575" cy="6848430"/>
        </p:xfrm>
        <a:graphic>
          <a:graphicData uri="http://schemas.openxmlformats.org/drawingml/2006/table">
            <a:tbl>
              <a:tblPr firstRow="1" bandRow="1">
                <a:noFill/>
                <a:tableStyleId>{CAC760E6-1B21-447E-AD2F-912B2140AA3E}</a:tableStyleId>
              </a:tblPr>
              <a:tblGrid>
                <a:gridCol w="5435175">
                  <a:extLst>
                    <a:ext uri="{9D8B030D-6E8A-4147-A177-3AD203B41FA5}">
                      <a16:colId xmlns:a16="http://schemas.microsoft.com/office/drawing/2014/main" val="20000"/>
                    </a:ext>
                  </a:extLst>
                </a:gridCol>
                <a:gridCol w="697700">
                  <a:extLst>
                    <a:ext uri="{9D8B030D-6E8A-4147-A177-3AD203B41FA5}">
                      <a16:colId xmlns:a16="http://schemas.microsoft.com/office/drawing/2014/main" val="20001"/>
                    </a:ext>
                  </a:extLst>
                </a:gridCol>
                <a:gridCol w="475700">
                  <a:extLst>
                    <a:ext uri="{9D8B030D-6E8A-4147-A177-3AD203B41FA5}">
                      <a16:colId xmlns:a16="http://schemas.microsoft.com/office/drawing/2014/main" val="20002"/>
                    </a:ext>
                  </a:extLst>
                </a:gridCol>
              </a:tblGrid>
              <a:tr h="36765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needs assessment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1312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S1Q7: </a:t>
                      </a:r>
                      <a:r>
                        <a:rPr lang="en-US" sz="1100" b="0" i="0" u="none" strike="noStrike" cap="none"/>
                        <a:t>How many housing units + jobs per acre in the area?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Smart Location database (c. 2010), available here:</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a:solidFill>
                            <a:srgbClr val="0432FF"/>
                          </a:solidFill>
                          <a:hlinkClick r:id="rId3">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Density:    0-10                10-25                     25-50                     50-100               100+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1"/>
                  </a:ext>
                </a:extLst>
              </a:tr>
              <a:tr h="96312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S1Q8: </a:t>
                      </a:r>
                      <a:r>
                        <a:rPr lang="en-US" sz="1100" b="0" i="0" u="none" strike="noStrike" cap="none"/>
                        <a:t>How many schools (CCSD, private, or charter) are in the area and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&gt;1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1                                                 2 </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2"/>
                  </a:ext>
                </a:extLst>
              </a:tr>
              <a:tr h="794950">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S1Q9: </a:t>
                      </a:r>
                      <a:r>
                        <a:rPr lang="en-US" sz="1100" b="0" i="0" u="none" strike="noStrike" cap="none"/>
                        <a:t>How many </a:t>
                      </a:r>
                      <a:r>
                        <a:rPr lang="en-US" sz="1100" u="none" strike="noStrike" cap="none"/>
                        <a:t>public parks are</a:t>
                      </a:r>
                      <a:r>
                        <a:rPr lang="en-US" sz="1100" b="0" i="0" u="none" strike="noStrike" cap="none"/>
                        <a:t> in the project area or within ½ mile radi</a:t>
                      </a:r>
                      <a:r>
                        <a:rPr lang="en-US" sz="1100" u="none" strike="noStrike" cap="none"/>
                        <a:t>us</a:t>
                      </a:r>
                      <a:r>
                        <a:rPr lang="en-US" sz="1100" b="0" i="0" u="none" strike="noStrike" cap="none"/>
                        <a:t>?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&gt;1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1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3"/>
                  </a:ext>
                </a:extLst>
              </a:tr>
              <a:tr h="96312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S1Q10: </a:t>
                      </a:r>
                      <a:r>
                        <a:rPr lang="en-US" sz="1100" b="0" i="0" u="none" strike="noStrike" cap="none"/>
                        <a:t>How many bus stops are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432FF"/>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or more</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4"/>
                  </a:ext>
                </a:extLst>
              </a:tr>
              <a:tr h="133897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dirty="0">
                          <a:solidFill>
                            <a:srgbClr val="000000"/>
                          </a:solidFill>
                        </a:rPr>
                        <a:t>S1Q11: How many bike streets are in the area or within ¼ mile radius? </a:t>
                      </a:r>
                      <a:endParaRPr sz="1400" u="none" strike="noStrike" cap="none" dirty="0"/>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dirty="0">
                          <a:solidFill>
                            <a:srgbClr val="0432FF"/>
                          </a:solidFill>
                        </a:rPr>
                        <a:t>(bike streets: use City of Las Vegas data, available here:</a:t>
                      </a:r>
                      <a:endParaRPr lang="en-US" sz="1100" b="0" u="none" strike="noStrike" cap="none" dirty="0">
                        <a:solidFill>
                          <a:srgbClr val="0432FF"/>
                        </a:solidFill>
                      </a:endParaRPr>
                    </a:p>
                    <a:p>
                      <a:pPr marL="0" marR="0" lvl="0" indent="0" algn="l" rtl="0">
                        <a:lnSpc>
                          <a:spcPct val="100000"/>
                        </a:lnSpc>
                        <a:spcBef>
                          <a:spcPts val="0"/>
                        </a:spcBef>
                        <a:spcAft>
                          <a:spcPts val="0"/>
                        </a:spcAft>
                        <a:buClr>
                          <a:srgbClr val="0432FF"/>
                        </a:buClr>
                        <a:buSzPts val="1100"/>
                        <a:buFont typeface="Calibri"/>
                        <a:buNone/>
                      </a:pPr>
                      <a:r>
                        <a:rPr lang="en-US" sz="1100" u="sng" strike="noStrike" cap="none" dirty="0">
                          <a:solidFill>
                            <a:srgbClr val="0432FF"/>
                          </a:solidFill>
                          <a:hlinkClick r:id="rId4"/>
                        </a:rPr>
                        <a:t>https://geoview-lasvegasnevada-gov.appspot.com/</a:t>
                      </a:r>
                      <a:r>
                        <a:rPr lang="en-US" sz="1100" u="sng" strike="noStrike" cap="none" dirty="0">
                          <a:solidFill>
                            <a:srgbClr val="0432FF"/>
                          </a:solidFill>
                        </a:rPr>
                        <a:t>)</a:t>
                      </a:r>
                    </a:p>
                    <a:p>
                      <a:pPr marL="0" marR="0" lvl="0" indent="0" algn="l" rtl="0">
                        <a:lnSpc>
                          <a:spcPct val="100000"/>
                        </a:lnSpc>
                        <a:spcBef>
                          <a:spcPts val="0"/>
                        </a:spcBef>
                        <a:spcAft>
                          <a:spcPts val="0"/>
                        </a:spcAft>
                        <a:buClr>
                          <a:schemeClr val="dk1"/>
                        </a:buClr>
                        <a:buSzPts val="1100"/>
                        <a:buFont typeface="Calibri"/>
                        <a:buNone/>
                      </a:pPr>
                      <a:endParaRPr sz="1100" b="1" i="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Number:                 0                                            1                                                &gt;1</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0                                            2                                                 4</a:t>
                      </a:r>
                      <a:endParaRPr sz="1400" u="none" strike="noStrike" cap="none" dirty="0"/>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/4</a:t>
                      </a:r>
                      <a:endParaRPr sz="1400" u="none" strike="noStrike" cap="none" dirty="0"/>
                    </a:p>
                  </a:txBody>
                  <a:tcPr marL="68575" marR="68575" marT="60950" marB="60950"/>
                </a:tc>
                <a:extLst>
                  <a:ext uri="{0D108BD9-81ED-4DB2-BD59-A6C34878D82A}">
                    <a16:rowId xmlns:a16="http://schemas.microsoft.com/office/drawing/2014/main" val="10005"/>
                  </a:ext>
                </a:extLst>
              </a:tr>
              <a:tr h="794950">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Step 1 Points</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0-17 points: Low Need</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18-32 points: Medium Need</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33-50: High Need</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/50</a:t>
                      </a:r>
                      <a:endParaRPr sz="1400" u="none" strike="noStrike" cap="none" dirty="0"/>
                    </a:p>
                  </a:txBody>
                  <a:tcPr marL="68575" marR="68575" marT="60950" marB="60950"/>
                </a:tc>
                <a:extLst>
                  <a:ext uri="{0D108BD9-81ED-4DB2-BD59-A6C34878D82A}">
                    <a16:rowId xmlns:a16="http://schemas.microsoft.com/office/drawing/2014/main" val="10007"/>
                  </a:ext>
                </a:extLst>
              </a:tr>
            </a:tbl>
          </a:graphicData>
        </a:graphic>
      </p:graphicFrame>
      <p:sp>
        <p:nvSpPr>
          <p:cNvPr id="2" name="Footer Placeholder 1">
            <a:extLst>
              <a:ext uri="{FF2B5EF4-FFF2-40B4-BE49-F238E27FC236}">
                <a16:creationId xmlns:a16="http://schemas.microsoft.com/office/drawing/2014/main" id="{5E10529D-1476-2A43-BDB6-515B4D4403F2}"/>
              </a:ext>
            </a:extLst>
          </p:cNvPr>
          <p:cNvSpPr>
            <a:spLocks noGrp="1"/>
          </p:cNvSpPr>
          <p:nvPr>
            <p:ph type="ftr" idx="11"/>
          </p:nvPr>
        </p:nvSpPr>
        <p:spPr/>
        <p:txBody>
          <a:bodyPr/>
          <a:lstStyle/>
          <a:p>
            <a:r>
              <a:rPr lang="en-US"/>
              <a:t>V9B</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783ce67ac1_0_114"/>
          <p:cNvSpPr txBox="1">
            <a:spLocks noGrp="1"/>
          </p:cNvSpPr>
          <p:nvPr>
            <p:ph type="title"/>
          </p:nvPr>
        </p:nvSpPr>
        <p:spPr>
          <a:xfrm>
            <a:off x="342900" y="95950"/>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000"/>
              <a:t>S1Q8 Instructions</a:t>
            </a:r>
            <a:endParaRPr sz="4000"/>
          </a:p>
        </p:txBody>
      </p:sp>
      <p:sp>
        <p:nvSpPr>
          <p:cNvPr id="378" name="Google Shape;378;g783ce67ac1_0_114"/>
          <p:cNvSpPr txBox="1">
            <a:spLocks noGrp="1"/>
          </p:cNvSpPr>
          <p:nvPr>
            <p:ph type="body" idx="1"/>
          </p:nvPr>
        </p:nvSpPr>
        <p:spPr>
          <a:xfrm>
            <a:off x="342900" y="953200"/>
            <a:ext cx="6172200" cy="82578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0"/>
              </a:spcBef>
              <a:spcAft>
                <a:spcPts val="0"/>
              </a:spcAft>
              <a:buSzPts val="1800"/>
              <a:buChar char="●"/>
            </a:pPr>
            <a:r>
              <a:rPr lang="en-US" sz="1700" dirty="0"/>
              <a:t>Click on the link for the City of Las Vegas </a:t>
            </a:r>
            <a:r>
              <a:rPr lang="en-US" sz="1700" dirty="0" err="1"/>
              <a:t>GeoView</a:t>
            </a:r>
            <a:r>
              <a:rPr lang="en-US" sz="1700" dirty="0"/>
              <a:t> data, available</a:t>
            </a:r>
            <a:r>
              <a:rPr lang="en-US" sz="1400" dirty="0">
                <a:latin typeface="Arial"/>
                <a:ea typeface="Arial"/>
                <a:cs typeface="Arial"/>
                <a:sym typeface="Arial"/>
              </a:rPr>
              <a:t> </a:t>
            </a:r>
            <a:r>
              <a:rPr lang="en-US" sz="1400" u="sng" dirty="0">
                <a:solidFill>
                  <a:schemeClr val="hlink"/>
                </a:solidFill>
                <a:latin typeface="Arial"/>
                <a:ea typeface="Arial"/>
                <a:cs typeface="Arial"/>
                <a:sym typeface="Arial"/>
                <a:hlinkClick r:id="rId3"/>
              </a:rPr>
              <a:t>h</a:t>
            </a:r>
            <a:r>
              <a:rPr lang="en-US" sz="1700" u="sng" dirty="0">
                <a:solidFill>
                  <a:schemeClr val="hlink"/>
                </a:solidFill>
                <a:hlinkClick r:id="rId3"/>
              </a:rPr>
              <a:t>ere</a:t>
            </a:r>
            <a:r>
              <a:rPr lang="en-US" sz="1700" dirty="0"/>
              <a:t>. </a:t>
            </a:r>
            <a:endParaRPr sz="1700" dirty="0"/>
          </a:p>
          <a:p>
            <a:pPr marL="457200" lvl="0" indent="-336550" algn="l" rtl="0">
              <a:lnSpc>
                <a:spcPct val="115000"/>
              </a:lnSpc>
              <a:spcBef>
                <a:spcPts val="0"/>
              </a:spcBef>
              <a:spcAft>
                <a:spcPts val="0"/>
              </a:spcAft>
              <a:buSzPts val="1700"/>
              <a:buChar char="●"/>
            </a:pPr>
            <a:r>
              <a:rPr lang="en-US" sz="1700" dirty="0"/>
              <a:t>Enter the address for project area inside the text box in the top left corner.</a:t>
            </a:r>
            <a:endParaRPr sz="1700" dirty="0"/>
          </a:p>
          <a:p>
            <a:pPr marL="457200" lvl="0" indent="-336550" algn="l" rtl="0">
              <a:lnSpc>
                <a:spcPct val="115000"/>
              </a:lnSpc>
              <a:spcBef>
                <a:spcPts val="0"/>
              </a:spcBef>
              <a:spcAft>
                <a:spcPts val="0"/>
              </a:spcAft>
              <a:buSzPts val="1700"/>
              <a:buChar char="●"/>
            </a:pPr>
            <a:r>
              <a:rPr lang="en-US" sz="1700" dirty="0"/>
              <a:t>Click on “Layers</a:t>
            </a:r>
            <a:r>
              <a:rPr lang="en-US" sz="1700" b="1" dirty="0"/>
              <a:t>”</a:t>
            </a:r>
            <a:r>
              <a:rPr lang="en-US" sz="1700" dirty="0"/>
              <a:t> under the address bar.</a:t>
            </a:r>
            <a:endParaRPr sz="1700" dirty="0"/>
          </a:p>
          <a:p>
            <a:pPr marL="457200" lvl="0" indent="-336550" algn="l" rtl="0">
              <a:lnSpc>
                <a:spcPct val="115000"/>
              </a:lnSpc>
              <a:spcBef>
                <a:spcPts val="0"/>
              </a:spcBef>
              <a:spcAft>
                <a:spcPts val="0"/>
              </a:spcAft>
              <a:buSzPts val="1700"/>
              <a:buChar char="●"/>
            </a:pPr>
            <a:r>
              <a:rPr lang="en-US" sz="1700" dirty="0"/>
              <a:t>Click on the right-pointing arrow next to “Community Services.”</a:t>
            </a:r>
            <a:endParaRPr sz="1700" dirty="0"/>
          </a:p>
          <a:p>
            <a:pPr marL="457200" lvl="0" indent="-336550" algn="l" rtl="0">
              <a:lnSpc>
                <a:spcPct val="100000"/>
              </a:lnSpc>
              <a:spcBef>
                <a:spcPts val="0"/>
              </a:spcBef>
              <a:spcAft>
                <a:spcPts val="0"/>
              </a:spcAft>
              <a:buSzPts val="1700"/>
              <a:buChar char="●"/>
            </a:pPr>
            <a:r>
              <a:rPr lang="en-US" sz="1700" dirty="0"/>
              <a:t>Check the following boxes: “CCSD Schools,” “Charter Schools,” &amp;  “Private Schools”</a:t>
            </a:r>
            <a:endParaRPr sz="1700" dirty="0"/>
          </a:p>
          <a:p>
            <a:pPr marL="457200" lvl="0" indent="-336550" algn="l" rtl="0">
              <a:lnSpc>
                <a:spcPct val="100000"/>
              </a:lnSpc>
              <a:spcBef>
                <a:spcPts val="0"/>
              </a:spcBef>
              <a:spcAft>
                <a:spcPts val="0"/>
              </a:spcAft>
              <a:buSzPts val="1700"/>
              <a:buChar char="●"/>
            </a:pPr>
            <a:r>
              <a:rPr lang="en-US" sz="1700" dirty="0"/>
              <a:t>Click on “Legend”</a:t>
            </a:r>
            <a:endParaRPr sz="1700" dirty="0"/>
          </a:p>
          <a:p>
            <a:pPr marL="457200" lvl="0" indent="-336550" algn="l" rtl="0">
              <a:lnSpc>
                <a:spcPct val="100000"/>
              </a:lnSpc>
              <a:spcBef>
                <a:spcPts val="0"/>
              </a:spcBef>
              <a:spcAft>
                <a:spcPts val="0"/>
              </a:spcAft>
              <a:buSzPts val="1700"/>
              <a:buChar char="●"/>
            </a:pPr>
            <a:r>
              <a:rPr lang="en-US" sz="1700" dirty="0"/>
              <a:t>Review the map symbols for each selection. This key will show how each selection is displayed on the interactive web map.</a:t>
            </a:r>
            <a:endParaRPr sz="1700" dirty="0"/>
          </a:p>
          <a:p>
            <a:pPr marL="457200" lvl="0" indent="-336550" algn="l" rtl="0">
              <a:lnSpc>
                <a:spcPct val="100000"/>
              </a:lnSpc>
              <a:spcBef>
                <a:spcPts val="0"/>
              </a:spcBef>
              <a:spcAft>
                <a:spcPts val="0"/>
              </a:spcAft>
              <a:buSzPts val="1700"/>
              <a:buChar char="●"/>
            </a:pPr>
            <a:r>
              <a:rPr lang="en-US" sz="1700" dirty="0"/>
              <a:t>Zoom in and out as needed to see all schools within ½ mile.</a:t>
            </a:r>
            <a:endParaRPr sz="1700" dirty="0"/>
          </a:p>
          <a:p>
            <a:pPr marL="457200" lvl="0" indent="-336550" algn="l" rtl="0">
              <a:lnSpc>
                <a:spcPct val="100000"/>
              </a:lnSpc>
              <a:spcBef>
                <a:spcPts val="0"/>
              </a:spcBef>
              <a:spcAft>
                <a:spcPts val="0"/>
              </a:spcAft>
              <a:buSzPts val="1700"/>
              <a:buChar char="●"/>
            </a:pPr>
            <a:r>
              <a:rPr lang="en-US" sz="1700" dirty="0"/>
              <a:t>Measurement Steps:</a:t>
            </a:r>
            <a:endParaRPr sz="1700" dirty="0"/>
          </a:p>
          <a:p>
            <a:pPr marL="914400" lvl="1" indent="-336550" algn="l" rtl="0">
              <a:lnSpc>
                <a:spcPct val="100000"/>
              </a:lnSpc>
              <a:spcBef>
                <a:spcPts val="0"/>
              </a:spcBef>
              <a:spcAft>
                <a:spcPts val="0"/>
              </a:spcAft>
              <a:buSzPts val="1700"/>
              <a:buChar char="○"/>
            </a:pPr>
            <a:r>
              <a:rPr lang="en-US" sz="1700" dirty="0"/>
              <a:t>Select the ruler icon for the “Measure Tool” in the top right corner. A window will pop-up with instructions for using it.  </a:t>
            </a:r>
            <a:endParaRPr sz="1700" b="1" dirty="0"/>
          </a:p>
          <a:p>
            <a:pPr marL="914400" lvl="1" indent="-336550" algn="l" rtl="0">
              <a:lnSpc>
                <a:spcPct val="100000"/>
              </a:lnSpc>
              <a:spcBef>
                <a:spcPts val="0"/>
              </a:spcBef>
              <a:spcAft>
                <a:spcPts val="0"/>
              </a:spcAft>
              <a:buSzPts val="1700"/>
              <a:buChar char="○"/>
            </a:pPr>
            <a:r>
              <a:rPr lang="en-US" sz="1700" dirty="0"/>
              <a:t>Change the unit of measurement in the text box that says “Length” to “Miles.” </a:t>
            </a:r>
            <a:endParaRPr sz="1700" dirty="0"/>
          </a:p>
          <a:p>
            <a:pPr marL="914400" lvl="1" indent="-336550" algn="l" rtl="0">
              <a:lnSpc>
                <a:spcPct val="100000"/>
              </a:lnSpc>
              <a:spcBef>
                <a:spcPts val="0"/>
              </a:spcBef>
              <a:spcAft>
                <a:spcPts val="0"/>
              </a:spcAft>
              <a:buSzPts val="1700"/>
              <a:buChar char="○"/>
            </a:pPr>
            <a:r>
              <a:rPr lang="en-US" sz="1700" dirty="0"/>
              <a:t>For each CCSD, charter, and private school use the “Measure tool” to see how far the school is from the closest edge of the project. </a:t>
            </a:r>
            <a:endParaRPr sz="1700" dirty="0"/>
          </a:p>
          <a:p>
            <a:pPr marL="914400" lvl="1" indent="-336550" algn="l" rtl="0">
              <a:lnSpc>
                <a:spcPct val="100000"/>
              </a:lnSpc>
              <a:spcBef>
                <a:spcPts val="0"/>
              </a:spcBef>
              <a:spcAft>
                <a:spcPts val="0"/>
              </a:spcAft>
              <a:buSzPts val="1700"/>
              <a:buChar char="○"/>
            </a:pPr>
            <a:r>
              <a:rPr lang="en-US" sz="1700" dirty="0"/>
              <a:t>Note the total number of CCSD, charter, and private schools within ½ mile.</a:t>
            </a:r>
            <a:endParaRPr sz="1700" dirty="0"/>
          </a:p>
          <a:p>
            <a:pPr marL="914400" lvl="1" indent="-336550" algn="l" rtl="0">
              <a:lnSpc>
                <a:spcPct val="100000"/>
              </a:lnSpc>
              <a:spcBef>
                <a:spcPts val="0"/>
              </a:spcBef>
              <a:spcAft>
                <a:spcPts val="0"/>
              </a:spcAft>
              <a:buSzPts val="1700"/>
              <a:buChar char="○"/>
            </a:pPr>
            <a:r>
              <a:rPr lang="en-US" sz="1700" dirty="0"/>
              <a:t>Record the associated points.</a:t>
            </a:r>
            <a:endParaRPr sz="1700" dirty="0">
              <a:latin typeface="Arial"/>
              <a:ea typeface="Arial"/>
              <a:cs typeface="Arial"/>
              <a:sym typeface="Arial"/>
            </a:endParaRPr>
          </a:p>
          <a:p>
            <a:pPr marL="914400" lvl="1" indent="-336550" algn="l" rtl="0">
              <a:lnSpc>
                <a:spcPct val="115000"/>
              </a:lnSpc>
              <a:spcBef>
                <a:spcPts val="0"/>
              </a:spcBef>
              <a:spcAft>
                <a:spcPts val="0"/>
              </a:spcAft>
              <a:buSzPts val="1700"/>
              <a:buChar char="○"/>
            </a:pPr>
            <a:r>
              <a:rPr lang="en-US" sz="1700" dirty="0"/>
              <a:t>Click on the ‘X’ icon (above), select the Toggle Sidebar and the “Layers/Legend” menu will re-appear.</a:t>
            </a:r>
            <a:endParaRPr sz="1700" dirty="0"/>
          </a:p>
          <a:p>
            <a:pPr marL="0" lvl="0" indent="0" algn="l" rtl="0">
              <a:lnSpc>
                <a:spcPct val="100000"/>
              </a:lnSpc>
              <a:spcBef>
                <a:spcPts val="1000"/>
              </a:spcBef>
              <a:spcAft>
                <a:spcPts val="0"/>
              </a:spcAft>
              <a:buSzPts val="1800"/>
              <a:buNone/>
            </a:pPr>
            <a:endParaRPr sz="1400" dirty="0"/>
          </a:p>
          <a:p>
            <a:pPr marL="0" lvl="0" indent="0" algn="l" rtl="0">
              <a:lnSpc>
                <a:spcPct val="115000"/>
              </a:lnSpc>
              <a:spcBef>
                <a:spcPts val="0"/>
              </a:spcBef>
              <a:spcAft>
                <a:spcPts val="0"/>
              </a:spcAft>
              <a:buSzPts val="1800"/>
              <a:buNone/>
            </a:pPr>
            <a:endParaRPr sz="1600" dirty="0"/>
          </a:p>
        </p:txBody>
      </p:sp>
      <p:sp>
        <p:nvSpPr>
          <p:cNvPr id="2" name="Footer Placeholder 1">
            <a:extLst>
              <a:ext uri="{FF2B5EF4-FFF2-40B4-BE49-F238E27FC236}">
                <a16:creationId xmlns:a16="http://schemas.microsoft.com/office/drawing/2014/main" id="{8B514542-1912-4C40-9B42-436A2C4667B5}"/>
              </a:ext>
            </a:extLst>
          </p:cNvPr>
          <p:cNvSpPr>
            <a:spLocks noGrp="1"/>
          </p:cNvSpPr>
          <p:nvPr>
            <p:ph type="ftr" idx="11"/>
          </p:nvPr>
        </p:nvSpPr>
        <p:spPr/>
        <p:txBody>
          <a:bodyPr/>
          <a:lstStyle/>
          <a:p>
            <a:r>
              <a:rPr lang="en-US"/>
              <a:t>V9B</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2" name="Google Shape;392;g783ce67ac1_0_152"/>
          <p:cNvSpPr/>
          <p:nvPr/>
        </p:nvSpPr>
        <p:spPr>
          <a:xfrm>
            <a:off x="1157416" y="120134"/>
            <a:ext cx="45432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393" name="Google Shape;393;g783ce67ac1_0_152"/>
          <p:cNvGraphicFramePr/>
          <p:nvPr>
            <p:extLst>
              <p:ext uri="{D42A27DB-BD31-4B8C-83A1-F6EECF244321}">
                <p14:modId xmlns:p14="http://schemas.microsoft.com/office/powerpoint/2010/main" val="252728076"/>
              </p:ext>
            </p:extLst>
          </p:nvPr>
        </p:nvGraphicFramePr>
        <p:xfrm>
          <a:off x="63159" y="643353"/>
          <a:ext cx="6608575" cy="6848430"/>
        </p:xfrm>
        <a:graphic>
          <a:graphicData uri="http://schemas.openxmlformats.org/drawingml/2006/table">
            <a:tbl>
              <a:tblPr firstRow="1" bandRow="1">
                <a:noFill/>
                <a:tableStyleId>{CAC760E6-1B21-447E-AD2F-912B2140AA3E}</a:tableStyleId>
              </a:tblPr>
              <a:tblGrid>
                <a:gridCol w="5435175">
                  <a:extLst>
                    <a:ext uri="{9D8B030D-6E8A-4147-A177-3AD203B41FA5}">
                      <a16:colId xmlns:a16="http://schemas.microsoft.com/office/drawing/2014/main" val="20000"/>
                    </a:ext>
                  </a:extLst>
                </a:gridCol>
                <a:gridCol w="697700">
                  <a:extLst>
                    <a:ext uri="{9D8B030D-6E8A-4147-A177-3AD203B41FA5}">
                      <a16:colId xmlns:a16="http://schemas.microsoft.com/office/drawing/2014/main" val="20001"/>
                    </a:ext>
                  </a:extLst>
                </a:gridCol>
                <a:gridCol w="475700">
                  <a:extLst>
                    <a:ext uri="{9D8B030D-6E8A-4147-A177-3AD203B41FA5}">
                      <a16:colId xmlns:a16="http://schemas.microsoft.com/office/drawing/2014/main" val="20002"/>
                    </a:ext>
                  </a:extLst>
                </a:gridCol>
              </a:tblGrid>
              <a:tr h="36765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needs assessment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1312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S1Q7: </a:t>
                      </a:r>
                      <a:r>
                        <a:rPr lang="en-US" sz="1100" b="0" i="0" u="none" strike="noStrike" cap="none"/>
                        <a:t>How many housing units + jobs per acre in the area?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Smart Location database (c. 2010), available here:</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a:solidFill>
                            <a:srgbClr val="0432FF"/>
                          </a:solidFill>
                          <a:hlinkClick r:id="rId3">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Density:    0-10                10-25                     25-50                     50-100               100+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1"/>
                  </a:ext>
                </a:extLst>
              </a:tr>
              <a:tr h="96312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S1Q8: </a:t>
                      </a:r>
                      <a:r>
                        <a:rPr lang="en-US" sz="1100" b="0" i="0" u="none" strike="noStrike" cap="none"/>
                        <a:t>How many schools (CCSD, private, or charter) are in the area and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&gt;1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1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2"/>
                  </a:ext>
                </a:extLst>
              </a:tr>
              <a:tr h="794950">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S1Q9: </a:t>
                      </a:r>
                      <a:r>
                        <a:rPr lang="en-US" sz="1100" b="0" i="0" u="none" strike="noStrike" cap="none"/>
                        <a:t>How many p</a:t>
                      </a:r>
                      <a:r>
                        <a:rPr lang="en-US" sz="1100" u="none" strike="noStrike" cap="none"/>
                        <a:t>ublic parks are </a:t>
                      </a:r>
                      <a:r>
                        <a:rPr lang="en-US" sz="1100" b="0" i="0" u="none" strike="noStrike" cap="none"/>
                        <a:t>in the project area or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&gt;1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1                                                 2 </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3"/>
                  </a:ext>
                </a:extLst>
              </a:tr>
              <a:tr h="96312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S1Q10: </a:t>
                      </a:r>
                      <a:r>
                        <a:rPr lang="en-US" sz="1100" b="0" i="0" u="none" strike="noStrike" cap="none"/>
                        <a:t>How many bus stops are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432FF"/>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or more</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4"/>
                  </a:ext>
                </a:extLst>
              </a:tr>
              <a:tr h="133897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dirty="0">
                          <a:solidFill>
                            <a:srgbClr val="000000"/>
                          </a:solidFill>
                        </a:rPr>
                        <a:t>S1Q11: How many bike streets are in the area or within ¼ mile radius? </a:t>
                      </a:r>
                      <a:endParaRPr sz="1400" u="none" strike="noStrike" cap="none" dirty="0"/>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dirty="0">
                          <a:solidFill>
                            <a:srgbClr val="0432FF"/>
                          </a:solidFill>
                        </a:rPr>
                        <a:t>(bike streets: use City of Las Vegas data, available here:</a:t>
                      </a:r>
                      <a:endParaRPr lang="en-US" sz="1100" b="0" u="none" strike="noStrike" cap="none" dirty="0">
                        <a:solidFill>
                          <a:srgbClr val="0432FF"/>
                        </a:solidFill>
                      </a:endParaRPr>
                    </a:p>
                    <a:p>
                      <a:pPr marL="0" marR="0" lvl="0" indent="0" algn="l" rtl="0">
                        <a:lnSpc>
                          <a:spcPct val="100000"/>
                        </a:lnSpc>
                        <a:spcBef>
                          <a:spcPts val="0"/>
                        </a:spcBef>
                        <a:spcAft>
                          <a:spcPts val="0"/>
                        </a:spcAft>
                        <a:buClr>
                          <a:srgbClr val="0432FF"/>
                        </a:buClr>
                        <a:buSzPts val="1100"/>
                        <a:buFont typeface="Calibri"/>
                        <a:buNone/>
                      </a:pPr>
                      <a:r>
                        <a:rPr lang="en-US" sz="1100" u="sng" strike="noStrike" cap="none" dirty="0">
                          <a:solidFill>
                            <a:srgbClr val="0432FF"/>
                          </a:solidFill>
                          <a:hlinkClick r:id="rId4"/>
                        </a:rPr>
                        <a:t>https://geoview-lasvegasnevada-gov.appspot.com/</a:t>
                      </a:r>
                      <a:r>
                        <a:rPr lang="en-US" sz="1100" u="sng" strike="noStrike" cap="none" dirty="0">
                          <a:solidFill>
                            <a:srgbClr val="0432FF"/>
                          </a:solidFill>
                        </a:rPr>
                        <a:t>)</a:t>
                      </a:r>
                    </a:p>
                    <a:p>
                      <a:pPr marL="0" marR="0" lvl="0" indent="0" algn="l" rtl="0">
                        <a:lnSpc>
                          <a:spcPct val="100000"/>
                        </a:lnSpc>
                        <a:spcBef>
                          <a:spcPts val="0"/>
                        </a:spcBef>
                        <a:spcAft>
                          <a:spcPts val="0"/>
                        </a:spcAft>
                        <a:buClr>
                          <a:srgbClr val="0432FF"/>
                        </a:buClr>
                        <a:buSzPts val="1100"/>
                        <a:buFont typeface="Calibri"/>
                        <a:buNone/>
                      </a:pPr>
                      <a:endParaRPr sz="1100" b="1" i="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Number:                 0                                            1                                                &gt;1</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0                                            2                                                 4</a:t>
                      </a:r>
                      <a:endParaRPr sz="1400" u="none" strike="noStrike" cap="none" dirty="0"/>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/4</a:t>
                      </a:r>
                      <a:endParaRPr sz="1400" u="none" strike="noStrike" cap="none" dirty="0"/>
                    </a:p>
                  </a:txBody>
                  <a:tcPr marL="68575" marR="68575" marT="60950" marB="60950"/>
                </a:tc>
                <a:extLst>
                  <a:ext uri="{0D108BD9-81ED-4DB2-BD59-A6C34878D82A}">
                    <a16:rowId xmlns:a16="http://schemas.microsoft.com/office/drawing/2014/main" val="10005"/>
                  </a:ext>
                </a:extLst>
              </a:tr>
              <a:tr h="794950">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Step 1 Points</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0-17 points: Low Need</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18-32 points: Medium Need</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33-50: High Need</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/50</a:t>
                      </a:r>
                      <a:endParaRPr sz="1400" u="none" strike="noStrike" cap="none" dirty="0"/>
                    </a:p>
                  </a:txBody>
                  <a:tcPr marL="68575" marR="68575" marT="60950" marB="60950"/>
                </a:tc>
                <a:extLst>
                  <a:ext uri="{0D108BD9-81ED-4DB2-BD59-A6C34878D82A}">
                    <a16:rowId xmlns:a16="http://schemas.microsoft.com/office/drawing/2014/main" val="10007"/>
                  </a:ext>
                </a:extLst>
              </a:tr>
            </a:tbl>
          </a:graphicData>
        </a:graphic>
      </p:graphicFrame>
      <p:sp>
        <p:nvSpPr>
          <p:cNvPr id="2" name="Footer Placeholder 1">
            <a:extLst>
              <a:ext uri="{FF2B5EF4-FFF2-40B4-BE49-F238E27FC236}">
                <a16:creationId xmlns:a16="http://schemas.microsoft.com/office/drawing/2014/main" id="{2F917723-8C8E-4943-80F7-BA94A91D5B67}"/>
              </a:ext>
            </a:extLst>
          </p:cNvPr>
          <p:cNvSpPr>
            <a:spLocks noGrp="1"/>
          </p:cNvSpPr>
          <p:nvPr>
            <p:ph type="ftr" idx="11"/>
          </p:nvPr>
        </p:nvSpPr>
        <p:spPr/>
        <p:txBody>
          <a:bodyPr/>
          <a:lstStyle/>
          <a:p>
            <a:r>
              <a:rPr lang="en-US"/>
              <a:t>V9B</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g783ce67ac1_0_159"/>
          <p:cNvSpPr txBox="1">
            <a:spLocks noGrp="1"/>
          </p:cNvSpPr>
          <p:nvPr>
            <p:ph type="title"/>
          </p:nvPr>
        </p:nvSpPr>
        <p:spPr>
          <a:xfrm>
            <a:off x="342900" y="214650"/>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000"/>
              <a:t>S1Q9 Instructions</a:t>
            </a:r>
            <a:endParaRPr sz="4000"/>
          </a:p>
        </p:txBody>
      </p:sp>
      <p:sp>
        <p:nvSpPr>
          <p:cNvPr id="401" name="Google Shape;401;g783ce67ac1_0_159"/>
          <p:cNvSpPr txBox="1">
            <a:spLocks noGrp="1"/>
          </p:cNvSpPr>
          <p:nvPr>
            <p:ph type="body" idx="1"/>
          </p:nvPr>
        </p:nvSpPr>
        <p:spPr>
          <a:xfrm>
            <a:off x="342900" y="938550"/>
            <a:ext cx="6172200" cy="72669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1000"/>
              </a:spcBef>
              <a:spcAft>
                <a:spcPts val="0"/>
              </a:spcAft>
              <a:buSzPts val="1800"/>
              <a:buChar char="●"/>
            </a:pPr>
            <a:r>
              <a:rPr lang="en-US" sz="1700"/>
              <a:t>Click on the link for the City of Las Vegas GeoView data, available</a:t>
            </a:r>
            <a:r>
              <a:rPr lang="en-US" sz="1400">
                <a:latin typeface="Arial"/>
                <a:ea typeface="Arial"/>
                <a:cs typeface="Arial"/>
                <a:sym typeface="Arial"/>
              </a:rPr>
              <a:t> </a:t>
            </a:r>
            <a:r>
              <a:rPr lang="en-US" sz="1400" u="sng">
                <a:solidFill>
                  <a:schemeClr val="hlink"/>
                </a:solidFill>
                <a:latin typeface="Arial"/>
                <a:ea typeface="Arial"/>
                <a:cs typeface="Arial"/>
                <a:sym typeface="Arial"/>
                <a:hlinkClick r:id="rId3"/>
              </a:rPr>
              <a:t>h</a:t>
            </a:r>
            <a:r>
              <a:rPr lang="en-US" sz="1700" u="sng">
                <a:solidFill>
                  <a:schemeClr val="hlink"/>
                </a:solidFill>
                <a:hlinkClick r:id="rId3"/>
              </a:rPr>
              <a:t>ere</a:t>
            </a:r>
            <a:r>
              <a:rPr lang="en-US" sz="1700"/>
              <a:t>. </a:t>
            </a:r>
            <a:endParaRPr sz="1700"/>
          </a:p>
          <a:p>
            <a:pPr marL="457200" lvl="0" indent="-336550" algn="l" rtl="0">
              <a:lnSpc>
                <a:spcPct val="115000"/>
              </a:lnSpc>
              <a:spcBef>
                <a:spcPts val="0"/>
              </a:spcBef>
              <a:spcAft>
                <a:spcPts val="0"/>
              </a:spcAft>
              <a:buSzPts val="1700"/>
              <a:buChar char="●"/>
            </a:pPr>
            <a:r>
              <a:rPr lang="en-US" sz="1700"/>
              <a:t>Enter the address for project area inside the text box in the top right corner.</a:t>
            </a:r>
            <a:endParaRPr sz="1700"/>
          </a:p>
          <a:p>
            <a:pPr marL="457200" lvl="0" indent="-336550" algn="l" rtl="0">
              <a:lnSpc>
                <a:spcPct val="115000"/>
              </a:lnSpc>
              <a:spcBef>
                <a:spcPts val="0"/>
              </a:spcBef>
              <a:spcAft>
                <a:spcPts val="0"/>
              </a:spcAft>
              <a:buSzPts val="1700"/>
              <a:buChar char="●"/>
            </a:pPr>
            <a:r>
              <a:rPr lang="en-US" sz="1700"/>
              <a:t>Click on “Layers</a:t>
            </a:r>
            <a:r>
              <a:rPr lang="en-US" sz="1700" b="1"/>
              <a:t>”</a:t>
            </a:r>
            <a:r>
              <a:rPr lang="en-US" sz="1700"/>
              <a:t> under the address bar.</a:t>
            </a:r>
            <a:endParaRPr sz="1700"/>
          </a:p>
          <a:p>
            <a:pPr marL="457200" lvl="0" indent="-336550" algn="l" rtl="0">
              <a:lnSpc>
                <a:spcPct val="115000"/>
              </a:lnSpc>
              <a:spcBef>
                <a:spcPts val="0"/>
              </a:spcBef>
              <a:spcAft>
                <a:spcPts val="0"/>
              </a:spcAft>
              <a:buSzPts val="1700"/>
              <a:buChar char="●"/>
            </a:pPr>
            <a:r>
              <a:rPr lang="en-US" sz="1700"/>
              <a:t>Click on the right-pointing arrow next to “Community Services.”</a:t>
            </a:r>
            <a:endParaRPr sz="1700"/>
          </a:p>
          <a:p>
            <a:pPr marL="457200" lvl="0" indent="-336550" algn="l" rtl="0">
              <a:lnSpc>
                <a:spcPct val="100000"/>
              </a:lnSpc>
              <a:spcBef>
                <a:spcPts val="0"/>
              </a:spcBef>
              <a:spcAft>
                <a:spcPts val="0"/>
              </a:spcAft>
              <a:buSzPts val="1700"/>
              <a:buChar char="●"/>
            </a:pPr>
            <a:r>
              <a:rPr lang="en-US" sz="1700"/>
              <a:t>Check the the “Parks” box</a:t>
            </a:r>
            <a:endParaRPr sz="1700"/>
          </a:p>
          <a:p>
            <a:pPr marL="457200" lvl="0" indent="-336550" algn="l" rtl="0">
              <a:lnSpc>
                <a:spcPct val="100000"/>
              </a:lnSpc>
              <a:spcBef>
                <a:spcPts val="0"/>
              </a:spcBef>
              <a:spcAft>
                <a:spcPts val="0"/>
              </a:spcAft>
              <a:buSzPts val="1700"/>
              <a:buChar char="●"/>
            </a:pPr>
            <a:r>
              <a:rPr lang="en-US" sz="1700"/>
              <a:t>Click on “Legend”</a:t>
            </a:r>
            <a:endParaRPr sz="1700"/>
          </a:p>
          <a:p>
            <a:pPr marL="457200" lvl="0" indent="-336550" algn="l" rtl="0">
              <a:lnSpc>
                <a:spcPct val="100000"/>
              </a:lnSpc>
              <a:spcBef>
                <a:spcPts val="0"/>
              </a:spcBef>
              <a:spcAft>
                <a:spcPts val="0"/>
              </a:spcAft>
              <a:buSzPts val="1700"/>
              <a:buChar char="●"/>
            </a:pPr>
            <a:r>
              <a:rPr lang="en-US" sz="1700"/>
              <a:t>Review the map symbols for each selection. This key will show how each selection is displayed on the interactive web map.</a:t>
            </a:r>
            <a:endParaRPr sz="1700"/>
          </a:p>
          <a:p>
            <a:pPr marL="457200" lvl="0" indent="-336550" algn="l" rtl="0">
              <a:lnSpc>
                <a:spcPct val="100000"/>
              </a:lnSpc>
              <a:spcBef>
                <a:spcPts val="0"/>
              </a:spcBef>
              <a:spcAft>
                <a:spcPts val="0"/>
              </a:spcAft>
              <a:buSzPts val="1700"/>
              <a:buChar char="●"/>
            </a:pPr>
            <a:r>
              <a:rPr lang="en-US" sz="1700"/>
              <a:t>Zoom in and out as needed to see all parks within ½ mile.</a:t>
            </a:r>
            <a:endParaRPr sz="1700"/>
          </a:p>
          <a:p>
            <a:pPr marL="457200" lvl="0" indent="-336550" algn="l" rtl="0">
              <a:lnSpc>
                <a:spcPct val="100000"/>
              </a:lnSpc>
              <a:spcBef>
                <a:spcPts val="0"/>
              </a:spcBef>
              <a:spcAft>
                <a:spcPts val="0"/>
              </a:spcAft>
              <a:buSzPts val="1700"/>
              <a:buChar char="●"/>
            </a:pPr>
            <a:r>
              <a:rPr lang="en-US" sz="1700"/>
              <a:t>Measurement Steps:</a:t>
            </a:r>
            <a:endParaRPr sz="1700"/>
          </a:p>
          <a:p>
            <a:pPr marL="914400" lvl="1" indent="-336550" algn="l" rtl="0">
              <a:lnSpc>
                <a:spcPct val="100000"/>
              </a:lnSpc>
              <a:spcBef>
                <a:spcPts val="0"/>
              </a:spcBef>
              <a:spcAft>
                <a:spcPts val="0"/>
              </a:spcAft>
              <a:buSzPts val="1700"/>
              <a:buChar char="○"/>
            </a:pPr>
            <a:r>
              <a:rPr lang="en-US" sz="1700"/>
              <a:t>Select the ruler icon for the “Measure Tool” in the top right corner. A window will pop-up with instructions for using it.  </a:t>
            </a:r>
            <a:endParaRPr sz="1700" b="1"/>
          </a:p>
          <a:p>
            <a:pPr marL="914400" lvl="1" indent="-336550" algn="l" rtl="0">
              <a:lnSpc>
                <a:spcPct val="100000"/>
              </a:lnSpc>
              <a:spcBef>
                <a:spcPts val="0"/>
              </a:spcBef>
              <a:spcAft>
                <a:spcPts val="0"/>
              </a:spcAft>
              <a:buSzPts val="1700"/>
              <a:buChar char="○"/>
            </a:pPr>
            <a:r>
              <a:rPr lang="en-US" sz="1700"/>
              <a:t>Change the unit of measurement in the text box that says “Length” to “Miles.” </a:t>
            </a:r>
            <a:endParaRPr sz="1700"/>
          </a:p>
          <a:p>
            <a:pPr marL="914400" lvl="1" indent="-336550" algn="l" rtl="0">
              <a:lnSpc>
                <a:spcPct val="100000"/>
              </a:lnSpc>
              <a:spcBef>
                <a:spcPts val="0"/>
              </a:spcBef>
              <a:spcAft>
                <a:spcPts val="0"/>
              </a:spcAft>
              <a:buSzPts val="1700"/>
              <a:buChar char="○"/>
            </a:pPr>
            <a:r>
              <a:rPr lang="en-US" sz="1700"/>
              <a:t>For each park use the “Measure tool” to see how far the park is from the closest edge of the project. </a:t>
            </a:r>
            <a:endParaRPr sz="1700"/>
          </a:p>
          <a:p>
            <a:pPr marL="914400" lvl="1" indent="-336550" algn="l" rtl="0">
              <a:lnSpc>
                <a:spcPct val="100000"/>
              </a:lnSpc>
              <a:spcBef>
                <a:spcPts val="0"/>
              </a:spcBef>
              <a:spcAft>
                <a:spcPts val="0"/>
              </a:spcAft>
              <a:buSzPts val="1700"/>
              <a:buChar char="○"/>
            </a:pPr>
            <a:r>
              <a:rPr lang="en-US" sz="1700"/>
              <a:t>Note the total number of parks within ½ mile.</a:t>
            </a:r>
            <a:endParaRPr sz="1700"/>
          </a:p>
          <a:p>
            <a:pPr marL="914400" lvl="1" indent="-336550" algn="l" rtl="0">
              <a:lnSpc>
                <a:spcPct val="100000"/>
              </a:lnSpc>
              <a:spcBef>
                <a:spcPts val="0"/>
              </a:spcBef>
              <a:spcAft>
                <a:spcPts val="0"/>
              </a:spcAft>
              <a:buSzPts val="1700"/>
              <a:buChar char="○"/>
            </a:pPr>
            <a:r>
              <a:rPr lang="en-US" sz="1700"/>
              <a:t>Record the associated Points.</a:t>
            </a:r>
            <a:endParaRPr sz="1700">
              <a:latin typeface="Arial"/>
              <a:ea typeface="Arial"/>
              <a:cs typeface="Arial"/>
              <a:sym typeface="Arial"/>
            </a:endParaRPr>
          </a:p>
          <a:p>
            <a:pPr marL="914400" lvl="1" indent="-336550" algn="l" rtl="0">
              <a:lnSpc>
                <a:spcPct val="115000"/>
              </a:lnSpc>
              <a:spcBef>
                <a:spcPts val="0"/>
              </a:spcBef>
              <a:spcAft>
                <a:spcPts val="0"/>
              </a:spcAft>
              <a:buSzPts val="1700"/>
              <a:buChar char="○"/>
            </a:pPr>
            <a:r>
              <a:rPr lang="en-US" sz="1700"/>
              <a:t>Click on the ‘X’ icon (above), select the Toggle Sidebar and the “Layers/Legend” menu will re-appear.</a:t>
            </a:r>
            <a:endParaRPr sz="1700"/>
          </a:p>
          <a:p>
            <a:pPr marL="0" lvl="0" indent="0" algn="l" rtl="0">
              <a:lnSpc>
                <a:spcPct val="115000"/>
              </a:lnSpc>
              <a:spcBef>
                <a:spcPts val="1000"/>
              </a:spcBef>
              <a:spcAft>
                <a:spcPts val="0"/>
              </a:spcAft>
              <a:buSzPts val="1800"/>
              <a:buNone/>
            </a:pPr>
            <a:endParaRPr sz="1600"/>
          </a:p>
        </p:txBody>
      </p:sp>
      <p:sp>
        <p:nvSpPr>
          <p:cNvPr id="2" name="Footer Placeholder 1">
            <a:extLst>
              <a:ext uri="{FF2B5EF4-FFF2-40B4-BE49-F238E27FC236}">
                <a16:creationId xmlns:a16="http://schemas.microsoft.com/office/drawing/2014/main" id="{9C27AC4E-262F-2445-9EF4-1DA90C36E312}"/>
              </a:ext>
            </a:extLst>
          </p:cNvPr>
          <p:cNvSpPr>
            <a:spLocks noGrp="1"/>
          </p:cNvSpPr>
          <p:nvPr>
            <p:ph type="ftr" idx="11"/>
          </p:nvPr>
        </p:nvSpPr>
        <p:spPr/>
        <p:txBody>
          <a:bodyPr/>
          <a:lstStyle/>
          <a:p>
            <a:r>
              <a:rPr lang="en-US"/>
              <a:t>V9B</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5" name="Google Shape;415;g783ce67ac1_0_174"/>
          <p:cNvSpPr/>
          <p:nvPr/>
        </p:nvSpPr>
        <p:spPr>
          <a:xfrm>
            <a:off x="1157416" y="120134"/>
            <a:ext cx="45432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416" name="Google Shape;416;g783ce67ac1_0_174"/>
          <p:cNvGraphicFramePr/>
          <p:nvPr>
            <p:extLst>
              <p:ext uri="{D42A27DB-BD31-4B8C-83A1-F6EECF244321}">
                <p14:modId xmlns:p14="http://schemas.microsoft.com/office/powerpoint/2010/main" val="362714505"/>
              </p:ext>
            </p:extLst>
          </p:nvPr>
        </p:nvGraphicFramePr>
        <p:xfrm>
          <a:off x="63159" y="643353"/>
          <a:ext cx="6608575" cy="6848430"/>
        </p:xfrm>
        <a:graphic>
          <a:graphicData uri="http://schemas.openxmlformats.org/drawingml/2006/table">
            <a:tbl>
              <a:tblPr firstRow="1" bandRow="1">
                <a:noFill/>
                <a:tableStyleId>{CAC760E6-1B21-447E-AD2F-912B2140AA3E}</a:tableStyleId>
              </a:tblPr>
              <a:tblGrid>
                <a:gridCol w="5435175">
                  <a:extLst>
                    <a:ext uri="{9D8B030D-6E8A-4147-A177-3AD203B41FA5}">
                      <a16:colId xmlns:a16="http://schemas.microsoft.com/office/drawing/2014/main" val="20000"/>
                    </a:ext>
                  </a:extLst>
                </a:gridCol>
                <a:gridCol w="697700">
                  <a:extLst>
                    <a:ext uri="{9D8B030D-6E8A-4147-A177-3AD203B41FA5}">
                      <a16:colId xmlns:a16="http://schemas.microsoft.com/office/drawing/2014/main" val="20001"/>
                    </a:ext>
                  </a:extLst>
                </a:gridCol>
                <a:gridCol w="475700">
                  <a:extLst>
                    <a:ext uri="{9D8B030D-6E8A-4147-A177-3AD203B41FA5}">
                      <a16:colId xmlns:a16="http://schemas.microsoft.com/office/drawing/2014/main" val="20002"/>
                    </a:ext>
                  </a:extLst>
                </a:gridCol>
              </a:tblGrid>
              <a:tr h="36765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needs assessment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1312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S1Q7: </a:t>
                      </a:r>
                      <a:r>
                        <a:rPr lang="en-US" sz="1100" b="0" i="0" u="none" strike="noStrike" cap="none"/>
                        <a:t>How many housing units + jobs per acre in the area?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Smart Location database (c. 2010), available here:</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a:solidFill>
                            <a:srgbClr val="0432FF"/>
                          </a:solidFill>
                          <a:hlinkClick r:id="rId3">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Density:    0-10                10-25                     25-50                     50-100               100+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1"/>
                  </a:ext>
                </a:extLst>
              </a:tr>
              <a:tr h="96312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S1Q8: </a:t>
                      </a:r>
                      <a:r>
                        <a:rPr lang="en-US" sz="1100" b="0" i="0" u="none" strike="noStrike" cap="none"/>
                        <a:t>How many schools (CCSD, private, or charter) are in the area and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&gt;1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1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2"/>
                  </a:ext>
                </a:extLst>
              </a:tr>
              <a:tr h="794950">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S1Q9: </a:t>
                      </a:r>
                      <a:r>
                        <a:rPr lang="en-US" sz="1100" b="0" i="0" u="none" strike="noStrike" cap="none"/>
                        <a:t>How many p</a:t>
                      </a:r>
                      <a:r>
                        <a:rPr lang="en-US" sz="1100" u="none" strike="noStrike" cap="none"/>
                        <a:t>ublic parks are</a:t>
                      </a:r>
                      <a:r>
                        <a:rPr lang="en-US" sz="1100" b="0" i="0" u="none" strike="noStrike" cap="none"/>
                        <a:t> in the project area or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&gt;1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1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3"/>
                  </a:ext>
                </a:extLst>
              </a:tr>
              <a:tr h="96312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S1Q10: </a:t>
                      </a:r>
                      <a:r>
                        <a:rPr lang="en-US" sz="1100" b="0" i="0" u="none" strike="noStrike" cap="none"/>
                        <a:t>How many bus stops are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432FF"/>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or more</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2 </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4"/>
                  </a:ext>
                </a:extLst>
              </a:tr>
              <a:tr h="133897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dirty="0">
                          <a:solidFill>
                            <a:srgbClr val="000000"/>
                          </a:solidFill>
                        </a:rPr>
                        <a:t>S1Q11: How many bike streets are in the area or within ¼ mile radius? </a:t>
                      </a:r>
                      <a:endParaRPr sz="1400" u="none" strike="noStrike" cap="none" dirty="0"/>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dirty="0">
                          <a:solidFill>
                            <a:srgbClr val="0432FF"/>
                          </a:solidFill>
                        </a:rPr>
                        <a:t>(bike streets: use City of Las Vegas data, available here:</a:t>
                      </a:r>
                      <a:endParaRPr lang="en-US" sz="1100" b="0" u="none" strike="noStrike" cap="none" dirty="0">
                        <a:solidFill>
                          <a:srgbClr val="0432FF"/>
                        </a:solidFill>
                      </a:endParaRPr>
                    </a:p>
                    <a:p>
                      <a:pPr marL="0" marR="0" lvl="0" indent="0" algn="l" rtl="0">
                        <a:lnSpc>
                          <a:spcPct val="100000"/>
                        </a:lnSpc>
                        <a:spcBef>
                          <a:spcPts val="0"/>
                        </a:spcBef>
                        <a:spcAft>
                          <a:spcPts val="0"/>
                        </a:spcAft>
                        <a:buClr>
                          <a:srgbClr val="0432FF"/>
                        </a:buClr>
                        <a:buSzPts val="1100"/>
                        <a:buFont typeface="Calibri"/>
                        <a:buNone/>
                      </a:pPr>
                      <a:r>
                        <a:rPr lang="en-US" sz="1100" u="sng" strike="noStrike" cap="none" dirty="0">
                          <a:solidFill>
                            <a:srgbClr val="0432FF"/>
                          </a:solidFill>
                          <a:hlinkClick r:id="rId4"/>
                        </a:rPr>
                        <a:t>https://geoview-lasvegasnevada-gov.appspot.com/</a:t>
                      </a:r>
                      <a:r>
                        <a:rPr lang="en-US" sz="1100" u="sng" strike="noStrike" cap="none" dirty="0">
                          <a:solidFill>
                            <a:srgbClr val="0432FF"/>
                          </a:solidFill>
                        </a:rPr>
                        <a:t>)</a:t>
                      </a:r>
                    </a:p>
                    <a:p>
                      <a:pPr marL="0" marR="0" lvl="0" indent="0" algn="l" rtl="0">
                        <a:lnSpc>
                          <a:spcPct val="100000"/>
                        </a:lnSpc>
                        <a:spcBef>
                          <a:spcPts val="0"/>
                        </a:spcBef>
                        <a:spcAft>
                          <a:spcPts val="0"/>
                        </a:spcAft>
                        <a:buClr>
                          <a:srgbClr val="0432FF"/>
                        </a:buClr>
                        <a:buSzPts val="1100"/>
                        <a:buFont typeface="Calibri"/>
                        <a:buNone/>
                      </a:pPr>
                      <a:endParaRPr sz="1100" b="1" i="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Number:                 0                                            1                                                &gt;1</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0                                            2                                                 4</a:t>
                      </a:r>
                      <a:endParaRPr sz="1400" u="none" strike="noStrike" cap="none" dirty="0"/>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/4</a:t>
                      </a:r>
                      <a:endParaRPr sz="1400" u="none" strike="noStrike" cap="none" dirty="0"/>
                    </a:p>
                  </a:txBody>
                  <a:tcPr marL="68575" marR="68575" marT="60950" marB="60950"/>
                </a:tc>
                <a:extLst>
                  <a:ext uri="{0D108BD9-81ED-4DB2-BD59-A6C34878D82A}">
                    <a16:rowId xmlns:a16="http://schemas.microsoft.com/office/drawing/2014/main" val="10005"/>
                  </a:ext>
                </a:extLst>
              </a:tr>
              <a:tr h="794950">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Step 1 Points</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0-17 points: Low Need</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18-32 points: Medium Need</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33-50: High Need</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/50</a:t>
                      </a:r>
                      <a:endParaRPr sz="1400" u="none" strike="noStrike" cap="none" dirty="0"/>
                    </a:p>
                  </a:txBody>
                  <a:tcPr marL="68575" marR="68575" marT="60950" marB="60950"/>
                </a:tc>
                <a:extLst>
                  <a:ext uri="{0D108BD9-81ED-4DB2-BD59-A6C34878D82A}">
                    <a16:rowId xmlns:a16="http://schemas.microsoft.com/office/drawing/2014/main" val="10007"/>
                  </a:ext>
                </a:extLst>
              </a:tr>
            </a:tbl>
          </a:graphicData>
        </a:graphic>
      </p:graphicFrame>
      <p:sp>
        <p:nvSpPr>
          <p:cNvPr id="2" name="Footer Placeholder 1">
            <a:extLst>
              <a:ext uri="{FF2B5EF4-FFF2-40B4-BE49-F238E27FC236}">
                <a16:creationId xmlns:a16="http://schemas.microsoft.com/office/drawing/2014/main" id="{9488894A-1267-FC4C-9794-6D3F053E46FA}"/>
              </a:ext>
            </a:extLst>
          </p:cNvPr>
          <p:cNvSpPr>
            <a:spLocks noGrp="1"/>
          </p:cNvSpPr>
          <p:nvPr>
            <p:ph type="ftr" idx="11"/>
          </p:nvPr>
        </p:nvSpPr>
        <p:spPr/>
        <p:txBody>
          <a:bodyPr/>
          <a:lstStyle/>
          <a:p>
            <a:r>
              <a:rPr lang="en-US"/>
              <a:t>V9B</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g8701af7b45_0_85"/>
          <p:cNvSpPr txBox="1">
            <a:spLocks noGrp="1"/>
          </p:cNvSpPr>
          <p:nvPr>
            <p:ph type="title"/>
          </p:nvPr>
        </p:nvSpPr>
        <p:spPr>
          <a:xfrm>
            <a:off x="342900" y="191200"/>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000"/>
              <a:t>S1Q10 Instructions</a:t>
            </a:r>
            <a:endParaRPr sz="4000"/>
          </a:p>
        </p:txBody>
      </p:sp>
      <p:sp>
        <p:nvSpPr>
          <p:cNvPr id="424" name="Google Shape;424;g8701af7b45_0_85"/>
          <p:cNvSpPr txBox="1">
            <a:spLocks noGrp="1"/>
          </p:cNvSpPr>
          <p:nvPr>
            <p:ph type="body" idx="1"/>
          </p:nvPr>
        </p:nvSpPr>
        <p:spPr>
          <a:xfrm>
            <a:off x="342900" y="1038600"/>
            <a:ext cx="6172200" cy="7324500"/>
          </a:xfrm>
          <a:prstGeom prst="rect">
            <a:avLst/>
          </a:prstGeom>
          <a:noFill/>
          <a:ln>
            <a:noFill/>
          </a:ln>
        </p:spPr>
        <p:txBody>
          <a:bodyPr spcFirstLastPara="1" wrap="square" lIns="91425" tIns="45700" rIns="91425" bIns="45700" anchor="t" anchorCtr="0">
            <a:noAutofit/>
          </a:bodyPr>
          <a:lstStyle/>
          <a:p>
            <a:pPr marL="457200" lvl="0" indent="-342900" algn="l" rtl="0">
              <a:lnSpc>
                <a:spcPct val="115000"/>
              </a:lnSpc>
              <a:spcBef>
                <a:spcPts val="0"/>
              </a:spcBef>
              <a:spcAft>
                <a:spcPts val="0"/>
              </a:spcAft>
              <a:buSzPts val="1800"/>
              <a:buChar char="●"/>
            </a:pPr>
            <a:r>
              <a:rPr lang="en-US" sz="1700"/>
              <a:t>Click on the link for the City of Las Vegas GeoView data, available</a:t>
            </a:r>
            <a:r>
              <a:rPr lang="en-US" sz="1400">
                <a:latin typeface="Arial"/>
                <a:ea typeface="Arial"/>
                <a:cs typeface="Arial"/>
                <a:sym typeface="Arial"/>
              </a:rPr>
              <a:t> </a:t>
            </a:r>
            <a:r>
              <a:rPr lang="en-US" sz="1700" u="sng">
                <a:solidFill>
                  <a:schemeClr val="hlink"/>
                </a:solidFill>
                <a:hlinkClick r:id="rId3"/>
              </a:rPr>
              <a:t>here</a:t>
            </a:r>
            <a:r>
              <a:rPr lang="en-US" sz="1700"/>
              <a:t>. </a:t>
            </a:r>
            <a:endParaRPr sz="1700"/>
          </a:p>
          <a:p>
            <a:pPr marL="457200" lvl="0" indent="-336550" algn="l" rtl="0">
              <a:lnSpc>
                <a:spcPct val="115000"/>
              </a:lnSpc>
              <a:spcBef>
                <a:spcPts val="0"/>
              </a:spcBef>
              <a:spcAft>
                <a:spcPts val="0"/>
              </a:spcAft>
              <a:buSzPts val="1700"/>
              <a:buChar char="●"/>
            </a:pPr>
            <a:r>
              <a:rPr lang="en-US" sz="1700"/>
              <a:t>Enter the address for project area inside the text box in the top right corner.</a:t>
            </a:r>
            <a:endParaRPr sz="1700"/>
          </a:p>
          <a:p>
            <a:pPr marL="457200" lvl="0" indent="-336550" algn="l" rtl="0">
              <a:lnSpc>
                <a:spcPct val="115000"/>
              </a:lnSpc>
              <a:spcBef>
                <a:spcPts val="0"/>
              </a:spcBef>
              <a:spcAft>
                <a:spcPts val="0"/>
              </a:spcAft>
              <a:buSzPts val="1700"/>
              <a:buChar char="●"/>
            </a:pPr>
            <a:r>
              <a:rPr lang="en-US" sz="1700"/>
              <a:t>Click on “Layers</a:t>
            </a:r>
            <a:r>
              <a:rPr lang="en-US" sz="1700" b="1"/>
              <a:t>”</a:t>
            </a:r>
            <a:r>
              <a:rPr lang="en-US" sz="1700"/>
              <a:t> under the address bar.</a:t>
            </a:r>
            <a:endParaRPr sz="1700"/>
          </a:p>
          <a:p>
            <a:pPr marL="457200" lvl="0" indent="-336550" algn="l" rtl="0">
              <a:lnSpc>
                <a:spcPct val="115000"/>
              </a:lnSpc>
              <a:spcBef>
                <a:spcPts val="0"/>
              </a:spcBef>
              <a:spcAft>
                <a:spcPts val="0"/>
              </a:spcAft>
              <a:buSzPts val="1700"/>
              <a:buChar char="●"/>
            </a:pPr>
            <a:r>
              <a:rPr lang="en-US" sz="1700"/>
              <a:t>Click on the right-pointing arrow next to “Transportation.”</a:t>
            </a:r>
            <a:endParaRPr sz="1700"/>
          </a:p>
          <a:p>
            <a:pPr marL="457200" lvl="0" indent="-336550" algn="l" rtl="0">
              <a:lnSpc>
                <a:spcPct val="100000"/>
              </a:lnSpc>
              <a:spcBef>
                <a:spcPts val="0"/>
              </a:spcBef>
              <a:spcAft>
                <a:spcPts val="0"/>
              </a:spcAft>
              <a:buSzPts val="1700"/>
              <a:buChar char="●"/>
            </a:pPr>
            <a:r>
              <a:rPr lang="en-US" sz="1700"/>
              <a:t>Check the following boxes: “RTC Bus Stops”</a:t>
            </a:r>
            <a:endParaRPr sz="1700"/>
          </a:p>
          <a:p>
            <a:pPr marL="457200" lvl="0" indent="-336550" algn="l" rtl="0">
              <a:lnSpc>
                <a:spcPct val="100000"/>
              </a:lnSpc>
              <a:spcBef>
                <a:spcPts val="0"/>
              </a:spcBef>
              <a:spcAft>
                <a:spcPts val="0"/>
              </a:spcAft>
              <a:buSzPts val="1700"/>
              <a:buChar char="●"/>
            </a:pPr>
            <a:r>
              <a:rPr lang="en-US" sz="1700"/>
              <a:t>Click on “Legend”</a:t>
            </a:r>
            <a:endParaRPr sz="1700"/>
          </a:p>
          <a:p>
            <a:pPr marL="457200" lvl="0" indent="-336550" algn="l" rtl="0">
              <a:lnSpc>
                <a:spcPct val="100000"/>
              </a:lnSpc>
              <a:spcBef>
                <a:spcPts val="0"/>
              </a:spcBef>
              <a:spcAft>
                <a:spcPts val="0"/>
              </a:spcAft>
              <a:buSzPts val="1700"/>
              <a:buChar char="●"/>
            </a:pPr>
            <a:r>
              <a:rPr lang="en-US" sz="1700"/>
              <a:t>Review the map symbols for each selection. This key will show how each selection is displayed on the interactive web map.</a:t>
            </a:r>
            <a:endParaRPr sz="1700"/>
          </a:p>
          <a:p>
            <a:pPr marL="457200" lvl="0" indent="-336550" algn="l" rtl="0">
              <a:lnSpc>
                <a:spcPct val="100000"/>
              </a:lnSpc>
              <a:spcBef>
                <a:spcPts val="0"/>
              </a:spcBef>
              <a:spcAft>
                <a:spcPts val="0"/>
              </a:spcAft>
              <a:buSzPts val="1700"/>
              <a:buChar char="●"/>
            </a:pPr>
            <a:r>
              <a:rPr lang="en-US" sz="1700"/>
              <a:t>Zoom in and out as needed to see all RTC Bus Stops within ½ mile.</a:t>
            </a:r>
            <a:endParaRPr sz="1700"/>
          </a:p>
          <a:p>
            <a:pPr marL="457200" lvl="0" indent="-336550" algn="l" rtl="0">
              <a:lnSpc>
                <a:spcPct val="100000"/>
              </a:lnSpc>
              <a:spcBef>
                <a:spcPts val="0"/>
              </a:spcBef>
              <a:spcAft>
                <a:spcPts val="0"/>
              </a:spcAft>
              <a:buSzPts val="1700"/>
              <a:buChar char="●"/>
            </a:pPr>
            <a:r>
              <a:rPr lang="en-US" sz="1700"/>
              <a:t>Measurement Steps:</a:t>
            </a:r>
            <a:endParaRPr sz="1700"/>
          </a:p>
          <a:p>
            <a:pPr marL="914400" lvl="1" indent="-336550" algn="l" rtl="0">
              <a:lnSpc>
                <a:spcPct val="100000"/>
              </a:lnSpc>
              <a:spcBef>
                <a:spcPts val="0"/>
              </a:spcBef>
              <a:spcAft>
                <a:spcPts val="0"/>
              </a:spcAft>
              <a:buSzPts val="1700"/>
              <a:buChar char="○"/>
            </a:pPr>
            <a:r>
              <a:rPr lang="en-US" sz="1700"/>
              <a:t>Select the ruler icon for the “Measure Tool” in the top right corner. A window will pop-up with instructions for using it.  </a:t>
            </a:r>
            <a:endParaRPr sz="1700" b="1"/>
          </a:p>
          <a:p>
            <a:pPr marL="914400" lvl="1" indent="-336550" algn="l" rtl="0">
              <a:lnSpc>
                <a:spcPct val="100000"/>
              </a:lnSpc>
              <a:spcBef>
                <a:spcPts val="0"/>
              </a:spcBef>
              <a:spcAft>
                <a:spcPts val="0"/>
              </a:spcAft>
              <a:buSzPts val="1700"/>
              <a:buChar char="○"/>
            </a:pPr>
            <a:r>
              <a:rPr lang="en-US" sz="1700"/>
              <a:t>Change the unit of measurement in the text box that says “Length” to “Miles.” </a:t>
            </a:r>
            <a:endParaRPr sz="1700"/>
          </a:p>
          <a:p>
            <a:pPr marL="914400" lvl="1" indent="-336550" algn="l" rtl="0">
              <a:lnSpc>
                <a:spcPct val="100000"/>
              </a:lnSpc>
              <a:spcBef>
                <a:spcPts val="0"/>
              </a:spcBef>
              <a:spcAft>
                <a:spcPts val="0"/>
              </a:spcAft>
              <a:buSzPts val="1700"/>
              <a:buChar char="○"/>
            </a:pPr>
            <a:r>
              <a:rPr lang="en-US" sz="1700"/>
              <a:t>Note the total number of RTC Bus Stops within ½ mile. Use the “Measure tool” if needed.</a:t>
            </a:r>
            <a:endParaRPr sz="1700"/>
          </a:p>
          <a:p>
            <a:pPr marL="914400" lvl="1" indent="-336550" algn="l" rtl="0">
              <a:lnSpc>
                <a:spcPct val="100000"/>
              </a:lnSpc>
              <a:spcBef>
                <a:spcPts val="0"/>
              </a:spcBef>
              <a:spcAft>
                <a:spcPts val="0"/>
              </a:spcAft>
              <a:buSzPts val="1700"/>
              <a:buChar char="○"/>
            </a:pPr>
            <a:r>
              <a:rPr lang="en-US" sz="1700"/>
              <a:t>Record the associated Points.</a:t>
            </a:r>
            <a:endParaRPr sz="1700">
              <a:latin typeface="Arial"/>
              <a:ea typeface="Arial"/>
              <a:cs typeface="Arial"/>
              <a:sym typeface="Arial"/>
            </a:endParaRPr>
          </a:p>
          <a:p>
            <a:pPr marL="914400" lvl="1" indent="-336550" algn="l" rtl="0">
              <a:lnSpc>
                <a:spcPct val="115000"/>
              </a:lnSpc>
              <a:spcBef>
                <a:spcPts val="0"/>
              </a:spcBef>
              <a:spcAft>
                <a:spcPts val="0"/>
              </a:spcAft>
              <a:buSzPts val="1700"/>
              <a:buChar char="○"/>
            </a:pPr>
            <a:r>
              <a:rPr lang="en-US" sz="1700"/>
              <a:t>Click on the ‘X’ icon (above), select the Toggle Sidebar and the “Layers/Legend” menu will re-appear.</a:t>
            </a:r>
            <a:endParaRPr sz="1700"/>
          </a:p>
          <a:p>
            <a:pPr marL="0" lvl="0" indent="0" algn="l" rtl="0">
              <a:lnSpc>
                <a:spcPct val="115000"/>
              </a:lnSpc>
              <a:spcBef>
                <a:spcPts val="1000"/>
              </a:spcBef>
              <a:spcAft>
                <a:spcPts val="0"/>
              </a:spcAft>
              <a:buSzPts val="1800"/>
              <a:buNone/>
            </a:pPr>
            <a:endParaRPr sz="1600"/>
          </a:p>
        </p:txBody>
      </p:sp>
      <p:sp>
        <p:nvSpPr>
          <p:cNvPr id="2" name="Footer Placeholder 1">
            <a:extLst>
              <a:ext uri="{FF2B5EF4-FFF2-40B4-BE49-F238E27FC236}">
                <a16:creationId xmlns:a16="http://schemas.microsoft.com/office/drawing/2014/main" id="{B0BAD2F7-8545-AB40-A32A-5AFDFA850448}"/>
              </a:ext>
            </a:extLst>
          </p:cNvPr>
          <p:cNvSpPr>
            <a:spLocks noGrp="1"/>
          </p:cNvSpPr>
          <p:nvPr>
            <p:ph type="ftr" idx="11"/>
          </p:nvPr>
        </p:nvSpPr>
        <p:spPr/>
        <p:txBody>
          <a:bodyPr/>
          <a:lstStyle/>
          <a:p>
            <a:r>
              <a:rPr lang="en-US"/>
              <a:t>V9B</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8" name="Google Shape;438;g783ce67ac1_0_199"/>
          <p:cNvSpPr/>
          <p:nvPr/>
        </p:nvSpPr>
        <p:spPr>
          <a:xfrm>
            <a:off x="1157416" y="120134"/>
            <a:ext cx="45432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7030A0"/>
                </a:solidFill>
                <a:latin typeface="Calibri"/>
                <a:ea typeface="Calibri"/>
                <a:cs typeface="Calibri"/>
                <a:sym typeface="Calibri"/>
              </a:rPr>
              <a:t>Step 1: Assess the area’s need</a:t>
            </a:r>
            <a:endParaRPr sz="1400" b="0" i="0" u="none" strike="noStrike" cap="none">
              <a:solidFill>
                <a:srgbClr val="000000"/>
              </a:solidFill>
              <a:latin typeface="Arial"/>
              <a:ea typeface="Arial"/>
              <a:cs typeface="Arial"/>
              <a:sym typeface="Arial"/>
            </a:endParaRPr>
          </a:p>
        </p:txBody>
      </p:sp>
      <p:graphicFrame>
        <p:nvGraphicFramePr>
          <p:cNvPr id="439" name="Google Shape;439;g783ce67ac1_0_199"/>
          <p:cNvGraphicFramePr/>
          <p:nvPr>
            <p:extLst>
              <p:ext uri="{D42A27DB-BD31-4B8C-83A1-F6EECF244321}">
                <p14:modId xmlns:p14="http://schemas.microsoft.com/office/powerpoint/2010/main" val="2542689542"/>
              </p:ext>
            </p:extLst>
          </p:nvPr>
        </p:nvGraphicFramePr>
        <p:xfrm>
          <a:off x="146289" y="1058993"/>
          <a:ext cx="6608575" cy="6848430"/>
        </p:xfrm>
        <a:graphic>
          <a:graphicData uri="http://schemas.openxmlformats.org/drawingml/2006/table">
            <a:tbl>
              <a:tblPr firstRow="1" bandRow="1">
                <a:noFill/>
                <a:tableStyleId>{CAC760E6-1B21-447E-AD2F-912B2140AA3E}</a:tableStyleId>
              </a:tblPr>
              <a:tblGrid>
                <a:gridCol w="5435175">
                  <a:extLst>
                    <a:ext uri="{9D8B030D-6E8A-4147-A177-3AD203B41FA5}">
                      <a16:colId xmlns:a16="http://schemas.microsoft.com/office/drawing/2014/main" val="20000"/>
                    </a:ext>
                  </a:extLst>
                </a:gridCol>
                <a:gridCol w="697700">
                  <a:extLst>
                    <a:ext uri="{9D8B030D-6E8A-4147-A177-3AD203B41FA5}">
                      <a16:colId xmlns:a16="http://schemas.microsoft.com/office/drawing/2014/main" val="20001"/>
                    </a:ext>
                  </a:extLst>
                </a:gridCol>
                <a:gridCol w="475700">
                  <a:extLst>
                    <a:ext uri="{9D8B030D-6E8A-4147-A177-3AD203B41FA5}">
                      <a16:colId xmlns:a16="http://schemas.microsoft.com/office/drawing/2014/main" val="20002"/>
                    </a:ext>
                  </a:extLst>
                </a:gridCol>
              </a:tblGrid>
              <a:tr h="36765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needs assessment</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Domain</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1312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S1Q7: </a:t>
                      </a:r>
                      <a:r>
                        <a:rPr lang="en-US" sz="1100" b="0" i="0" u="none" strike="noStrike" cap="none"/>
                        <a:t>How many housing units + jobs per acre in the area?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Smart Location database (c. 2010), available here:</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sng" strike="noStrike" cap="none">
                          <a:solidFill>
                            <a:srgbClr val="0432FF"/>
                          </a:solidFill>
                          <a:hlinkClick r:id="rId3">
                            <a:extLst>
                              <a:ext uri="{A12FA001-AC4F-418D-AE19-62706E023703}">
                                <ahyp:hlinkClr xmlns:ahyp="http://schemas.microsoft.com/office/drawing/2018/hyperlinkcolor" val="tx"/>
                              </a:ext>
                            </a:extLst>
                          </a:hlinkClick>
                        </a:rPr>
                        <a:t>https://geodata.epa.gov/arcgis/rest/services/OA/SmartLocationDatabase/MapServer</a:t>
                      </a:r>
                      <a:r>
                        <a:rPr lang="en-US" sz="1100" b="0" i="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Density:    0-10                10-25                     25-50                     50-100               100+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1                         2                           3                             4                           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Land Use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/5</a:t>
                      </a:r>
                      <a:endParaRPr sz="1400" u="none" strike="noStrike" cap="none"/>
                    </a:p>
                  </a:txBody>
                  <a:tcPr marL="68575" marR="68575" marT="60950" marB="60950"/>
                </a:tc>
                <a:extLst>
                  <a:ext uri="{0D108BD9-81ED-4DB2-BD59-A6C34878D82A}">
                    <a16:rowId xmlns:a16="http://schemas.microsoft.com/office/drawing/2014/main" val="10001"/>
                  </a:ext>
                </a:extLst>
              </a:tr>
              <a:tr h="96312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S1Q8: </a:t>
                      </a:r>
                      <a:r>
                        <a:rPr lang="en-US" sz="1100" b="0" i="0" u="none" strike="noStrike" cap="none"/>
                        <a:t>How many schools (CCSD, private, or charter) are in the area and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&gt;1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1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2"/>
                  </a:ext>
                </a:extLst>
              </a:tr>
              <a:tr h="794950">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S1Q9: </a:t>
                      </a:r>
                      <a:r>
                        <a:rPr lang="en-US" sz="1100" b="0" i="0" u="none" strike="noStrike" cap="none"/>
                        <a:t>How many p</a:t>
                      </a:r>
                      <a:r>
                        <a:rPr lang="en-US" sz="1100" u="none" strike="noStrike" cap="none"/>
                        <a:t>ublic parks are</a:t>
                      </a:r>
                      <a:r>
                        <a:rPr lang="en-US" sz="1100" b="0" i="0" u="none" strike="noStrike" cap="none"/>
                        <a:t> in the project area or within ½ mile radius?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&gt;1</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1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3"/>
                  </a:ext>
                </a:extLst>
              </a:tr>
              <a:tr h="96312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S1Q10: </a:t>
                      </a:r>
                      <a:r>
                        <a:rPr lang="en-US" sz="1100" b="0" i="0" u="none" strike="noStrike" cap="none"/>
                        <a:t>How many bus stops are within ½ mile radi</a:t>
                      </a:r>
                      <a:r>
                        <a:rPr lang="en-US" sz="1100" u="none" strike="noStrike" cap="none"/>
                        <a:t>us</a:t>
                      </a:r>
                      <a:r>
                        <a:rPr lang="en-US" sz="1100" b="0" i="0" u="none" strike="noStrike" cap="none"/>
                        <a:t>? </a:t>
                      </a:r>
                      <a:endParaRPr sz="140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City of Las Vegas data, available here: </a:t>
                      </a:r>
                      <a:r>
                        <a:rPr lang="en-US" sz="1100" u="sng" strike="noStrike" cap="none">
                          <a:solidFill>
                            <a:srgbClr val="0432FF"/>
                          </a:solidFill>
                          <a:hlinkClick r:id="rId4">
                            <a:extLst>
                              <a:ext uri="{A12FA001-AC4F-418D-AE19-62706E023703}">
                                <ahyp:hlinkClr xmlns:ahyp="http://schemas.microsoft.com/office/drawing/2018/hyperlinkcolor" val="tx"/>
                              </a:ext>
                            </a:extLst>
                          </a:hlinkClick>
                        </a:rPr>
                        <a:t>https://geoview-lasvegasnevada-gov.appspot.com/#</a:t>
                      </a:r>
                      <a:r>
                        <a:rPr lang="en-US" sz="1100" u="none" strike="noStrike" cap="none">
                          <a:solidFill>
                            <a:srgbClr val="0432FF"/>
                          </a:solidFill>
                        </a:rPr>
                        <a:t>)</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u="none" strike="noStrike" cap="none">
                        <a:solidFill>
                          <a:srgbClr val="0432FF"/>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Number:                 0                                                                                            1 or more</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2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a:t>
                      </a:r>
                      <a:endParaRPr sz="1400" u="none" strike="noStrike" cap="none"/>
                    </a:p>
                  </a:txBody>
                  <a:tcPr marL="68575" marR="68575" marT="60950" marB="60950"/>
                </a:tc>
                <a:extLst>
                  <a:ext uri="{0D108BD9-81ED-4DB2-BD59-A6C34878D82A}">
                    <a16:rowId xmlns:a16="http://schemas.microsoft.com/office/drawing/2014/main" val="10004"/>
                  </a:ext>
                </a:extLst>
              </a:tr>
              <a:tr h="1338975">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dirty="0">
                          <a:solidFill>
                            <a:srgbClr val="000000"/>
                          </a:solidFill>
                        </a:rPr>
                        <a:t>S1Q11: How many bike streets are in the area or within ¼ mile radius? </a:t>
                      </a:r>
                      <a:endParaRPr sz="1400" u="none" strike="noStrike" cap="none" dirty="0"/>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dirty="0">
                          <a:solidFill>
                            <a:srgbClr val="0432FF"/>
                          </a:solidFill>
                        </a:rPr>
                        <a:t>(bike streets: use City of Las Vegas data, available here:</a:t>
                      </a:r>
                      <a:endParaRPr lang="en-US" sz="1100" b="0" u="none" strike="noStrike" cap="none" dirty="0">
                        <a:solidFill>
                          <a:srgbClr val="0432FF"/>
                        </a:solidFill>
                      </a:endParaRPr>
                    </a:p>
                    <a:p>
                      <a:pPr marL="0" marR="0" lvl="0" indent="0" algn="l" rtl="0">
                        <a:lnSpc>
                          <a:spcPct val="100000"/>
                        </a:lnSpc>
                        <a:spcBef>
                          <a:spcPts val="0"/>
                        </a:spcBef>
                        <a:spcAft>
                          <a:spcPts val="0"/>
                        </a:spcAft>
                        <a:buClr>
                          <a:srgbClr val="0432FF"/>
                        </a:buClr>
                        <a:buSzPts val="1100"/>
                        <a:buFont typeface="Calibri"/>
                        <a:buNone/>
                      </a:pPr>
                      <a:r>
                        <a:rPr lang="en-US" sz="1100" u="sng" strike="noStrike" cap="none" dirty="0">
                          <a:solidFill>
                            <a:srgbClr val="0432FF"/>
                          </a:solidFill>
                          <a:hlinkClick r:id="rId4"/>
                        </a:rPr>
                        <a:t>https://geoview-lasvegasnevada-gov.appspot.com/</a:t>
                      </a:r>
                      <a:r>
                        <a:rPr lang="en-US" sz="1100" u="sng" strike="noStrike" cap="none" dirty="0">
                          <a:solidFill>
                            <a:srgbClr val="0432FF"/>
                          </a:solidFill>
                        </a:rPr>
                        <a:t>)</a:t>
                      </a:r>
                    </a:p>
                    <a:p>
                      <a:pPr marL="0" marR="0" lvl="0" indent="0" algn="l" rtl="0">
                        <a:lnSpc>
                          <a:spcPct val="100000"/>
                        </a:lnSpc>
                        <a:spcBef>
                          <a:spcPts val="0"/>
                        </a:spcBef>
                        <a:spcAft>
                          <a:spcPts val="0"/>
                        </a:spcAft>
                        <a:buClr>
                          <a:schemeClr val="dk1"/>
                        </a:buClr>
                        <a:buSzPts val="1100"/>
                        <a:buFont typeface="Calibri"/>
                        <a:buNone/>
                      </a:pPr>
                      <a:endParaRPr sz="1100" b="1" i="0" u="none" strike="noStrike" cap="none" dirty="0">
                        <a:solidFill>
                          <a:schemeClr val="dk1"/>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Number:                 0                                            1                                                &gt;1</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0                                            2                                                 4</a:t>
                      </a:r>
                      <a:endParaRPr sz="1400" u="none" strike="noStrike" cap="none" dirty="0"/>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Connectivity</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/4</a:t>
                      </a:r>
                      <a:endParaRPr sz="1400" u="none" strike="noStrike" cap="none" dirty="0"/>
                    </a:p>
                  </a:txBody>
                  <a:tcPr marL="68575" marR="68575" marT="60950" marB="60950">
                    <a:solidFill>
                      <a:srgbClr val="00FF00"/>
                    </a:solidFill>
                  </a:tcPr>
                </a:tc>
                <a:extLst>
                  <a:ext uri="{0D108BD9-81ED-4DB2-BD59-A6C34878D82A}">
                    <a16:rowId xmlns:a16="http://schemas.microsoft.com/office/drawing/2014/main" val="10005"/>
                  </a:ext>
                </a:extLst>
              </a:tr>
              <a:tr h="794950">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Step 1 Points</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0-17 points: Low Need</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18-32 points: Medium Need</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33-50: High Need</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chemeClr val="dk1"/>
                        </a:buClr>
                        <a:buSzPts val="1100"/>
                        <a:buFont typeface="Calibri"/>
                        <a:buNone/>
                      </a:pPr>
                      <a:endParaRPr sz="1100" b="1" i="1" u="none" strike="noStrike" cap="none">
                        <a:solidFill>
                          <a:srgbClr val="FF0000"/>
                        </a:solidFill>
                      </a:endParaRPr>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/50</a:t>
                      </a:r>
                      <a:endParaRPr sz="1400" u="none" strike="noStrike" cap="none" dirty="0"/>
                    </a:p>
                  </a:txBody>
                  <a:tcPr marL="68575" marR="68575" marT="60950" marB="60950"/>
                </a:tc>
                <a:extLst>
                  <a:ext uri="{0D108BD9-81ED-4DB2-BD59-A6C34878D82A}">
                    <a16:rowId xmlns:a16="http://schemas.microsoft.com/office/drawing/2014/main" val="10007"/>
                  </a:ext>
                </a:extLst>
              </a:tr>
            </a:tbl>
          </a:graphicData>
        </a:graphic>
      </p:graphicFrame>
      <p:sp>
        <p:nvSpPr>
          <p:cNvPr id="2" name="Footer Placeholder 1">
            <a:extLst>
              <a:ext uri="{FF2B5EF4-FFF2-40B4-BE49-F238E27FC236}">
                <a16:creationId xmlns:a16="http://schemas.microsoft.com/office/drawing/2014/main" id="{703264B4-B582-764D-B6F6-F553A23907D6}"/>
              </a:ext>
            </a:extLst>
          </p:cNvPr>
          <p:cNvSpPr>
            <a:spLocks noGrp="1"/>
          </p:cNvSpPr>
          <p:nvPr>
            <p:ph type="ftr" idx="11"/>
          </p:nvPr>
        </p:nvSpPr>
        <p:spPr/>
        <p:txBody>
          <a:bodyPr/>
          <a:lstStyle/>
          <a:p>
            <a:r>
              <a:rPr lang="en-US"/>
              <a:t>V9B</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g783ce67ac1_0_213"/>
          <p:cNvSpPr txBox="1">
            <a:spLocks noGrp="1"/>
          </p:cNvSpPr>
          <p:nvPr>
            <p:ph type="title"/>
          </p:nvPr>
        </p:nvSpPr>
        <p:spPr>
          <a:xfrm>
            <a:off x="342900" y="133350"/>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000"/>
              <a:t>S1Q11 Instructions</a:t>
            </a:r>
            <a:endParaRPr sz="4000"/>
          </a:p>
        </p:txBody>
      </p:sp>
      <p:sp>
        <p:nvSpPr>
          <p:cNvPr id="447" name="Google Shape;447;g783ce67ac1_0_213"/>
          <p:cNvSpPr txBox="1">
            <a:spLocks noGrp="1"/>
          </p:cNvSpPr>
          <p:nvPr>
            <p:ph type="body" idx="1"/>
          </p:nvPr>
        </p:nvSpPr>
        <p:spPr>
          <a:xfrm>
            <a:off x="342900" y="1028700"/>
            <a:ext cx="6172200" cy="7010400"/>
          </a:xfrm>
          <a:prstGeom prst="rect">
            <a:avLst/>
          </a:prstGeom>
          <a:noFill/>
          <a:ln>
            <a:noFill/>
          </a:ln>
        </p:spPr>
        <p:txBody>
          <a:bodyPr spcFirstLastPara="1" wrap="square" lIns="91425" tIns="45700" rIns="91425" bIns="45700" anchor="t" anchorCtr="0">
            <a:noAutofit/>
          </a:bodyPr>
          <a:lstStyle/>
          <a:p>
            <a:pPr lvl="0">
              <a:buChar char="●"/>
            </a:pPr>
            <a:r>
              <a:rPr lang="en-US" sz="1600" dirty="0"/>
              <a:t>Click on the link for the City of Las Vegas </a:t>
            </a:r>
            <a:r>
              <a:rPr lang="en-US" sz="1600" dirty="0" err="1"/>
              <a:t>GeoView</a:t>
            </a:r>
            <a:r>
              <a:rPr lang="en-US" sz="1600" dirty="0"/>
              <a:t> data, available</a:t>
            </a:r>
            <a:r>
              <a:rPr lang="en-US" sz="1200" dirty="0">
                <a:latin typeface="Arial"/>
                <a:ea typeface="Arial"/>
                <a:cs typeface="Arial"/>
                <a:sym typeface="Arial"/>
              </a:rPr>
              <a:t> </a:t>
            </a:r>
            <a:r>
              <a:rPr lang="en-US" sz="1600" u="sng" dirty="0">
                <a:solidFill>
                  <a:schemeClr val="hlink"/>
                </a:solidFill>
                <a:hlinkClick r:id="rId3"/>
              </a:rPr>
              <a:t>here</a:t>
            </a:r>
            <a:r>
              <a:rPr lang="en-US" sz="1600" dirty="0"/>
              <a:t>. </a:t>
            </a:r>
          </a:p>
          <a:p>
            <a:pPr lvl="0" indent="-336550">
              <a:lnSpc>
                <a:spcPct val="115000"/>
              </a:lnSpc>
              <a:spcBef>
                <a:spcPts val="0"/>
              </a:spcBef>
              <a:buSzPts val="1700"/>
              <a:buChar char="●"/>
            </a:pPr>
            <a:r>
              <a:rPr lang="en-US" sz="1600" dirty="0"/>
              <a:t>Enter the address for project area inside the text box in the top left corner.</a:t>
            </a:r>
          </a:p>
          <a:p>
            <a:pPr lvl="0" indent="-336550">
              <a:lnSpc>
                <a:spcPct val="115000"/>
              </a:lnSpc>
              <a:spcBef>
                <a:spcPts val="0"/>
              </a:spcBef>
              <a:buSzPts val="1700"/>
              <a:buChar char="●"/>
            </a:pPr>
            <a:r>
              <a:rPr lang="en-US" sz="1600" dirty="0"/>
              <a:t>Click on “Layers</a:t>
            </a:r>
            <a:r>
              <a:rPr lang="en-US" sz="1600" b="1" dirty="0"/>
              <a:t>”</a:t>
            </a:r>
            <a:r>
              <a:rPr lang="en-US" sz="1600" dirty="0"/>
              <a:t> under the address bar.</a:t>
            </a:r>
          </a:p>
          <a:p>
            <a:pPr lvl="0" indent="-336550">
              <a:lnSpc>
                <a:spcPct val="115000"/>
              </a:lnSpc>
              <a:spcBef>
                <a:spcPts val="0"/>
              </a:spcBef>
              <a:buSzPts val="1700"/>
              <a:buChar char="●"/>
            </a:pPr>
            <a:r>
              <a:rPr lang="en-US" sz="1600" dirty="0"/>
              <a:t>Click on the right-pointing arrow next to “Transportation.”</a:t>
            </a:r>
          </a:p>
          <a:p>
            <a:pPr lvl="0" indent="-336550">
              <a:spcBef>
                <a:spcPts val="0"/>
              </a:spcBef>
              <a:buSzPts val="1700"/>
              <a:buChar char="●"/>
            </a:pPr>
            <a:r>
              <a:rPr lang="en-US" sz="1600" dirty="0"/>
              <a:t>Check “Bike Streets.”</a:t>
            </a:r>
          </a:p>
          <a:p>
            <a:pPr lvl="0" indent="-336550">
              <a:spcBef>
                <a:spcPts val="0"/>
              </a:spcBef>
              <a:buSzPts val="1700"/>
              <a:buChar char="●"/>
            </a:pPr>
            <a:r>
              <a:rPr lang="en-US" sz="1600" dirty="0"/>
              <a:t>Click on “Legend”</a:t>
            </a:r>
          </a:p>
          <a:p>
            <a:pPr marL="457200" lvl="0" indent="-330200" algn="l" rtl="0">
              <a:lnSpc>
                <a:spcPct val="115000"/>
              </a:lnSpc>
              <a:spcBef>
                <a:spcPts val="0"/>
              </a:spcBef>
              <a:spcAft>
                <a:spcPts val="0"/>
              </a:spcAft>
              <a:buSzPts val="1600"/>
              <a:buChar char="●"/>
            </a:pPr>
            <a:r>
              <a:rPr lang="en-US" sz="1600" dirty="0"/>
              <a:t>Count and record the number of existing bike streets in the project area or within ¼ mile buffer.</a:t>
            </a:r>
          </a:p>
          <a:p>
            <a:pPr lvl="0" indent="-336550">
              <a:spcBef>
                <a:spcPts val="0"/>
              </a:spcBef>
              <a:buSzPts val="1700"/>
              <a:buChar char="●"/>
            </a:pPr>
            <a:r>
              <a:rPr lang="en-US" sz="1700" dirty="0"/>
              <a:t>Zoom in and out as needed to see all bike streets within ¼ mile.</a:t>
            </a:r>
          </a:p>
          <a:p>
            <a:pPr lvl="0" indent="-336550">
              <a:spcBef>
                <a:spcPts val="0"/>
              </a:spcBef>
              <a:buSzPts val="1700"/>
              <a:buChar char="●"/>
            </a:pPr>
            <a:r>
              <a:rPr lang="en-US" sz="1700" dirty="0"/>
              <a:t>Measurement Steps:</a:t>
            </a:r>
          </a:p>
          <a:p>
            <a:pPr lvl="1" indent="-336550">
              <a:spcBef>
                <a:spcPts val="0"/>
              </a:spcBef>
              <a:buSzPts val="1700"/>
              <a:buChar char="○"/>
            </a:pPr>
            <a:r>
              <a:rPr lang="en-US" sz="1700" dirty="0"/>
              <a:t>Select the ruler icon for the “Measure Tool” in the top right corner. A window will pop-up with instructions for using it.  </a:t>
            </a:r>
            <a:endParaRPr lang="en-US" sz="1700" b="1" dirty="0"/>
          </a:p>
          <a:p>
            <a:pPr lvl="1" indent="-336550">
              <a:spcBef>
                <a:spcPts val="0"/>
              </a:spcBef>
              <a:buSzPts val="1700"/>
              <a:buChar char="○"/>
            </a:pPr>
            <a:r>
              <a:rPr lang="en-US" sz="1700" dirty="0"/>
              <a:t>Change the unit of measurement in the text box that says “Length” to “Miles.” </a:t>
            </a:r>
          </a:p>
          <a:p>
            <a:pPr lvl="1" indent="-336550">
              <a:spcBef>
                <a:spcPts val="0"/>
              </a:spcBef>
              <a:buSzPts val="1700"/>
              <a:buChar char="○"/>
            </a:pPr>
            <a:r>
              <a:rPr lang="en-US" sz="1700" dirty="0"/>
              <a:t>Use the “</a:t>
            </a:r>
            <a:r>
              <a:rPr lang="en-US" sz="1700"/>
              <a:t>Measure Tool</a:t>
            </a:r>
            <a:r>
              <a:rPr lang="en-US" sz="1700" dirty="0"/>
              <a:t>” to see how far the bike street is from the closest edge of the project. </a:t>
            </a:r>
          </a:p>
          <a:p>
            <a:pPr lvl="1" indent="-336550">
              <a:spcBef>
                <a:spcPts val="0"/>
              </a:spcBef>
              <a:buSzPts val="1700"/>
              <a:buChar char="○"/>
            </a:pPr>
            <a:r>
              <a:rPr lang="en-US" sz="1700" dirty="0"/>
              <a:t>Note the total number of bike streets within ¼ mile.</a:t>
            </a:r>
          </a:p>
          <a:p>
            <a:pPr lvl="1" indent="-336550">
              <a:spcBef>
                <a:spcPts val="0"/>
              </a:spcBef>
              <a:buSzPts val="1700"/>
              <a:buChar char="○"/>
            </a:pPr>
            <a:r>
              <a:rPr lang="en-US" sz="1700" dirty="0"/>
              <a:t>Record the associated points.</a:t>
            </a:r>
            <a:endParaRPr lang="en-US" sz="1700" dirty="0">
              <a:latin typeface="Arial"/>
              <a:ea typeface="Arial"/>
              <a:cs typeface="Arial"/>
              <a:sym typeface="Arial"/>
            </a:endParaRPr>
          </a:p>
          <a:p>
            <a:pPr lvl="1" indent="-336550">
              <a:lnSpc>
                <a:spcPct val="115000"/>
              </a:lnSpc>
              <a:spcBef>
                <a:spcPts val="0"/>
              </a:spcBef>
              <a:buSzPts val="1700"/>
              <a:buChar char="○"/>
            </a:pPr>
            <a:r>
              <a:rPr lang="en-US" sz="1700" dirty="0"/>
              <a:t>Click on the ‘X’ icon (above), select the Toggle Sidebar and the “Layers/Legend” menu will re-appear.</a:t>
            </a:r>
          </a:p>
          <a:p>
            <a:pPr marL="457200" lvl="0" indent="-330200" algn="l" rtl="0">
              <a:lnSpc>
                <a:spcPct val="115000"/>
              </a:lnSpc>
              <a:spcBef>
                <a:spcPts val="0"/>
              </a:spcBef>
              <a:spcAft>
                <a:spcPts val="0"/>
              </a:spcAft>
              <a:buSzPts val="1600"/>
              <a:buChar char="●"/>
            </a:pPr>
            <a:endParaRPr sz="1600" dirty="0"/>
          </a:p>
          <a:p>
            <a:pPr marL="914400" lvl="0" indent="0" algn="l" rtl="0">
              <a:lnSpc>
                <a:spcPct val="107000"/>
              </a:lnSpc>
              <a:spcBef>
                <a:spcPts val="1000"/>
              </a:spcBef>
              <a:spcAft>
                <a:spcPts val="0"/>
              </a:spcAft>
              <a:buSzPts val="1800"/>
              <a:buNone/>
            </a:pPr>
            <a:endParaRPr sz="1400" dirty="0"/>
          </a:p>
          <a:p>
            <a:pPr marL="457200" lvl="0" indent="0" algn="l" rtl="0">
              <a:lnSpc>
                <a:spcPct val="100000"/>
              </a:lnSpc>
              <a:spcBef>
                <a:spcPts val="360"/>
              </a:spcBef>
              <a:spcAft>
                <a:spcPts val="0"/>
              </a:spcAft>
              <a:buSzPts val="1800"/>
              <a:buNone/>
            </a:pPr>
            <a:endParaRPr sz="1400" dirty="0"/>
          </a:p>
          <a:p>
            <a:pPr marL="0" lvl="0" indent="0" algn="l" rtl="0">
              <a:lnSpc>
                <a:spcPct val="115000"/>
              </a:lnSpc>
              <a:spcBef>
                <a:spcPts val="0"/>
              </a:spcBef>
              <a:spcAft>
                <a:spcPts val="0"/>
              </a:spcAft>
              <a:buSzPts val="1800"/>
              <a:buNone/>
            </a:pPr>
            <a:endParaRPr sz="1600" dirty="0"/>
          </a:p>
        </p:txBody>
      </p:sp>
      <p:sp>
        <p:nvSpPr>
          <p:cNvPr id="2" name="Footer Placeholder 1">
            <a:extLst>
              <a:ext uri="{FF2B5EF4-FFF2-40B4-BE49-F238E27FC236}">
                <a16:creationId xmlns:a16="http://schemas.microsoft.com/office/drawing/2014/main" id="{C17B8AC8-10F4-A24B-BDCA-5F2A889F9BE7}"/>
              </a:ext>
            </a:extLst>
          </p:cNvPr>
          <p:cNvSpPr>
            <a:spLocks noGrp="1"/>
          </p:cNvSpPr>
          <p:nvPr>
            <p:ph type="ftr" idx="11"/>
          </p:nvPr>
        </p:nvSpPr>
        <p:spPr/>
        <p:txBody>
          <a:bodyPr/>
          <a:lstStyle/>
          <a:p>
            <a:r>
              <a:rPr lang="en-US"/>
              <a:t>V9B</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8" name="Google Shape;498;g8701af7b45_0_3"/>
          <p:cNvSpPr txBox="1"/>
          <p:nvPr/>
        </p:nvSpPr>
        <p:spPr>
          <a:xfrm>
            <a:off x="563025" y="795874"/>
            <a:ext cx="5935200" cy="1154100"/>
          </a:xfrm>
          <a:prstGeom prst="rect">
            <a:avLst/>
          </a:prstGeom>
          <a:solidFill>
            <a:srgbClr val="FFC000"/>
          </a:solid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7030A0"/>
              </a:buClr>
              <a:buSzPts val="2600"/>
              <a:buFont typeface="Arial"/>
              <a:buChar char="•"/>
            </a:pPr>
            <a:r>
              <a:rPr lang="en-US" sz="2600" b="0" i="0" u="none" strike="noStrike" cap="none">
                <a:solidFill>
                  <a:srgbClr val="7030A0"/>
                </a:solidFill>
                <a:latin typeface="Calibri"/>
                <a:ea typeface="Calibri"/>
                <a:cs typeface="Calibri"/>
                <a:sym typeface="Calibri"/>
              </a:rPr>
              <a:t>Step 1: Assess area’s existing need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g8701af7b45_0_3"/>
          <p:cNvSpPr/>
          <p:nvPr/>
        </p:nvSpPr>
        <p:spPr>
          <a:xfrm>
            <a:off x="3221575" y="2088678"/>
            <a:ext cx="414900" cy="369300"/>
          </a:xfrm>
          <a:prstGeom prst="downArrow">
            <a:avLst>
              <a:gd name="adj1" fmla="val 50000"/>
              <a:gd name="adj2" fmla="val 50000"/>
            </a:avLst>
          </a:prstGeom>
          <a:solidFill>
            <a:srgbClr val="A5A5A5"/>
          </a:solidFill>
          <a:ln w="9525" cap="flat" cmpd="sng">
            <a:solidFill>
              <a:srgbClr val="4A7DBA"/>
            </a:solidFill>
            <a:prstDash val="solid"/>
            <a:round/>
            <a:headEnd type="none" w="sm" len="sm"/>
            <a:tailEnd type="none" w="sm" len="sm"/>
          </a:ln>
          <a:effectLst>
            <a:outerShdw blurRad="40000" dist="23000" dir="5400000" rotWithShape="0">
              <a:srgbClr val="000000">
                <a:alpha val="3294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aphicFrame>
        <p:nvGraphicFramePr>
          <p:cNvPr id="500" name="Google Shape;500;g8701af7b45_0_3"/>
          <p:cNvGraphicFramePr/>
          <p:nvPr/>
        </p:nvGraphicFramePr>
        <p:xfrm>
          <a:off x="555604" y="3472437"/>
          <a:ext cx="6158475" cy="4610495"/>
        </p:xfrm>
        <a:graphic>
          <a:graphicData uri="http://schemas.openxmlformats.org/drawingml/2006/table">
            <a:tbl>
              <a:tblPr firstRow="1" bandRow="1">
                <a:noFill/>
                <a:tableStyleId>{CAC760E6-1B21-447E-AD2F-912B2140AA3E}</a:tableStyleId>
              </a:tblPr>
              <a:tblGrid>
                <a:gridCol w="1290125">
                  <a:extLst>
                    <a:ext uri="{9D8B030D-6E8A-4147-A177-3AD203B41FA5}">
                      <a16:colId xmlns:a16="http://schemas.microsoft.com/office/drawing/2014/main" val="20000"/>
                    </a:ext>
                  </a:extLst>
                </a:gridCol>
                <a:gridCol w="1513725">
                  <a:extLst>
                    <a:ext uri="{9D8B030D-6E8A-4147-A177-3AD203B41FA5}">
                      <a16:colId xmlns:a16="http://schemas.microsoft.com/office/drawing/2014/main" val="20001"/>
                    </a:ext>
                  </a:extLst>
                </a:gridCol>
                <a:gridCol w="1629525">
                  <a:extLst>
                    <a:ext uri="{9D8B030D-6E8A-4147-A177-3AD203B41FA5}">
                      <a16:colId xmlns:a16="http://schemas.microsoft.com/office/drawing/2014/main" val="20002"/>
                    </a:ext>
                  </a:extLst>
                </a:gridCol>
                <a:gridCol w="1725100">
                  <a:extLst>
                    <a:ext uri="{9D8B030D-6E8A-4147-A177-3AD203B41FA5}">
                      <a16:colId xmlns:a16="http://schemas.microsoft.com/office/drawing/2014/main" val="20003"/>
                    </a:ext>
                  </a:extLst>
                </a:gridCol>
              </a:tblGrid>
              <a:tr h="569500">
                <a:tc>
                  <a:txBody>
                    <a:bodyPr/>
                    <a:lstStyle/>
                    <a:p>
                      <a:pPr marL="0" marR="0" lvl="0" indent="0" algn="ctr" rtl="0">
                        <a:lnSpc>
                          <a:spcPct val="100000"/>
                        </a:lnSpc>
                        <a:spcBef>
                          <a:spcPts val="0"/>
                        </a:spcBef>
                        <a:spcAft>
                          <a:spcPts val="0"/>
                        </a:spcAft>
                        <a:buClr>
                          <a:srgbClr val="000000"/>
                        </a:buClr>
                        <a:buSzPts val="2400"/>
                        <a:buFont typeface="Arial"/>
                        <a:buNone/>
                      </a:pPr>
                      <a:endParaRPr sz="2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Below Average</a:t>
                      </a:r>
                      <a:endParaRPr sz="2400" b="0" u="none" strike="noStrike" cap="none">
                        <a:solidFill>
                          <a:srgbClr val="00B050"/>
                        </a:solidFill>
                      </a:endParaRPr>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Average</a:t>
                      </a:r>
                      <a:endParaRPr sz="2400" b="0" u="none" strike="noStrike" cap="none">
                        <a:solidFill>
                          <a:srgbClr val="00B050"/>
                        </a:solidFill>
                      </a:endParaRPr>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Above Average</a:t>
                      </a:r>
                      <a:endParaRPr sz="2400" b="0" u="none" strike="noStrike" cap="none">
                        <a:solidFill>
                          <a:srgbClr val="00B050"/>
                        </a:solidFill>
                      </a:endParaRPr>
                    </a:p>
                  </a:txBody>
                  <a:tcPr marL="84800" marR="84800" marT="42400" marB="42400"/>
                </a:tc>
                <a:extLst>
                  <a:ext uri="{0D108BD9-81ED-4DB2-BD59-A6C34878D82A}">
                    <a16:rowId xmlns:a16="http://schemas.microsoft.com/office/drawing/2014/main" val="10000"/>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High</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extLst>
                  <a:ext uri="{0D108BD9-81ED-4DB2-BD59-A6C34878D82A}">
                    <a16:rowId xmlns:a16="http://schemas.microsoft.com/office/drawing/2014/main" val="10001"/>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Medium</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Better</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Good</a:t>
                      </a:r>
                      <a:endParaRPr sz="1400" u="none" strike="noStrike" cap="none"/>
                    </a:p>
                  </a:txBody>
                  <a:tcPr marL="84800" marR="84800" marT="42400" marB="42400"/>
                </a:tc>
                <a:extLst>
                  <a:ext uri="{0D108BD9-81ED-4DB2-BD59-A6C34878D82A}">
                    <a16:rowId xmlns:a16="http://schemas.microsoft.com/office/drawing/2014/main" val="10002"/>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Low</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Better</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Good</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Minimal potential for benefit</a:t>
                      </a:r>
                      <a:endParaRPr sz="1400" u="none" strike="noStrike" cap="none"/>
                    </a:p>
                  </a:txBody>
                  <a:tcPr marL="84800" marR="84800" marT="42400" marB="42400"/>
                </a:tc>
                <a:extLst>
                  <a:ext uri="{0D108BD9-81ED-4DB2-BD59-A6C34878D82A}">
                    <a16:rowId xmlns:a16="http://schemas.microsoft.com/office/drawing/2014/main" val="10003"/>
                  </a:ext>
                </a:extLst>
              </a:tr>
            </a:tbl>
          </a:graphicData>
        </a:graphic>
      </p:graphicFrame>
      <p:sp>
        <p:nvSpPr>
          <p:cNvPr id="501" name="Google Shape;501;g8701af7b45_0_3"/>
          <p:cNvSpPr txBox="1"/>
          <p:nvPr/>
        </p:nvSpPr>
        <p:spPr>
          <a:xfrm>
            <a:off x="1861498" y="2655001"/>
            <a:ext cx="3546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9051"/>
                </a:solidFill>
                <a:latin typeface="Calibri"/>
                <a:ea typeface="Calibri"/>
                <a:cs typeface="Calibri"/>
                <a:sym typeface="Calibri"/>
              </a:rPr>
              <a:t>Existing Infrastructure </a:t>
            </a:r>
            <a:endParaRPr sz="1400" b="0" i="0" u="none" strike="noStrike" cap="none">
              <a:solidFill>
                <a:srgbClr val="000000"/>
              </a:solidFill>
              <a:latin typeface="Arial"/>
              <a:ea typeface="Arial"/>
              <a:cs typeface="Arial"/>
              <a:sym typeface="Arial"/>
            </a:endParaRPr>
          </a:p>
        </p:txBody>
      </p:sp>
      <p:sp>
        <p:nvSpPr>
          <p:cNvPr id="502" name="Google Shape;502;g8701af7b45_0_3"/>
          <p:cNvSpPr txBox="1"/>
          <p:nvPr/>
        </p:nvSpPr>
        <p:spPr>
          <a:xfrm rot="-5400000">
            <a:off x="-1959671" y="5516123"/>
            <a:ext cx="4610400" cy="523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7030A0"/>
                </a:solidFill>
                <a:latin typeface="Calibri"/>
                <a:ea typeface="Calibri"/>
                <a:cs typeface="Calibri"/>
                <a:sym typeface="Calibri"/>
              </a:rPr>
              <a:t>Area Existing Need</a:t>
            </a:r>
            <a:endParaRPr sz="1400" b="0" i="0" u="none" strike="noStrike" cap="none">
              <a:solidFill>
                <a:srgbClr val="000000"/>
              </a:solidFill>
              <a:latin typeface="Arial"/>
              <a:ea typeface="Arial"/>
              <a:cs typeface="Arial"/>
              <a:sym typeface="Arial"/>
            </a:endParaRPr>
          </a:p>
        </p:txBody>
      </p:sp>
      <p:sp>
        <p:nvSpPr>
          <p:cNvPr id="504" name="Google Shape;504;g8701af7b45_0_3"/>
          <p:cNvSpPr txBox="1"/>
          <p:nvPr/>
        </p:nvSpPr>
        <p:spPr>
          <a:xfrm>
            <a:off x="0" y="0"/>
            <a:ext cx="6858000" cy="719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900"/>
              <a:buFont typeface="Arial"/>
              <a:buNone/>
            </a:pPr>
            <a:r>
              <a:rPr lang="en-US" sz="3900" b="0" i="0" u="none" strike="noStrike" cap="none">
                <a:solidFill>
                  <a:schemeClr val="dk1"/>
                </a:solidFill>
                <a:latin typeface="Calibri"/>
                <a:ea typeface="Calibri"/>
                <a:cs typeface="Calibri"/>
                <a:sym typeface="Calibri"/>
              </a:rPr>
              <a:t>Assess Existing Need</a:t>
            </a:r>
            <a:endParaRPr sz="3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Calibri"/>
              <a:ea typeface="Calibri"/>
              <a:cs typeface="Calibri"/>
              <a:sym typeface="Calibri"/>
            </a:endParaRPr>
          </a:p>
        </p:txBody>
      </p:sp>
      <p:sp>
        <p:nvSpPr>
          <p:cNvPr id="505" name="Google Shape;505;g8701af7b45_0_3"/>
          <p:cNvSpPr/>
          <p:nvPr/>
        </p:nvSpPr>
        <p:spPr>
          <a:xfrm>
            <a:off x="666850" y="841800"/>
            <a:ext cx="5740500" cy="3693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g8701af7b45_0_3"/>
          <p:cNvSpPr/>
          <p:nvPr/>
        </p:nvSpPr>
        <p:spPr>
          <a:xfrm>
            <a:off x="590650" y="4314775"/>
            <a:ext cx="1193400" cy="37605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g8701af7b45_0_3"/>
          <p:cNvSpPr txBox="1"/>
          <p:nvPr/>
        </p:nvSpPr>
        <p:spPr>
          <a:xfrm>
            <a:off x="666850" y="1275075"/>
            <a:ext cx="5740500" cy="841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a:solidFill>
                  <a:schemeClr val="dk1"/>
                </a:solidFill>
                <a:latin typeface="Calibri"/>
                <a:ea typeface="Calibri"/>
                <a:cs typeface="Calibri"/>
                <a:sym typeface="Calibri"/>
              </a:rPr>
              <a:t>Add up all the points for Step 1 to determine if need is “High,” “Medium,” or “Low”</a:t>
            </a:r>
            <a:endParaRPr sz="1600" b="0" i="1" u="none" strike="noStrike" cap="none">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5C866010-FCC2-8B49-A860-7E60DCD83F07}"/>
              </a:ext>
            </a:extLst>
          </p:cNvPr>
          <p:cNvSpPr>
            <a:spLocks noGrp="1"/>
          </p:cNvSpPr>
          <p:nvPr>
            <p:ph type="ftr" idx="11"/>
          </p:nvPr>
        </p:nvSpPr>
        <p:spPr/>
        <p:txBody>
          <a:bodyPr/>
          <a:lstStyle/>
          <a:p>
            <a:r>
              <a:rPr lang="en-US"/>
              <a:t>V9B</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4" name="Google Shape;514;p5"/>
          <p:cNvSpPr/>
          <p:nvPr/>
        </p:nvSpPr>
        <p:spPr>
          <a:xfrm>
            <a:off x="169185" y="420753"/>
            <a:ext cx="63892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rgbClr val="009051"/>
                </a:solidFill>
                <a:latin typeface="Calibri"/>
                <a:ea typeface="Calibri"/>
                <a:cs typeface="Calibri"/>
                <a:sym typeface="Calibri"/>
              </a:rPr>
              <a:t>Step 2: Assess existing infrastructure</a:t>
            </a:r>
            <a:endParaRPr sz="2800" b="0" i="0" u="none" strike="noStrike" cap="none">
              <a:solidFill>
                <a:srgbClr val="7030A0"/>
              </a:solidFill>
              <a:latin typeface="Calibri"/>
              <a:ea typeface="Calibri"/>
              <a:cs typeface="Calibri"/>
              <a:sym typeface="Calibri"/>
            </a:endParaRPr>
          </a:p>
        </p:txBody>
      </p:sp>
      <p:graphicFrame>
        <p:nvGraphicFramePr>
          <p:cNvPr id="516" name="Google Shape;516;p5"/>
          <p:cNvGraphicFramePr/>
          <p:nvPr>
            <p:extLst>
              <p:ext uri="{D42A27DB-BD31-4B8C-83A1-F6EECF244321}">
                <p14:modId xmlns:p14="http://schemas.microsoft.com/office/powerpoint/2010/main" val="497321016"/>
              </p:ext>
            </p:extLst>
          </p:nvPr>
        </p:nvGraphicFramePr>
        <p:xfrm>
          <a:off x="322695" y="1510145"/>
          <a:ext cx="6235700" cy="5461790"/>
        </p:xfrm>
        <a:graphic>
          <a:graphicData uri="http://schemas.openxmlformats.org/drawingml/2006/table">
            <a:tbl>
              <a:tblPr firstRow="1" bandRow="1">
                <a:noFill/>
                <a:tableStyleId>{CAC760E6-1B21-447E-AD2F-912B2140AA3E}</a:tableStyleId>
              </a:tblPr>
              <a:tblGrid>
                <a:gridCol w="5599675">
                  <a:extLst>
                    <a:ext uri="{9D8B030D-6E8A-4147-A177-3AD203B41FA5}">
                      <a16:colId xmlns:a16="http://schemas.microsoft.com/office/drawing/2014/main" val="20000"/>
                    </a:ext>
                  </a:extLst>
                </a:gridCol>
                <a:gridCol w="636025">
                  <a:extLst>
                    <a:ext uri="{9D8B030D-6E8A-4147-A177-3AD203B41FA5}">
                      <a16:colId xmlns:a16="http://schemas.microsoft.com/office/drawing/2014/main" val="20001"/>
                    </a:ext>
                  </a:extLst>
                </a:gridCol>
              </a:tblGrid>
              <a:tr h="3997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infrastructure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1312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S2Q1: What is the National Walkability Index Score</a:t>
                      </a:r>
                      <a:r>
                        <a:rPr lang="en-US" sz="1100" b="0" i="0" u="none" strike="noStrike" cap="none"/>
                        <a:t>?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National Walkability Score, available here:</a:t>
                      </a:r>
                      <a:r>
                        <a:rPr lang="en-US" sz="1400" u="none" strike="noStrike" cap="none"/>
                        <a:t> </a:t>
                      </a:r>
                      <a:r>
                        <a:rPr lang="en-US" sz="1100" u="sng" strike="noStrike" cap="none">
                          <a:solidFill>
                            <a:schemeClr val="hlink"/>
                          </a:solidFill>
                          <a:latin typeface="Arial"/>
                          <a:ea typeface="Arial"/>
                          <a:cs typeface="Arial"/>
                          <a:sym typeface="Arial"/>
                          <a:hlinkClick r:id="rId3"/>
                        </a:rPr>
                        <a:t>https://geodata.epa.gov/arcgis/rest/services/OA/WalkabilityIndex/MapServer</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Index:         1-5.75                               5.76-10.5                           10.51-15.25                           15.26-20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3.125                                   6.25                                      9.375                                      12.5</a:t>
                      </a:r>
                      <a:endParaRPr sz="1400" u="none" strike="noStrike" cap="none"/>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/12.5</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1"/>
                  </a:ext>
                </a:extLst>
              </a:tr>
              <a:tr h="96312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dirty="0"/>
                        <a:t>S2Q2: </a:t>
                      </a:r>
                      <a:r>
                        <a:rPr lang="en-US" sz="1100" b="0" i="0" u="none" strike="noStrike" cap="none" dirty="0"/>
                        <a:t>What is the level of comfort on the closest collector or arterial roadway segment(s)?</a:t>
                      </a:r>
                      <a:endParaRPr sz="1400" u="none" strike="noStrike" cap="none" dirty="0"/>
                    </a:p>
                    <a:p>
                      <a:pPr marL="0" marR="0" lvl="0" indent="0" algn="l" rtl="0">
                        <a:lnSpc>
                          <a:spcPct val="100000"/>
                        </a:lnSpc>
                        <a:spcBef>
                          <a:spcPts val="0"/>
                        </a:spcBef>
                        <a:spcAft>
                          <a:spcPts val="0"/>
                        </a:spcAft>
                        <a:buClr>
                          <a:schemeClr val="dk1"/>
                        </a:buClr>
                        <a:buSzPts val="1100"/>
                        <a:buFont typeface="Calibri"/>
                        <a:buNone/>
                      </a:pPr>
                      <a:endParaRPr sz="1100" b="0" i="0" u="none" strike="noStrike" cap="none" dirty="0"/>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dirty="0">
                          <a:solidFill>
                            <a:srgbClr val="0432FF"/>
                          </a:solidFill>
                        </a:rPr>
                        <a:t>(use RTC Ped/Bike Plan Level of Comfort Online Tool,, available here: </a:t>
                      </a:r>
                      <a:r>
                        <a:rPr lang="en-US" sz="1100" u="sng" strike="noStrike" cap="none" dirty="0">
                          <a:solidFill>
                            <a:schemeClr val="hlink"/>
                          </a:solidFill>
                        </a:rPr>
                        <a:t>https://</a:t>
                      </a:r>
                      <a:r>
                        <a:rPr lang="en-US" sz="1100" u="sng" strike="noStrike" cap="none" dirty="0" err="1">
                          <a:solidFill>
                            <a:schemeClr val="hlink"/>
                          </a:solidFill>
                        </a:rPr>
                        <a:t>rtcsnv.maps.arcgis.com</a:t>
                      </a:r>
                      <a:r>
                        <a:rPr lang="en-US" sz="1100" u="sng" strike="noStrike" cap="none" dirty="0">
                          <a:solidFill>
                            <a:schemeClr val="hlink"/>
                          </a:solidFill>
                        </a:rPr>
                        <a:t>/apps/</a:t>
                      </a:r>
                      <a:r>
                        <a:rPr lang="en-US" sz="1100" u="sng" strike="noStrike" cap="none" dirty="0" err="1">
                          <a:solidFill>
                            <a:schemeClr val="hlink"/>
                          </a:solidFill>
                        </a:rPr>
                        <a:t>webappviewer</a:t>
                      </a:r>
                      <a:r>
                        <a:rPr lang="en-US" sz="1100" u="sng" strike="noStrike" cap="none" dirty="0">
                          <a:solidFill>
                            <a:schemeClr val="hlink"/>
                          </a:solidFill>
                        </a:rPr>
                        <a:t>/</a:t>
                      </a:r>
                      <a:r>
                        <a:rPr lang="en-US" sz="1100" u="sng" strike="noStrike" cap="none" dirty="0" err="1">
                          <a:solidFill>
                            <a:schemeClr val="hlink"/>
                          </a:solidFill>
                        </a:rPr>
                        <a:t>index.html?id</a:t>
                      </a:r>
                      <a:r>
                        <a:rPr lang="en-US" sz="1100" u="sng" strike="noStrike" cap="none" dirty="0">
                          <a:solidFill>
                            <a:schemeClr val="hlink"/>
                          </a:solidFill>
                        </a:rPr>
                        <a:t>=f3ee5b445fdf48d18e6969ef106c5e09</a:t>
                      </a:r>
                      <a:r>
                        <a:rPr lang="en-US" sz="1100" u="none" strike="noStrike" cap="none" dirty="0">
                          <a:solidFill>
                            <a:srgbClr val="0432FF"/>
                          </a:solidFill>
                        </a:rPr>
                        <a:t>)</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dirty="0">
                          <a:solidFill>
                            <a:srgbClr val="FF0000"/>
                          </a:solidFill>
                        </a:rPr>
                        <a:t> </a:t>
                      </a:r>
                      <a:endParaRPr sz="1400" u="none" strike="noStrike" cap="none" dirty="0"/>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Comfort:            Level 4                              Level 3                                Level 2                             Level 1</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3.125                                   6.25                                      9.375                                12.5</a:t>
                      </a:r>
                      <a:endParaRPr sz="1400" u="none" strike="noStrike" cap="none" dirty="0"/>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/12.5</a:t>
                      </a:r>
                      <a:endParaRPr sz="1400" u="none" strike="noStrike" cap="none"/>
                    </a:p>
                  </a:txBody>
                  <a:tcPr marL="68575" marR="68575" marT="60950" marB="60950"/>
                </a:tc>
                <a:extLst>
                  <a:ext uri="{0D108BD9-81ED-4DB2-BD59-A6C34878D82A}">
                    <a16:rowId xmlns:a16="http://schemas.microsoft.com/office/drawing/2014/main" val="10002"/>
                  </a:ext>
                </a:extLst>
              </a:tr>
              <a:tr h="794950">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a:solidFill>
                            <a:srgbClr val="000000"/>
                          </a:solidFill>
                        </a:rPr>
                        <a:t>S2Q3: </a:t>
                      </a:r>
                      <a:r>
                        <a:rPr lang="en-US" sz="1100" b="0" u="none" strike="noStrike" cap="none">
                          <a:solidFill>
                            <a:srgbClr val="000000"/>
                          </a:solidFill>
                        </a:rPr>
                        <a:t>What is the average </a:t>
                      </a:r>
                      <a:r>
                        <a:rPr lang="en-US" sz="1100" u="none" strike="noStrike" cap="none">
                          <a:solidFill>
                            <a:srgbClr val="000000"/>
                          </a:solidFill>
                        </a:rPr>
                        <a:t>Microscale Audit of Pedestrian Streetscapes (</a:t>
                      </a:r>
                      <a:r>
                        <a:rPr lang="en-US" sz="1100" b="0" u="none" strike="noStrike" cap="none">
                          <a:solidFill>
                            <a:srgbClr val="000000"/>
                          </a:solidFill>
                        </a:rPr>
                        <a:t>MAPS) mini score for all of the segments in the project area?</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u="none" strike="noStrike" cap="none">
                        <a:solidFill>
                          <a:srgbClr val="000000"/>
                        </a:solidFill>
                      </a:endParaRPr>
                    </a:p>
                    <a:p>
                      <a:pPr marL="0" marR="0" lvl="0" indent="0" algn="l" rtl="0">
                        <a:lnSpc>
                          <a:spcPct val="100000"/>
                        </a:lnSpc>
                        <a:spcBef>
                          <a:spcPts val="0"/>
                        </a:spcBef>
                        <a:spcAft>
                          <a:spcPts val="0"/>
                        </a:spcAft>
                        <a:buClr>
                          <a:srgbClr val="0432FF"/>
                        </a:buClr>
                        <a:buSzPts val="1100"/>
                        <a:buFont typeface="Calibri"/>
                        <a:buNone/>
                      </a:pPr>
                      <a:r>
                        <a:rPr lang="en-US" sz="1100" b="0" u="none" strike="noStrike" cap="none">
                          <a:solidFill>
                            <a:srgbClr val="0432FF"/>
                          </a:solidFill>
                        </a:rPr>
                        <a:t>(conduct MAPS mini for each segment and then average them to get a MAPS mini score. Resources available here: </a:t>
                      </a:r>
                      <a:r>
                        <a:rPr lang="en-US" sz="1100" u="sng" strike="noStrike" cap="none">
                          <a:solidFill>
                            <a:schemeClr val="hlink"/>
                          </a:solidFill>
                          <a:latin typeface="Arial"/>
                          <a:ea typeface="Arial"/>
                          <a:cs typeface="Arial"/>
                          <a:sym typeface="Arial"/>
                          <a:hlinkClick r:id="rId4"/>
                        </a:rPr>
                        <a:t>https://drjimsallis.org/measure_maps.html#MAPSMINI</a:t>
                      </a:r>
                      <a:r>
                        <a:rPr lang="en-US" sz="1100" u="none" strike="noStrike" cap="none">
                          <a:solidFill>
                            <a:srgbClr val="0432FF"/>
                          </a:solidFill>
                        </a:rPr>
                        <a:t>. </a:t>
                      </a:r>
                      <a:endParaRPr sz="1100" b="1" u="none" strike="noStrike" cap="none">
                        <a:solidFill>
                          <a:srgbClr val="0432FF"/>
                        </a:solidFill>
                      </a:endParaRPr>
                    </a:p>
                    <a:p>
                      <a:pPr marL="0" marR="0" lvl="0" indent="0" algn="l" rtl="0">
                        <a:lnSpc>
                          <a:spcPct val="100000"/>
                        </a:lnSpc>
                        <a:spcBef>
                          <a:spcPts val="0"/>
                        </a:spcBef>
                        <a:spcAft>
                          <a:spcPts val="0"/>
                        </a:spcAft>
                        <a:buClr>
                          <a:schemeClr val="dk1"/>
                        </a:buClr>
                        <a:buSzPts val="1100"/>
                        <a:buFont typeface="Calibri"/>
                        <a:buNone/>
                      </a:pPr>
                      <a:endParaRPr sz="1100" b="1" u="none" strike="noStrike" cap="none">
                        <a:solidFill>
                          <a:srgbClr val="000000"/>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MAPS Mini Score:   0-1      2-3      4-5    6-7     8-9     10-11   12-13   14-15     16-17     18-19   20-21   </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0          2.5       5      7.5       10       12.5      15        17.5         20         22.5         25                                        </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/25</a:t>
                      </a:r>
                      <a:endParaRPr sz="1400" u="none" strike="noStrike" cap="none"/>
                    </a:p>
                  </a:txBody>
                  <a:tcPr marL="68575" marR="68575" marT="60950" marB="60950"/>
                </a:tc>
                <a:extLst>
                  <a:ext uri="{0D108BD9-81ED-4DB2-BD59-A6C34878D82A}">
                    <a16:rowId xmlns:a16="http://schemas.microsoft.com/office/drawing/2014/main" val="10003"/>
                  </a:ext>
                </a:extLst>
              </a:tr>
              <a:tr h="794950">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Step 2 Points</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dirty="0">
                          <a:solidFill>
                            <a:srgbClr val="FF0000"/>
                          </a:solidFill>
                        </a:rPr>
                        <a:t>0-17 points: Below Average</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dirty="0">
                          <a:solidFill>
                            <a:srgbClr val="FF0000"/>
                          </a:solidFill>
                        </a:rPr>
                        <a:t>18-32 points: Average</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dirty="0">
                          <a:solidFill>
                            <a:srgbClr val="FF0000"/>
                          </a:solidFill>
                        </a:rPr>
                        <a:t>33-50: Above Average</a:t>
                      </a:r>
                      <a:endParaRPr sz="1400" u="none" strike="noStrike" cap="none" dirty="0"/>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/50</a:t>
                      </a:r>
                      <a:endParaRPr sz="1400" u="none" strike="noStrike" cap="none" dirty="0"/>
                    </a:p>
                  </a:txBody>
                  <a:tcPr marL="68575" marR="68575" marT="60950" marB="60950"/>
                </a:tc>
                <a:extLst>
                  <a:ext uri="{0D108BD9-81ED-4DB2-BD59-A6C34878D82A}">
                    <a16:rowId xmlns:a16="http://schemas.microsoft.com/office/drawing/2014/main" val="10004"/>
                  </a:ext>
                </a:extLst>
              </a:tr>
            </a:tbl>
          </a:graphicData>
        </a:graphic>
      </p:graphicFrame>
      <p:sp>
        <p:nvSpPr>
          <p:cNvPr id="2" name="Footer Placeholder 1">
            <a:extLst>
              <a:ext uri="{FF2B5EF4-FFF2-40B4-BE49-F238E27FC236}">
                <a16:creationId xmlns:a16="http://schemas.microsoft.com/office/drawing/2014/main" id="{BA763852-1D04-6B40-9DF6-11A124FACD7B}"/>
              </a:ext>
            </a:extLst>
          </p:cNvPr>
          <p:cNvSpPr>
            <a:spLocks noGrp="1"/>
          </p:cNvSpPr>
          <p:nvPr>
            <p:ph type="ftr" idx="11"/>
          </p:nvPr>
        </p:nvSpPr>
        <p:spPr/>
        <p:txBody>
          <a:bodyPr/>
          <a:lstStyle/>
          <a:p>
            <a:r>
              <a:rPr lang="en-US"/>
              <a:t>V9B</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g783ce67ac1_0_242"/>
          <p:cNvSpPr txBox="1">
            <a:spLocks noGrp="1"/>
          </p:cNvSpPr>
          <p:nvPr>
            <p:ph type="title"/>
          </p:nvPr>
        </p:nvSpPr>
        <p:spPr>
          <a:xfrm>
            <a:off x="342900" y="190500"/>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000"/>
              <a:t>S2Q1 Instructions</a:t>
            </a:r>
            <a:endParaRPr sz="4000"/>
          </a:p>
        </p:txBody>
      </p:sp>
      <p:sp>
        <p:nvSpPr>
          <p:cNvPr id="523" name="Google Shape;523;g783ce67ac1_0_242"/>
          <p:cNvSpPr txBox="1">
            <a:spLocks noGrp="1"/>
          </p:cNvSpPr>
          <p:nvPr>
            <p:ph type="body" idx="1"/>
          </p:nvPr>
        </p:nvSpPr>
        <p:spPr>
          <a:xfrm>
            <a:off x="342900" y="1019175"/>
            <a:ext cx="6172200" cy="7020000"/>
          </a:xfrm>
          <a:prstGeom prst="rect">
            <a:avLst/>
          </a:prstGeom>
          <a:noFill/>
          <a:ln>
            <a:noFill/>
          </a:ln>
        </p:spPr>
        <p:txBody>
          <a:bodyPr spcFirstLastPara="1" wrap="square" lIns="91425" tIns="45700" rIns="91425" bIns="45700" anchor="t" anchorCtr="0">
            <a:noAutofit/>
          </a:bodyPr>
          <a:lstStyle/>
          <a:p>
            <a:pPr marL="457200" lvl="0" indent="-361950" algn="l" rtl="0">
              <a:lnSpc>
                <a:spcPct val="115000"/>
              </a:lnSpc>
              <a:spcBef>
                <a:spcPts val="0"/>
              </a:spcBef>
              <a:spcAft>
                <a:spcPts val="0"/>
              </a:spcAft>
              <a:buSzPts val="2100"/>
              <a:buChar char="●"/>
            </a:pPr>
            <a:r>
              <a:rPr lang="en-US" sz="2100" dirty="0">
                <a:solidFill>
                  <a:srgbClr val="000000"/>
                </a:solidFill>
              </a:rPr>
              <a:t>Click the link provided for the U.S. Environmental Protection Agency (EPA) National Walkability Score, available </a:t>
            </a:r>
            <a:r>
              <a:rPr lang="en-US" sz="2100" u="sng" dirty="0">
                <a:solidFill>
                  <a:schemeClr val="hlink"/>
                </a:solidFill>
                <a:hlinkClick r:id="rId3"/>
              </a:rPr>
              <a:t>here</a:t>
            </a:r>
            <a:r>
              <a:rPr lang="en-US" sz="2100" dirty="0">
                <a:solidFill>
                  <a:srgbClr val="000000"/>
                </a:solidFill>
              </a:rPr>
              <a:t>. </a:t>
            </a:r>
            <a:endParaRPr sz="2100" dirty="0">
              <a:solidFill>
                <a:srgbClr val="000000"/>
              </a:solidFill>
            </a:endParaRPr>
          </a:p>
          <a:p>
            <a:pPr marL="457200" lvl="0" indent="-349250" algn="l" rtl="0">
              <a:lnSpc>
                <a:spcPct val="115000"/>
              </a:lnSpc>
              <a:spcBef>
                <a:spcPts val="0"/>
              </a:spcBef>
              <a:spcAft>
                <a:spcPts val="0"/>
              </a:spcAft>
              <a:buSzPts val="1900"/>
              <a:buChar char="●"/>
            </a:pPr>
            <a:r>
              <a:rPr lang="en-US" sz="1900" dirty="0"/>
              <a:t>Next to “View In,” select “ArcGIS Online Map Viewer” </a:t>
            </a:r>
            <a:endParaRPr sz="1900" b="1" i="1" dirty="0"/>
          </a:p>
          <a:p>
            <a:pPr marL="457200" lvl="0" indent="-361950" algn="l" rtl="0">
              <a:lnSpc>
                <a:spcPct val="115000"/>
              </a:lnSpc>
              <a:spcBef>
                <a:spcPts val="0"/>
              </a:spcBef>
              <a:spcAft>
                <a:spcPts val="0"/>
              </a:spcAft>
              <a:buSzPts val="2100"/>
              <a:buChar char="●"/>
            </a:pPr>
            <a:r>
              <a:rPr lang="en-US" sz="2100" dirty="0"/>
              <a:t>Enter the address for project area inside the text box on the top right.</a:t>
            </a:r>
            <a:endParaRPr sz="2100" b="1" i="1" dirty="0"/>
          </a:p>
          <a:p>
            <a:pPr marL="457200" lvl="0" indent="-361950" algn="l" rtl="0">
              <a:lnSpc>
                <a:spcPct val="115000"/>
              </a:lnSpc>
              <a:spcBef>
                <a:spcPts val="0"/>
              </a:spcBef>
              <a:spcAft>
                <a:spcPts val="0"/>
              </a:spcAft>
              <a:buSzPts val="2100"/>
              <a:buChar char="●"/>
            </a:pPr>
            <a:r>
              <a:rPr lang="en-US" sz="2100" dirty="0"/>
              <a:t>On the left, click on “</a:t>
            </a:r>
            <a:r>
              <a:rPr lang="en-US" sz="2100" dirty="0" err="1"/>
              <a:t>Basemap</a:t>
            </a:r>
            <a:r>
              <a:rPr lang="en-US" sz="2100" dirty="0"/>
              <a:t>” and select “Imagery Hybrid.”</a:t>
            </a:r>
            <a:endParaRPr sz="2100" dirty="0">
              <a:solidFill>
                <a:srgbClr val="000000"/>
              </a:solidFill>
            </a:endParaRPr>
          </a:p>
          <a:p>
            <a:pPr marL="457200" lvl="0" indent="-361950" algn="l" rtl="0">
              <a:lnSpc>
                <a:spcPct val="115000"/>
              </a:lnSpc>
              <a:spcBef>
                <a:spcPts val="0"/>
              </a:spcBef>
              <a:spcAft>
                <a:spcPts val="0"/>
              </a:spcAft>
              <a:buClr>
                <a:srgbClr val="000000"/>
              </a:buClr>
              <a:buSzPts val="2100"/>
              <a:buChar char="●"/>
            </a:pPr>
            <a:r>
              <a:rPr lang="en-US" sz="2100" dirty="0">
                <a:solidFill>
                  <a:srgbClr val="000000"/>
                </a:solidFill>
              </a:rPr>
              <a:t>The Index will be color-coded by area.</a:t>
            </a:r>
            <a:endParaRPr sz="2100" dirty="0">
              <a:solidFill>
                <a:srgbClr val="000000"/>
              </a:solidFill>
            </a:endParaRPr>
          </a:p>
          <a:p>
            <a:pPr marL="457200" lvl="0" indent="-361950" algn="l" rtl="0">
              <a:lnSpc>
                <a:spcPct val="107000"/>
              </a:lnSpc>
              <a:spcBef>
                <a:spcPts val="0"/>
              </a:spcBef>
              <a:spcAft>
                <a:spcPts val="0"/>
              </a:spcAft>
              <a:buClr>
                <a:srgbClr val="000000"/>
              </a:buClr>
              <a:buSzPts val="2100"/>
              <a:buChar char="●"/>
            </a:pPr>
            <a:r>
              <a:rPr lang="en-US" sz="2100" dirty="0">
                <a:solidFill>
                  <a:srgbClr val="000000"/>
                </a:solidFill>
              </a:rPr>
              <a:t> Select the “Legend” menu.</a:t>
            </a:r>
            <a:endParaRPr sz="2100" dirty="0">
              <a:solidFill>
                <a:srgbClr val="000000"/>
              </a:solidFill>
            </a:endParaRPr>
          </a:p>
          <a:p>
            <a:pPr marL="914400" lvl="1" indent="-361950" algn="l" rtl="0">
              <a:lnSpc>
                <a:spcPct val="107000"/>
              </a:lnSpc>
              <a:spcBef>
                <a:spcPts val="0"/>
              </a:spcBef>
              <a:spcAft>
                <a:spcPts val="0"/>
              </a:spcAft>
              <a:buClr>
                <a:srgbClr val="000000"/>
              </a:buClr>
              <a:buSzPts val="2100"/>
              <a:buChar char="○"/>
            </a:pPr>
            <a:r>
              <a:rPr lang="en-US" sz="2100" dirty="0">
                <a:solidFill>
                  <a:srgbClr val="000000"/>
                </a:solidFill>
              </a:rPr>
              <a:t>For value(s), cross-reference color(s) in the project area with the color/number range in the map key.</a:t>
            </a:r>
            <a:endParaRPr sz="2100" dirty="0">
              <a:solidFill>
                <a:srgbClr val="000000"/>
              </a:solidFill>
            </a:endParaRPr>
          </a:p>
          <a:p>
            <a:pPr marL="914400" lvl="1" indent="-361950" algn="l" rtl="0">
              <a:lnSpc>
                <a:spcPct val="107000"/>
              </a:lnSpc>
              <a:spcBef>
                <a:spcPts val="0"/>
              </a:spcBef>
              <a:spcAft>
                <a:spcPts val="0"/>
              </a:spcAft>
              <a:buClr>
                <a:srgbClr val="000000"/>
              </a:buClr>
              <a:buSzPts val="2100"/>
              <a:buChar char="○"/>
            </a:pPr>
            <a:r>
              <a:rPr lang="en-US" sz="2100" dirty="0">
                <a:solidFill>
                  <a:srgbClr val="000000"/>
                </a:solidFill>
              </a:rPr>
              <a:t>If the project area is straddles multiple color-coded zones in the map view, compute the average. </a:t>
            </a:r>
            <a:endParaRPr sz="2100" dirty="0">
              <a:solidFill>
                <a:srgbClr val="000000"/>
              </a:solidFill>
            </a:endParaRPr>
          </a:p>
          <a:p>
            <a:pPr marL="914400" lvl="1" indent="-361950" algn="l" rtl="0">
              <a:lnSpc>
                <a:spcPct val="107000"/>
              </a:lnSpc>
              <a:spcBef>
                <a:spcPts val="0"/>
              </a:spcBef>
              <a:spcAft>
                <a:spcPts val="0"/>
              </a:spcAft>
              <a:buClr>
                <a:srgbClr val="000000"/>
              </a:buClr>
              <a:buSzPts val="2100"/>
              <a:buChar char="○"/>
            </a:pPr>
            <a:r>
              <a:rPr lang="en-US" sz="2100" dirty="0">
                <a:solidFill>
                  <a:srgbClr val="000000"/>
                </a:solidFill>
              </a:rPr>
              <a:t>Record the corresponding points.</a:t>
            </a:r>
            <a:endParaRPr sz="2100" dirty="0">
              <a:solidFill>
                <a:srgbClr val="000000"/>
              </a:solidFill>
            </a:endParaRPr>
          </a:p>
          <a:p>
            <a:pPr marL="0" lvl="0" indent="0" algn="l" rtl="0">
              <a:lnSpc>
                <a:spcPct val="100000"/>
              </a:lnSpc>
              <a:spcBef>
                <a:spcPts val="1000"/>
              </a:spcBef>
              <a:spcAft>
                <a:spcPts val="0"/>
              </a:spcAft>
              <a:buSzPts val="1800"/>
              <a:buNone/>
            </a:pPr>
            <a:endParaRPr sz="1400" dirty="0"/>
          </a:p>
          <a:p>
            <a:pPr marL="0" lvl="0" indent="0" algn="l" rtl="0">
              <a:lnSpc>
                <a:spcPct val="115000"/>
              </a:lnSpc>
              <a:spcBef>
                <a:spcPts val="0"/>
              </a:spcBef>
              <a:spcAft>
                <a:spcPts val="0"/>
              </a:spcAft>
              <a:buSzPts val="1800"/>
              <a:buNone/>
            </a:pPr>
            <a:endParaRPr sz="1400" dirty="0"/>
          </a:p>
          <a:p>
            <a:pPr marL="0" lvl="0" indent="0" algn="l" rtl="0">
              <a:lnSpc>
                <a:spcPct val="115000"/>
              </a:lnSpc>
              <a:spcBef>
                <a:spcPts val="0"/>
              </a:spcBef>
              <a:spcAft>
                <a:spcPts val="0"/>
              </a:spcAft>
              <a:buSzPts val="1800"/>
              <a:buNone/>
            </a:pPr>
            <a:endParaRPr sz="1400" dirty="0"/>
          </a:p>
          <a:p>
            <a:pPr marL="0" lvl="0" indent="0" algn="l" rtl="0">
              <a:lnSpc>
                <a:spcPct val="100000"/>
              </a:lnSpc>
              <a:spcBef>
                <a:spcPts val="800"/>
              </a:spcBef>
              <a:spcAft>
                <a:spcPts val="0"/>
              </a:spcAft>
              <a:buSzPts val="1800"/>
              <a:buNone/>
            </a:pPr>
            <a:endParaRPr sz="1400" dirty="0"/>
          </a:p>
          <a:p>
            <a:pPr marL="457200" lvl="0" indent="0" algn="l" rtl="0">
              <a:lnSpc>
                <a:spcPct val="100000"/>
              </a:lnSpc>
              <a:spcBef>
                <a:spcPts val="360"/>
              </a:spcBef>
              <a:spcAft>
                <a:spcPts val="0"/>
              </a:spcAft>
              <a:buSzPts val="1800"/>
              <a:buNone/>
            </a:pPr>
            <a:endParaRPr sz="1400" dirty="0"/>
          </a:p>
          <a:p>
            <a:pPr marL="457200" lvl="0" indent="0" algn="l" rtl="0">
              <a:lnSpc>
                <a:spcPct val="100000"/>
              </a:lnSpc>
              <a:spcBef>
                <a:spcPts val="360"/>
              </a:spcBef>
              <a:spcAft>
                <a:spcPts val="0"/>
              </a:spcAft>
              <a:buSzPts val="1800"/>
              <a:buNone/>
            </a:pPr>
            <a:endParaRPr sz="1400" dirty="0"/>
          </a:p>
          <a:p>
            <a:pPr marL="0" lvl="0" indent="0" algn="l" rtl="0">
              <a:lnSpc>
                <a:spcPct val="115000"/>
              </a:lnSpc>
              <a:spcBef>
                <a:spcPts val="0"/>
              </a:spcBef>
              <a:spcAft>
                <a:spcPts val="0"/>
              </a:spcAft>
              <a:buSzPts val="1800"/>
              <a:buNone/>
            </a:pPr>
            <a:endParaRPr sz="1600" dirty="0"/>
          </a:p>
        </p:txBody>
      </p:sp>
      <p:sp>
        <p:nvSpPr>
          <p:cNvPr id="2" name="Footer Placeholder 1">
            <a:extLst>
              <a:ext uri="{FF2B5EF4-FFF2-40B4-BE49-F238E27FC236}">
                <a16:creationId xmlns:a16="http://schemas.microsoft.com/office/drawing/2014/main" id="{91608E89-79F5-264D-9ABA-EF5C364F9C4E}"/>
              </a:ext>
            </a:extLst>
          </p:cNvPr>
          <p:cNvSpPr>
            <a:spLocks noGrp="1"/>
          </p:cNvSpPr>
          <p:nvPr>
            <p:ph type="ftr" idx="11"/>
          </p:nvPr>
        </p:nvSpPr>
        <p:spPr/>
        <p:txBody>
          <a:bodyPr/>
          <a:lstStyle/>
          <a:p>
            <a:r>
              <a:rPr lang="en-US"/>
              <a:t>V9B</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4" name="Google Shape;544;g783ce67ac1_0_258"/>
          <p:cNvSpPr/>
          <p:nvPr/>
        </p:nvSpPr>
        <p:spPr>
          <a:xfrm>
            <a:off x="157750" y="470185"/>
            <a:ext cx="6389100" cy="523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rgbClr val="009051"/>
                </a:solidFill>
                <a:latin typeface="Calibri"/>
                <a:ea typeface="Calibri"/>
                <a:cs typeface="Calibri"/>
                <a:sym typeface="Calibri"/>
              </a:rPr>
              <a:t>Step 2: Assess existing infrastructure</a:t>
            </a:r>
            <a:endParaRPr sz="2800" b="0" i="0" u="none" strike="noStrike" cap="none" dirty="0">
              <a:solidFill>
                <a:srgbClr val="7030A0"/>
              </a:solidFill>
              <a:latin typeface="Calibri"/>
              <a:ea typeface="Calibri"/>
              <a:cs typeface="Calibri"/>
              <a:sym typeface="Calibri"/>
            </a:endParaRPr>
          </a:p>
        </p:txBody>
      </p:sp>
      <p:graphicFrame>
        <p:nvGraphicFramePr>
          <p:cNvPr id="546" name="Google Shape;546;g783ce67ac1_0_258"/>
          <p:cNvGraphicFramePr/>
          <p:nvPr>
            <p:extLst>
              <p:ext uri="{D42A27DB-BD31-4B8C-83A1-F6EECF244321}">
                <p14:modId xmlns:p14="http://schemas.microsoft.com/office/powerpoint/2010/main" val="955545278"/>
              </p:ext>
            </p:extLst>
          </p:nvPr>
        </p:nvGraphicFramePr>
        <p:xfrm>
          <a:off x="311150" y="1841105"/>
          <a:ext cx="6235700" cy="5461790"/>
        </p:xfrm>
        <a:graphic>
          <a:graphicData uri="http://schemas.openxmlformats.org/drawingml/2006/table">
            <a:tbl>
              <a:tblPr firstRow="1" bandRow="1">
                <a:noFill/>
                <a:tableStyleId>{CAC760E6-1B21-447E-AD2F-912B2140AA3E}</a:tableStyleId>
              </a:tblPr>
              <a:tblGrid>
                <a:gridCol w="5599675">
                  <a:extLst>
                    <a:ext uri="{9D8B030D-6E8A-4147-A177-3AD203B41FA5}">
                      <a16:colId xmlns:a16="http://schemas.microsoft.com/office/drawing/2014/main" val="20000"/>
                    </a:ext>
                  </a:extLst>
                </a:gridCol>
                <a:gridCol w="636025">
                  <a:extLst>
                    <a:ext uri="{9D8B030D-6E8A-4147-A177-3AD203B41FA5}">
                      <a16:colId xmlns:a16="http://schemas.microsoft.com/office/drawing/2014/main" val="20001"/>
                    </a:ext>
                  </a:extLst>
                </a:gridCol>
              </a:tblGrid>
              <a:tr h="3997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infrastructure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1312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S2Q1: What is the National Walkability Index Score?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National Walkability Score, available here:</a:t>
                      </a:r>
                      <a:r>
                        <a:rPr lang="en-US" sz="1400" u="none" strike="noStrike" cap="none"/>
                        <a:t> </a:t>
                      </a:r>
                      <a:r>
                        <a:rPr lang="en-US" sz="1100" u="sng" strike="noStrike" cap="none">
                          <a:solidFill>
                            <a:schemeClr val="hlink"/>
                          </a:solidFill>
                          <a:latin typeface="Arial"/>
                          <a:ea typeface="Arial"/>
                          <a:cs typeface="Arial"/>
                          <a:sym typeface="Arial"/>
                          <a:hlinkClick r:id="rId3"/>
                        </a:rPr>
                        <a:t>https://geodata.epa.gov/arcgis/rest/services/OA/WalkabilityIndex/MapServer</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Index:         1-5.75                               5.76-10.5                           10.51-15.25                           15.26-20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3.125                                   6.25                                      9.375                                      12.5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/12.5</a:t>
                      </a:r>
                      <a:endParaRPr sz="1400" u="none" strike="noStrike" cap="none"/>
                    </a:p>
                  </a:txBody>
                  <a:tcPr marL="68575" marR="68575" marT="60950" marB="60950"/>
                </a:tc>
                <a:extLst>
                  <a:ext uri="{0D108BD9-81ED-4DB2-BD59-A6C34878D82A}">
                    <a16:rowId xmlns:a16="http://schemas.microsoft.com/office/drawing/2014/main" val="10001"/>
                  </a:ext>
                </a:extLst>
              </a:tr>
              <a:tr h="96312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dirty="0"/>
                        <a:t>S2Q2: </a:t>
                      </a:r>
                      <a:r>
                        <a:rPr lang="en-US" sz="1100" b="0" i="0" u="none" strike="noStrike" cap="none" dirty="0"/>
                        <a:t>What is the level of comfort on the closest collector or arterial roadway segment(s)?</a:t>
                      </a:r>
                      <a:endParaRPr lang="en-US" sz="1400" u="none" strike="noStrike" cap="none" dirty="0"/>
                    </a:p>
                    <a:p>
                      <a:pPr marL="0" marR="0" lvl="0" indent="0" algn="l" rtl="0">
                        <a:lnSpc>
                          <a:spcPct val="100000"/>
                        </a:lnSpc>
                        <a:spcBef>
                          <a:spcPts val="0"/>
                        </a:spcBef>
                        <a:spcAft>
                          <a:spcPts val="0"/>
                        </a:spcAft>
                        <a:buClr>
                          <a:schemeClr val="dk1"/>
                        </a:buClr>
                        <a:buSzPts val="1100"/>
                        <a:buFont typeface="Calibri"/>
                        <a:buNone/>
                      </a:pPr>
                      <a:endParaRPr lang="en-US" sz="1100" b="0" i="0" u="none" strike="noStrike" cap="none" dirty="0"/>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dirty="0">
                          <a:solidFill>
                            <a:srgbClr val="0432FF"/>
                          </a:solidFill>
                        </a:rPr>
                        <a:t>(use RTC Ped/Bike Plan Level of Comfort Online Tool,, available here: </a:t>
                      </a:r>
                      <a:r>
                        <a:rPr lang="en-US" sz="1100" u="sng" strike="noStrike" cap="none" dirty="0">
                          <a:solidFill>
                            <a:schemeClr val="hlink"/>
                          </a:solidFill>
                        </a:rPr>
                        <a:t>https://</a:t>
                      </a:r>
                      <a:r>
                        <a:rPr lang="en-US" sz="1100" u="sng" strike="noStrike" cap="none" dirty="0" err="1">
                          <a:solidFill>
                            <a:schemeClr val="hlink"/>
                          </a:solidFill>
                        </a:rPr>
                        <a:t>rtcsnv.maps.arcgis.com</a:t>
                      </a:r>
                      <a:r>
                        <a:rPr lang="en-US" sz="1100" u="sng" strike="noStrike" cap="none" dirty="0">
                          <a:solidFill>
                            <a:schemeClr val="hlink"/>
                          </a:solidFill>
                        </a:rPr>
                        <a:t>/apps/</a:t>
                      </a:r>
                      <a:r>
                        <a:rPr lang="en-US" sz="1100" u="sng" strike="noStrike" cap="none" dirty="0" err="1">
                          <a:solidFill>
                            <a:schemeClr val="hlink"/>
                          </a:solidFill>
                        </a:rPr>
                        <a:t>webappviewer</a:t>
                      </a:r>
                      <a:r>
                        <a:rPr lang="en-US" sz="1100" u="sng" strike="noStrike" cap="none" dirty="0">
                          <a:solidFill>
                            <a:schemeClr val="hlink"/>
                          </a:solidFill>
                        </a:rPr>
                        <a:t>/</a:t>
                      </a:r>
                      <a:r>
                        <a:rPr lang="en-US" sz="1100" u="sng" strike="noStrike" cap="none" dirty="0" err="1">
                          <a:solidFill>
                            <a:schemeClr val="hlink"/>
                          </a:solidFill>
                        </a:rPr>
                        <a:t>index.html?id</a:t>
                      </a:r>
                      <a:r>
                        <a:rPr lang="en-US" sz="1100" u="sng" strike="noStrike" cap="none" dirty="0">
                          <a:solidFill>
                            <a:schemeClr val="hlink"/>
                          </a:solidFill>
                        </a:rPr>
                        <a:t>=f3ee5b445fdf48d18e6969ef106c5e09</a:t>
                      </a:r>
                      <a:r>
                        <a:rPr lang="en-US" sz="1100" u="none" strike="noStrike" cap="none" dirty="0">
                          <a:solidFill>
                            <a:srgbClr val="0432FF"/>
                          </a:solidFill>
                        </a:rPr>
                        <a:t>)</a:t>
                      </a:r>
                      <a:endParaRPr lang="en-US"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dirty="0">
                          <a:solidFill>
                            <a:srgbClr val="FF0000"/>
                          </a:solidFill>
                        </a:rPr>
                        <a:t> </a:t>
                      </a:r>
                      <a:endParaRPr lang="en-US" sz="1400" u="none" strike="noStrike" cap="none" dirty="0"/>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Comfort:            Level 4                              Level 3                                Level 2                             Level 1</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3.125                                   6.25                                      9.375                                12.5</a:t>
                      </a:r>
                      <a:endParaRPr sz="1400" u="none" strike="noStrike" cap="none" dirty="0"/>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/12.5</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2"/>
                  </a:ext>
                </a:extLst>
              </a:tr>
              <a:tr h="794950">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dirty="0">
                          <a:solidFill>
                            <a:srgbClr val="000000"/>
                          </a:solidFill>
                        </a:rPr>
                        <a:t>S2Q3: </a:t>
                      </a:r>
                      <a:r>
                        <a:rPr lang="en-US" sz="1100" b="0" u="none" strike="noStrike" cap="none" dirty="0">
                          <a:solidFill>
                            <a:srgbClr val="000000"/>
                          </a:solidFill>
                        </a:rPr>
                        <a:t>What is the average </a:t>
                      </a:r>
                      <a:r>
                        <a:rPr lang="en-US" sz="1100" u="none" strike="noStrike" cap="none" dirty="0"/>
                        <a:t>Microscale Audit of Pedestrian Streetscapes (MAPS) </a:t>
                      </a:r>
                      <a:r>
                        <a:rPr lang="en-US" sz="1100" b="0" u="none" strike="noStrike" cap="none" dirty="0">
                          <a:solidFill>
                            <a:srgbClr val="000000"/>
                          </a:solidFill>
                        </a:rPr>
                        <a:t>mini score for all of the segments in the project area?</a:t>
                      </a:r>
                      <a:endParaRPr sz="1400" u="none" strike="noStrike" cap="none" dirty="0"/>
                    </a:p>
                    <a:p>
                      <a:pPr marL="0" marR="0" lvl="0" indent="0" algn="l" rtl="0">
                        <a:lnSpc>
                          <a:spcPct val="100000"/>
                        </a:lnSpc>
                        <a:spcBef>
                          <a:spcPts val="0"/>
                        </a:spcBef>
                        <a:spcAft>
                          <a:spcPts val="0"/>
                        </a:spcAft>
                        <a:buClr>
                          <a:schemeClr val="dk1"/>
                        </a:buClr>
                        <a:buSzPts val="1100"/>
                        <a:buFont typeface="Calibri"/>
                        <a:buNone/>
                      </a:pPr>
                      <a:endParaRPr sz="1100" b="0" u="none" strike="noStrike" cap="none" dirty="0">
                        <a:solidFill>
                          <a:srgbClr val="000000"/>
                        </a:solidFill>
                      </a:endParaRPr>
                    </a:p>
                    <a:p>
                      <a:pPr marL="0" marR="0" lvl="0" indent="0" algn="l" rtl="0">
                        <a:lnSpc>
                          <a:spcPct val="100000"/>
                        </a:lnSpc>
                        <a:spcBef>
                          <a:spcPts val="0"/>
                        </a:spcBef>
                        <a:spcAft>
                          <a:spcPts val="0"/>
                        </a:spcAft>
                        <a:buClr>
                          <a:srgbClr val="0432FF"/>
                        </a:buClr>
                        <a:buSzPts val="1100"/>
                        <a:buFont typeface="Calibri"/>
                        <a:buNone/>
                      </a:pPr>
                      <a:r>
                        <a:rPr lang="en-US" sz="1100" b="0" u="none" strike="noStrike" cap="none" dirty="0">
                          <a:solidFill>
                            <a:srgbClr val="0432FF"/>
                          </a:solidFill>
                        </a:rPr>
                        <a:t>(conduct MAPS mini for each segment and then average them to get a MAPS mini score. Resources available here: </a:t>
                      </a:r>
                      <a:r>
                        <a:rPr lang="en-US" sz="1100" u="sng" strike="noStrike" cap="none" dirty="0">
                          <a:solidFill>
                            <a:schemeClr val="hlink"/>
                          </a:solidFill>
                          <a:latin typeface="Arial"/>
                          <a:ea typeface="Arial"/>
                          <a:cs typeface="Arial"/>
                          <a:sym typeface="Arial"/>
                          <a:hlinkClick r:id="rId4"/>
                        </a:rPr>
                        <a:t>https://drjimsallis.org/measure_maps.html#MAPSMINI</a:t>
                      </a:r>
                      <a:r>
                        <a:rPr lang="en-US" sz="1100" u="none" strike="noStrike" cap="none" dirty="0">
                          <a:solidFill>
                            <a:srgbClr val="0432FF"/>
                          </a:solidFill>
                        </a:rPr>
                        <a:t>. </a:t>
                      </a:r>
                      <a:endParaRPr sz="1100" b="1" u="none" strike="noStrike" cap="none" dirty="0">
                        <a:solidFill>
                          <a:srgbClr val="0432FF"/>
                        </a:solidFill>
                      </a:endParaRPr>
                    </a:p>
                    <a:p>
                      <a:pPr marL="0" marR="0" lvl="0" indent="0" algn="l" rtl="0">
                        <a:lnSpc>
                          <a:spcPct val="100000"/>
                        </a:lnSpc>
                        <a:spcBef>
                          <a:spcPts val="0"/>
                        </a:spcBef>
                        <a:spcAft>
                          <a:spcPts val="0"/>
                        </a:spcAft>
                        <a:buClr>
                          <a:schemeClr val="dk1"/>
                        </a:buClr>
                        <a:buSzPts val="1100"/>
                        <a:buFont typeface="Calibri"/>
                        <a:buNone/>
                      </a:pPr>
                      <a:endParaRPr sz="1100" b="1" u="none" strike="noStrike" cap="none" dirty="0">
                        <a:solidFill>
                          <a:srgbClr val="000000"/>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MAPS Mini Score:   0-1      2-3      4-5    6-7     8-9     10-11   12-13   14-15     16-17     18-19   20-21   </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0          2.5       5      7.5       10       12.5      15        17.5         20         22.5         25                                        </a:t>
                      </a:r>
                      <a:endParaRPr sz="1400" u="none" strike="noStrike" cap="none" dirty="0"/>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/25</a:t>
                      </a:r>
                      <a:endParaRPr sz="1400" u="none" strike="noStrike" cap="none"/>
                    </a:p>
                  </a:txBody>
                  <a:tcPr marL="68575" marR="68575" marT="60950" marB="60950"/>
                </a:tc>
                <a:extLst>
                  <a:ext uri="{0D108BD9-81ED-4DB2-BD59-A6C34878D82A}">
                    <a16:rowId xmlns:a16="http://schemas.microsoft.com/office/drawing/2014/main" val="10003"/>
                  </a:ext>
                </a:extLst>
              </a:tr>
              <a:tr h="794950">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Step 2 Points</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0-17 points: Below Average</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18-32 points: Average</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33-50: Above Average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/50</a:t>
                      </a:r>
                      <a:endParaRPr sz="1400" u="none" strike="noStrike" cap="none" dirty="0"/>
                    </a:p>
                  </a:txBody>
                  <a:tcPr marL="68575" marR="68575" marT="60950" marB="60950"/>
                </a:tc>
                <a:extLst>
                  <a:ext uri="{0D108BD9-81ED-4DB2-BD59-A6C34878D82A}">
                    <a16:rowId xmlns:a16="http://schemas.microsoft.com/office/drawing/2014/main" val="10004"/>
                  </a:ext>
                </a:extLst>
              </a:tr>
            </a:tbl>
          </a:graphicData>
        </a:graphic>
      </p:graphicFrame>
      <p:sp>
        <p:nvSpPr>
          <p:cNvPr id="2" name="Footer Placeholder 1">
            <a:extLst>
              <a:ext uri="{FF2B5EF4-FFF2-40B4-BE49-F238E27FC236}">
                <a16:creationId xmlns:a16="http://schemas.microsoft.com/office/drawing/2014/main" id="{FC83D218-927A-2643-AF6B-28BE033561C6}"/>
              </a:ext>
            </a:extLst>
          </p:cNvPr>
          <p:cNvSpPr>
            <a:spLocks noGrp="1"/>
          </p:cNvSpPr>
          <p:nvPr>
            <p:ph type="ftr" idx="11"/>
          </p:nvPr>
        </p:nvSpPr>
        <p:spPr/>
        <p:txBody>
          <a:bodyPr/>
          <a:lstStyle/>
          <a:p>
            <a:r>
              <a:rPr lang="en-US"/>
              <a:t>V9B</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g783ce67ac1_0_265"/>
          <p:cNvSpPr txBox="1">
            <a:spLocks noGrp="1"/>
          </p:cNvSpPr>
          <p:nvPr>
            <p:ph type="title"/>
          </p:nvPr>
        </p:nvSpPr>
        <p:spPr>
          <a:xfrm>
            <a:off x="356755" y="864"/>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000" dirty="0"/>
              <a:t>S2Q2 Instructions</a:t>
            </a:r>
            <a:endParaRPr sz="4000" dirty="0"/>
          </a:p>
        </p:txBody>
      </p:sp>
      <p:sp>
        <p:nvSpPr>
          <p:cNvPr id="553" name="Google Shape;553;g783ce67ac1_0_265"/>
          <p:cNvSpPr txBox="1">
            <a:spLocks noGrp="1"/>
          </p:cNvSpPr>
          <p:nvPr>
            <p:ph type="body" idx="1"/>
          </p:nvPr>
        </p:nvSpPr>
        <p:spPr>
          <a:xfrm>
            <a:off x="315189" y="769788"/>
            <a:ext cx="6213765" cy="8124825"/>
          </a:xfrm>
          <a:prstGeom prst="rect">
            <a:avLst/>
          </a:prstGeom>
          <a:noFill/>
          <a:ln>
            <a:noFill/>
          </a:ln>
        </p:spPr>
        <p:txBody>
          <a:bodyPr spcFirstLastPara="1" wrap="square" lIns="91425" tIns="45700" rIns="91425" bIns="45700" anchor="t" anchorCtr="0">
            <a:noAutofit/>
          </a:bodyPr>
          <a:lstStyle/>
          <a:p>
            <a:pPr marL="457200" lvl="0" indent="-381000" algn="l" rtl="0">
              <a:lnSpc>
                <a:spcPct val="115000"/>
              </a:lnSpc>
              <a:spcBef>
                <a:spcPts val="0"/>
              </a:spcBef>
              <a:spcAft>
                <a:spcPts val="0"/>
              </a:spcAft>
              <a:buSzPts val="2400"/>
              <a:buChar char="●"/>
            </a:pPr>
            <a:r>
              <a:rPr lang="en-US" sz="2400" dirty="0"/>
              <a:t>Click on the Existing Level of Comfort for bicycling map tool from the Regional Transportation Commission Regional Bicycle and Pedestrian Plan, available </a:t>
            </a:r>
            <a:r>
              <a:rPr lang="en-US" sz="2400" u="sng" dirty="0">
                <a:solidFill>
                  <a:schemeClr val="hlink"/>
                </a:solidFill>
                <a:hlinkClick r:id="rId3"/>
              </a:rPr>
              <a:t>here</a:t>
            </a:r>
            <a:r>
              <a:rPr lang="en-US" sz="2400" dirty="0"/>
              <a:t>. </a:t>
            </a:r>
          </a:p>
          <a:p>
            <a:pPr indent="-381000">
              <a:lnSpc>
                <a:spcPct val="115000"/>
              </a:lnSpc>
              <a:spcBef>
                <a:spcPts val="0"/>
              </a:spcBef>
              <a:buSzPts val="2400"/>
              <a:buFont typeface="Arial"/>
              <a:buChar char="●"/>
            </a:pPr>
            <a:r>
              <a:rPr lang="en-US" sz="2400" dirty="0"/>
              <a:t>Enter the address for project area inside the address text box in the top left.</a:t>
            </a:r>
          </a:p>
          <a:p>
            <a:pPr indent="-381000">
              <a:lnSpc>
                <a:spcPct val="115000"/>
              </a:lnSpc>
              <a:spcBef>
                <a:spcPts val="0"/>
              </a:spcBef>
              <a:buSzPts val="2400"/>
              <a:buFont typeface="Arial"/>
              <a:buChar char="●"/>
            </a:pPr>
            <a:r>
              <a:rPr lang="en-US" sz="2400" dirty="0"/>
              <a:t>Find the closest collector or arterial roadway to the project area with either a green, blue, orange, or red line on the roadway. </a:t>
            </a:r>
          </a:p>
          <a:p>
            <a:pPr lvl="1" indent="-381000">
              <a:lnSpc>
                <a:spcPct val="115000"/>
              </a:lnSpc>
              <a:spcBef>
                <a:spcPts val="0"/>
              </a:spcBef>
              <a:buSzPts val="2400"/>
              <a:buFont typeface="Arial"/>
              <a:buChar char="●"/>
            </a:pPr>
            <a:r>
              <a:rPr lang="en-US" sz="2000" dirty="0"/>
              <a:t>If there is one such line in the project area, record the point value associated with its  corresponding level of comfort. </a:t>
            </a:r>
          </a:p>
          <a:p>
            <a:pPr lvl="1" indent="-381000">
              <a:lnSpc>
                <a:spcPct val="115000"/>
              </a:lnSpc>
              <a:spcBef>
                <a:spcPts val="0"/>
              </a:spcBef>
              <a:buSzPts val="2400"/>
              <a:buFont typeface="Arial"/>
              <a:buChar char="●"/>
            </a:pPr>
            <a:r>
              <a:rPr lang="en-US" sz="2000" dirty="0"/>
              <a:t>If there are multiple such line in the project area, average their Levels of Comfort. Round decimal of .5 or more up to the next Level of Comfort and decimals under .5 down.</a:t>
            </a:r>
          </a:p>
          <a:p>
            <a:pPr lvl="1" indent="-381000">
              <a:lnSpc>
                <a:spcPct val="115000"/>
              </a:lnSpc>
              <a:spcBef>
                <a:spcPts val="0"/>
              </a:spcBef>
              <a:buSzPts val="2400"/>
              <a:buFont typeface="Arial"/>
              <a:buChar char="●"/>
            </a:pPr>
            <a:r>
              <a:rPr lang="en-US" sz="2000" dirty="0"/>
              <a:t>If there is no such line in the project area, use the measurement tool, which looks like a ruler, to find the closest one. Record the point value associated with its  corresponding level of comfort. </a:t>
            </a:r>
            <a:endParaRPr sz="1600" dirty="0"/>
          </a:p>
          <a:p>
            <a:pPr marL="457200" lvl="0" indent="0" algn="l" rtl="0">
              <a:lnSpc>
                <a:spcPct val="115000"/>
              </a:lnSpc>
              <a:spcBef>
                <a:spcPts val="0"/>
              </a:spcBef>
              <a:spcAft>
                <a:spcPts val="0"/>
              </a:spcAft>
              <a:buSzPts val="1800"/>
              <a:buNone/>
            </a:pPr>
            <a:endParaRPr sz="1600" dirty="0">
              <a:solidFill>
                <a:srgbClr val="000000"/>
              </a:solidFill>
            </a:endParaRPr>
          </a:p>
          <a:p>
            <a:pPr marL="0" lvl="0" indent="0" algn="l" rtl="0">
              <a:lnSpc>
                <a:spcPct val="100000"/>
              </a:lnSpc>
              <a:spcBef>
                <a:spcPts val="360"/>
              </a:spcBef>
              <a:spcAft>
                <a:spcPts val="0"/>
              </a:spcAft>
              <a:buSzPts val="1800"/>
              <a:buNone/>
            </a:pPr>
            <a:endParaRPr sz="1400" dirty="0"/>
          </a:p>
          <a:p>
            <a:pPr marL="0" lvl="0" indent="0" algn="l" rtl="0">
              <a:lnSpc>
                <a:spcPct val="115000"/>
              </a:lnSpc>
              <a:spcBef>
                <a:spcPts val="0"/>
              </a:spcBef>
              <a:spcAft>
                <a:spcPts val="0"/>
              </a:spcAft>
              <a:buSzPts val="1800"/>
              <a:buNone/>
            </a:pPr>
            <a:endParaRPr sz="1400" dirty="0"/>
          </a:p>
          <a:p>
            <a:pPr marL="0" lvl="0" indent="0" algn="l" rtl="0">
              <a:lnSpc>
                <a:spcPct val="115000"/>
              </a:lnSpc>
              <a:spcBef>
                <a:spcPts val="0"/>
              </a:spcBef>
              <a:spcAft>
                <a:spcPts val="0"/>
              </a:spcAft>
              <a:buSzPts val="1800"/>
              <a:buNone/>
            </a:pPr>
            <a:endParaRPr sz="1400" dirty="0"/>
          </a:p>
          <a:p>
            <a:pPr marL="0" lvl="0" indent="0" algn="l" rtl="0">
              <a:lnSpc>
                <a:spcPct val="100000"/>
              </a:lnSpc>
              <a:spcBef>
                <a:spcPts val="800"/>
              </a:spcBef>
              <a:spcAft>
                <a:spcPts val="0"/>
              </a:spcAft>
              <a:buSzPts val="1800"/>
              <a:buNone/>
            </a:pPr>
            <a:endParaRPr sz="1400" dirty="0"/>
          </a:p>
          <a:p>
            <a:pPr marL="457200" lvl="0" indent="0" algn="l" rtl="0">
              <a:lnSpc>
                <a:spcPct val="100000"/>
              </a:lnSpc>
              <a:spcBef>
                <a:spcPts val="360"/>
              </a:spcBef>
              <a:spcAft>
                <a:spcPts val="0"/>
              </a:spcAft>
              <a:buSzPts val="1800"/>
              <a:buNone/>
            </a:pPr>
            <a:endParaRPr sz="1400" dirty="0"/>
          </a:p>
          <a:p>
            <a:pPr marL="457200" lvl="0" indent="0" algn="l" rtl="0">
              <a:lnSpc>
                <a:spcPct val="100000"/>
              </a:lnSpc>
              <a:spcBef>
                <a:spcPts val="360"/>
              </a:spcBef>
              <a:spcAft>
                <a:spcPts val="0"/>
              </a:spcAft>
              <a:buSzPts val="1800"/>
              <a:buNone/>
            </a:pPr>
            <a:endParaRPr sz="1400" dirty="0"/>
          </a:p>
          <a:p>
            <a:pPr marL="0" lvl="0" indent="0" algn="l" rtl="0">
              <a:lnSpc>
                <a:spcPct val="115000"/>
              </a:lnSpc>
              <a:spcBef>
                <a:spcPts val="0"/>
              </a:spcBef>
              <a:spcAft>
                <a:spcPts val="0"/>
              </a:spcAft>
              <a:buSzPts val="1800"/>
              <a:buNone/>
            </a:pPr>
            <a:endParaRPr sz="1600" dirty="0"/>
          </a:p>
        </p:txBody>
      </p:sp>
      <p:sp>
        <p:nvSpPr>
          <p:cNvPr id="2" name="Footer Placeholder 1">
            <a:extLst>
              <a:ext uri="{FF2B5EF4-FFF2-40B4-BE49-F238E27FC236}">
                <a16:creationId xmlns:a16="http://schemas.microsoft.com/office/drawing/2014/main" id="{95D21A9F-167D-F94A-8A50-3CB067EC8284}"/>
              </a:ext>
            </a:extLst>
          </p:cNvPr>
          <p:cNvSpPr>
            <a:spLocks noGrp="1"/>
          </p:cNvSpPr>
          <p:nvPr>
            <p:ph type="ftr" idx="11"/>
          </p:nvPr>
        </p:nvSpPr>
        <p:spPr/>
        <p:txBody>
          <a:bodyPr/>
          <a:lstStyle/>
          <a:p>
            <a:r>
              <a:rPr lang="en-US"/>
              <a:t>V9B</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8" name="Google Shape;578;g783ce67ac1_0_275"/>
          <p:cNvSpPr/>
          <p:nvPr/>
        </p:nvSpPr>
        <p:spPr>
          <a:xfrm>
            <a:off x="157750" y="490712"/>
            <a:ext cx="6389100" cy="523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rgbClr val="009051"/>
                </a:solidFill>
                <a:latin typeface="Calibri"/>
                <a:ea typeface="Calibri"/>
                <a:cs typeface="Calibri"/>
                <a:sym typeface="Calibri"/>
              </a:rPr>
              <a:t>Step 2: Assess existing infrastructure</a:t>
            </a:r>
            <a:endParaRPr sz="2800" b="0" i="0" u="none" strike="noStrike" cap="none" dirty="0">
              <a:solidFill>
                <a:srgbClr val="7030A0"/>
              </a:solidFill>
              <a:latin typeface="Calibri"/>
              <a:ea typeface="Calibri"/>
              <a:cs typeface="Calibri"/>
              <a:sym typeface="Calibri"/>
            </a:endParaRPr>
          </a:p>
        </p:txBody>
      </p:sp>
      <p:graphicFrame>
        <p:nvGraphicFramePr>
          <p:cNvPr id="580" name="Google Shape;580;g783ce67ac1_0_275"/>
          <p:cNvGraphicFramePr/>
          <p:nvPr>
            <p:extLst>
              <p:ext uri="{D42A27DB-BD31-4B8C-83A1-F6EECF244321}">
                <p14:modId xmlns:p14="http://schemas.microsoft.com/office/powerpoint/2010/main" val="2984502224"/>
              </p:ext>
            </p:extLst>
          </p:nvPr>
        </p:nvGraphicFramePr>
        <p:xfrm>
          <a:off x="311150" y="1468582"/>
          <a:ext cx="6235700" cy="5629430"/>
        </p:xfrm>
        <a:graphic>
          <a:graphicData uri="http://schemas.openxmlformats.org/drawingml/2006/table">
            <a:tbl>
              <a:tblPr firstRow="1" bandRow="1">
                <a:noFill/>
                <a:tableStyleId>{CAC760E6-1B21-447E-AD2F-912B2140AA3E}</a:tableStyleId>
              </a:tblPr>
              <a:tblGrid>
                <a:gridCol w="5599675">
                  <a:extLst>
                    <a:ext uri="{9D8B030D-6E8A-4147-A177-3AD203B41FA5}">
                      <a16:colId xmlns:a16="http://schemas.microsoft.com/office/drawing/2014/main" val="20000"/>
                    </a:ext>
                  </a:extLst>
                </a:gridCol>
                <a:gridCol w="636025">
                  <a:extLst>
                    <a:ext uri="{9D8B030D-6E8A-4147-A177-3AD203B41FA5}">
                      <a16:colId xmlns:a16="http://schemas.microsoft.com/office/drawing/2014/main" val="20001"/>
                    </a:ext>
                  </a:extLst>
                </a:gridCol>
              </a:tblGrid>
              <a:tr h="3997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Existing infrastructure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Pts</a:t>
                      </a:r>
                      <a:endParaRPr sz="1400" u="none" strike="noStrike" cap="none"/>
                    </a:p>
                  </a:txBody>
                  <a:tcPr marL="68575" marR="68575" marT="60950" marB="60950"/>
                </a:tc>
                <a:extLst>
                  <a:ext uri="{0D108BD9-81ED-4DB2-BD59-A6C34878D82A}">
                    <a16:rowId xmlns:a16="http://schemas.microsoft.com/office/drawing/2014/main" val="10000"/>
                  </a:ext>
                </a:extLst>
              </a:tr>
              <a:tr h="113127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a:t>S2Q1: What is the National Walkability Index Score? </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a:solidFill>
                            <a:srgbClr val="0432FF"/>
                          </a:solidFill>
                        </a:rPr>
                        <a:t>use EPA National Walkability Score, available here:</a:t>
                      </a:r>
                      <a:r>
                        <a:rPr lang="en-US" sz="1400" u="none" strike="noStrike" cap="none"/>
                        <a:t> </a:t>
                      </a:r>
                      <a:r>
                        <a:rPr lang="en-US" sz="1100" u="sng" strike="noStrike" cap="none">
                          <a:solidFill>
                            <a:schemeClr val="hlink"/>
                          </a:solidFill>
                          <a:latin typeface="Arial"/>
                          <a:ea typeface="Arial"/>
                          <a:cs typeface="Arial"/>
                          <a:sym typeface="Arial"/>
                          <a:hlinkClick r:id="rId3"/>
                        </a:rPr>
                        <a:t>https://geodata.epa.gov/arcgis/rest/services/OA/WalkabilityIndex/MapServer</a:t>
                      </a:r>
                      <a:endParaRPr sz="1400" u="none" strike="noStrike" cap="none"/>
                    </a:p>
                    <a:p>
                      <a:pPr marL="0" marR="0" lvl="0" indent="0" algn="l" rtl="0">
                        <a:lnSpc>
                          <a:spcPct val="100000"/>
                        </a:lnSpc>
                        <a:spcBef>
                          <a:spcPts val="0"/>
                        </a:spcBef>
                        <a:spcAft>
                          <a:spcPts val="0"/>
                        </a:spcAft>
                        <a:buClr>
                          <a:schemeClr val="dk1"/>
                        </a:buClr>
                        <a:buSzPts val="1100"/>
                        <a:buFont typeface="Calibri"/>
                        <a:buNone/>
                      </a:pPr>
                      <a:endParaRPr sz="1100" b="0" i="0" u="none" strike="noStrike" cap="none"/>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a:solidFill>
                            <a:schemeClr val="dk1"/>
                          </a:solidFill>
                        </a:rPr>
                        <a:t>Index:         1-5.75                               5.76-10.5                           10.51-15.25                           15.26-20</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a:solidFill>
                            <a:srgbClr val="FF0000"/>
                          </a:solidFill>
                        </a:rPr>
                        <a:t>Points:        3.125                                   6.25                                      9.375                                      12.5</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/12.5</a:t>
                      </a:r>
                      <a:endParaRPr sz="1400" u="none" strike="noStrike" cap="none"/>
                    </a:p>
                  </a:txBody>
                  <a:tcPr marL="68575" marR="68575" marT="60950" marB="60950"/>
                </a:tc>
                <a:extLst>
                  <a:ext uri="{0D108BD9-81ED-4DB2-BD59-A6C34878D82A}">
                    <a16:rowId xmlns:a16="http://schemas.microsoft.com/office/drawing/2014/main" val="10001"/>
                  </a:ext>
                </a:extLst>
              </a:tr>
              <a:tr h="963125">
                <a:tc>
                  <a:txBody>
                    <a:bodyPr/>
                    <a:lstStyle/>
                    <a:p>
                      <a:pPr marL="0" marR="0" lvl="0" indent="0" algn="l" rtl="0">
                        <a:lnSpc>
                          <a:spcPct val="100000"/>
                        </a:lnSpc>
                        <a:spcBef>
                          <a:spcPts val="0"/>
                        </a:spcBef>
                        <a:spcAft>
                          <a:spcPts val="0"/>
                        </a:spcAft>
                        <a:buClr>
                          <a:schemeClr val="dk1"/>
                        </a:buClr>
                        <a:buSzPts val="1100"/>
                        <a:buFont typeface="Calibri"/>
                        <a:buNone/>
                      </a:pPr>
                      <a:r>
                        <a:rPr lang="en-US" sz="1100" u="none" strike="noStrike" cap="none" dirty="0"/>
                        <a:t>S2Q2: </a:t>
                      </a:r>
                      <a:r>
                        <a:rPr lang="en-US" sz="1100" b="0" i="0" u="none" strike="noStrike" cap="none" dirty="0"/>
                        <a:t>What is the level of comfort on the closest collector or arterial roadway segment(s)?</a:t>
                      </a:r>
                      <a:endParaRPr lang="en-US" sz="1400" u="none" strike="noStrike" cap="none" dirty="0"/>
                    </a:p>
                    <a:p>
                      <a:pPr marL="0" marR="0" lvl="0" indent="0" algn="l" rtl="0">
                        <a:lnSpc>
                          <a:spcPct val="100000"/>
                        </a:lnSpc>
                        <a:spcBef>
                          <a:spcPts val="0"/>
                        </a:spcBef>
                        <a:spcAft>
                          <a:spcPts val="0"/>
                        </a:spcAft>
                        <a:buClr>
                          <a:schemeClr val="dk1"/>
                        </a:buClr>
                        <a:buSzPts val="1100"/>
                        <a:buFont typeface="Calibri"/>
                        <a:buNone/>
                      </a:pPr>
                      <a:endParaRPr lang="en-US" sz="1100" b="0" i="0" u="none" strike="noStrike" cap="none" dirty="0"/>
                    </a:p>
                    <a:p>
                      <a:pPr marL="0" marR="0" lvl="0" indent="0" algn="l" rtl="0">
                        <a:lnSpc>
                          <a:spcPct val="100000"/>
                        </a:lnSpc>
                        <a:spcBef>
                          <a:spcPts val="0"/>
                        </a:spcBef>
                        <a:spcAft>
                          <a:spcPts val="0"/>
                        </a:spcAft>
                        <a:buClr>
                          <a:srgbClr val="0432FF"/>
                        </a:buClr>
                        <a:buSzPts val="1100"/>
                        <a:buFont typeface="Calibri"/>
                        <a:buNone/>
                      </a:pPr>
                      <a:r>
                        <a:rPr lang="en-US" sz="1100" b="0" i="0" u="none" strike="noStrike" cap="none" dirty="0">
                          <a:solidFill>
                            <a:srgbClr val="0432FF"/>
                          </a:solidFill>
                        </a:rPr>
                        <a:t>(use RTC Ped/Bike Plan Level of Comfort Online Tool,, available here: </a:t>
                      </a:r>
                      <a:r>
                        <a:rPr lang="en-US" sz="1100" u="sng" strike="noStrike" cap="none" dirty="0">
                          <a:solidFill>
                            <a:schemeClr val="hlink"/>
                          </a:solidFill>
                        </a:rPr>
                        <a:t>https://</a:t>
                      </a:r>
                      <a:r>
                        <a:rPr lang="en-US" sz="1100" u="sng" strike="noStrike" cap="none" dirty="0" err="1">
                          <a:solidFill>
                            <a:schemeClr val="hlink"/>
                          </a:solidFill>
                        </a:rPr>
                        <a:t>rtcsnv.maps.arcgis.com</a:t>
                      </a:r>
                      <a:r>
                        <a:rPr lang="en-US" sz="1100" u="sng" strike="noStrike" cap="none" dirty="0">
                          <a:solidFill>
                            <a:schemeClr val="hlink"/>
                          </a:solidFill>
                        </a:rPr>
                        <a:t>/apps/</a:t>
                      </a:r>
                      <a:r>
                        <a:rPr lang="en-US" sz="1100" u="sng" strike="noStrike" cap="none" dirty="0" err="1">
                          <a:solidFill>
                            <a:schemeClr val="hlink"/>
                          </a:solidFill>
                        </a:rPr>
                        <a:t>webappviewer</a:t>
                      </a:r>
                      <a:r>
                        <a:rPr lang="en-US" sz="1100" u="sng" strike="noStrike" cap="none" dirty="0">
                          <a:solidFill>
                            <a:schemeClr val="hlink"/>
                          </a:solidFill>
                        </a:rPr>
                        <a:t>/</a:t>
                      </a:r>
                      <a:r>
                        <a:rPr lang="en-US" sz="1100" u="sng" strike="noStrike" cap="none" dirty="0" err="1">
                          <a:solidFill>
                            <a:schemeClr val="hlink"/>
                          </a:solidFill>
                        </a:rPr>
                        <a:t>index.html?id</a:t>
                      </a:r>
                      <a:r>
                        <a:rPr lang="en-US" sz="1100" u="sng" strike="noStrike" cap="none" dirty="0">
                          <a:solidFill>
                            <a:schemeClr val="hlink"/>
                          </a:solidFill>
                        </a:rPr>
                        <a:t>=f3ee5b445fdf48d18e6969ef106c5e09</a:t>
                      </a:r>
                      <a:r>
                        <a:rPr lang="en-US" sz="1100" u="none" strike="noStrike" cap="none" dirty="0">
                          <a:solidFill>
                            <a:srgbClr val="0432FF"/>
                          </a:solidFill>
                        </a:rPr>
                        <a:t>)</a:t>
                      </a:r>
                      <a:endParaRPr lang="en-US"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dirty="0">
                          <a:solidFill>
                            <a:srgbClr val="FF0000"/>
                          </a:solidFill>
                        </a:rPr>
                        <a:t> </a:t>
                      </a:r>
                      <a:endParaRPr lang="en-US"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dirty="0">
                          <a:solidFill>
                            <a:srgbClr val="FF0000"/>
                          </a:solidFill>
                        </a:rPr>
                        <a:t> </a:t>
                      </a:r>
                      <a:endParaRPr sz="1400" u="none" strike="noStrike" cap="none" dirty="0"/>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Comfort:            Level 4                              Level 3                                Level 2                             Level 1</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3.125                                   6.25                                      9.375                                12.5</a:t>
                      </a:r>
                      <a:endParaRPr sz="1400" u="none" strike="noStrike" cap="none" dirty="0"/>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/12.5</a:t>
                      </a:r>
                      <a:endParaRPr sz="1400" u="none" strike="noStrike" cap="none"/>
                    </a:p>
                  </a:txBody>
                  <a:tcPr marL="68575" marR="68575" marT="60950" marB="60950"/>
                </a:tc>
                <a:extLst>
                  <a:ext uri="{0D108BD9-81ED-4DB2-BD59-A6C34878D82A}">
                    <a16:rowId xmlns:a16="http://schemas.microsoft.com/office/drawing/2014/main" val="10002"/>
                  </a:ext>
                </a:extLst>
              </a:tr>
              <a:tr h="794950">
                <a:tc>
                  <a:txBody>
                    <a:bodyPr/>
                    <a:lstStyle/>
                    <a:p>
                      <a:pPr marL="0" marR="0" lvl="0" indent="0" algn="l" rtl="0">
                        <a:lnSpc>
                          <a:spcPct val="100000"/>
                        </a:lnSpc>
                        <a:spcBef>
                          <a:spcPts val="0"/>
                        </a:spcBef>
                        <a:spcAft>
                          <a:spcPts val="0"/>
                        </a:spcAft>
                        <a:buClr>
                          <a:srgbClr val="000000"/>
                        </a:buClr>
                        <a:buSzPts val="1100"/>
                        <a:buFont typeface="Calibri"/>
                        <a:buNone/>
                      </a:pPr>
                      <a:r>
                        <a:rPr lang="en-US" sz="1100" u="none" strike="noStrike" cap="none" dirty="0">
                          <a:solidFill>
                            <a:srgbClr val="000000"/>
                          </a:solidFill>
                        </a:rPr>
                        <a:t>S2Q3: </a:t>
                      </a:r>
                      <a:r>
                        <a:rPr lang="en-US" sz="1100" b="0" u="none" strike="noStrike" cap="none" dirty="0">
                          <a:solidFill>
                            <a:srgbClr val="000000"/>
                          </a:solidFill>
                        </a:rPr>
                        <a:t>What is the average</a:t>
                      </a:r>
                      <a:r>
                        <a:rPr lang="en-US" sz="1100" u="none" strike="noStrike" cap="none" dirty="0">
                          <a:solidFill>
                            <a:srgbClr val="000000"/>
                          </a:solidFill>
                        </a:rPr>
                        <a:t> Microscale Audit of Pedestrian Streetscapes</a:t>
                      </a:r>
                      <a:r>
                        <a:rPr lang="en-US" sz="1100" b="0" u="none" strike="noStrike" cap="none" dirty="0">
                          <a:solidFill>
                            <a:srgbClr val="000000"/>
                          </a:solidFill>
                        </a:rPr>
                        <a:t> (</a:t>
                      </a:r>
                      <a:r>
                        <a:rPr lang="en-US" sz="1100" b="0" u="none" strike="noStrike" cap="none" dirty="0">
                          <a:solidFill>
                            <a:srgbClr val="000000"/>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MAPS) </a:t>
                      </a:r>
                      <a:r>
                        <a:rPr lang="en-US" sz="1100" b="0" u="none" strike="noStrike" cap="none" dirty="0">
                          <a:solidFill>
                            <a:srgbClr val="000000"/>
                          </a:solidFill>
                        </a:rPr>
                        <a:t>mini score for all of the segments in the project area?</a:t>
                      </a:r>
                      <a:endParaRPr sz="1400" u="none" strike="noStrike" cap="none" dirty="0"/>
                    </a:p>
                    <a:p>
                      <a:pPr marL="0" marR="0" lvl="0" indent="0" algn="l" rtl="0">
                        <a:lnSpc>
                          <a:spcPct val="100000"/>
                        </a:lnSpc>
                        <a:spcBef>
                          <a:spcPts val="0"/>
                        </a:spcBef>
                        <a:spcAft>
                          <a:spcPts val="0"/>
                        </a:spcAft>
                        <a:buClr>
                          <a:schemeClr val="dk1"/>
                        </a:buClr>
                        <a:buSzPts val="1100"/>
                        <a:buFont typeface="Calibri"/>
                        <a:buNone/>
                      </a:pPr>
                      <a:endParaRPr sz="1100" b="0" u="none" strike="noStrike" cap="none" dirty="0">
                        <a:solidFill>
                          <a:srgbClr val="000000"/>
                        </a:solidFill>
                      </a:endParaRPr>
                    </a:p>
                    <a:p>
                      <a:pPr marL="0" marR="0" lvl="0" indent="0" algn="l" rtl="0">
                        <a:lnSpc>
                          <a:spcPct val="100000"/>
                        </a:lnSpc>
                        <a:spcBef>
                          <a:spcPts val="0"/>
                        </a:spcBef>
                        <a:spcAft>
                          <a:spcPts val="0"/>
                        </a:spcAft>
                        <a:buClr>
                          <a:srgbClr val="0432FF"/>
                        </a:buClr>
                        <a:buSzPts val="1100"/>
                        <a:buFont typeface="Calibri"/>
                        <a:buNone/>
                      </a:pPr>
                      <a:r>
                        <a:rPr lang="en-US" sz="1100" b="0" u="none" strike="noStrike" cap="none" dirty="0">
                          <a:solidFill>
                            <a:srgbClr val="0432FF"/>
                          </a:solidFill>
                        </a:rPr>
                        <a:t>(conduct MAPS mini for each segment and then average them to get a MAPS mini score. Resources available here: </a:t>
                      </a:r>
                      <a:r>
                        <a:rPr lang="en-US" sz="1100" u="sng" strike="noStrike" cap="none" dirty="0">
                          <a:solidFill>
                            <a:schemeClr val="hlink"/>
                          </a:solidFill>
                          <a:latin typeface="Arial"/>
                          <a:ea typeface="Arial"/>
                          <a:cs typeface="Arial"/>
                          <a:sym typeface="Arial"/>
                          <a:hlinkClick r:id="rId4"/>
                        </a:rPr>
                        <a:t>https://drjimsallis.org/measure_maps.html#MAPSMINI</a:t>
                      </a:r>
                      <a:r>
                        <a:rPr lang="en-US" sz="1100" u="none" strike="noStrike" cap="none" dirty="0">
                          <a:solidFill>
                            <a:srgbClr val="0432FF"/>
                          </a:solidFill>
                        </a:rPr>
                        <a:t>. </a:t>
                      </a:r>
                      <a:endParaRPr sz="1100" b="1" u="none" strike="noStrike" cap="none" dirty="0">
                        <a:solidFill>
                          <a:srgbClr val="0432FF"/>
                        </a:solidFill>
                      </a:endParaRPr>
                    </a:p>
                    <a:p>
                      <a:pPr marL="0" marR="0" lvl="0" indent="0" algn="l" rtl="0">
                        <a:lnSpc>
                          <a:spcPct val="100000"/>
                        </a:lnSpc>
                        <a:spcBef>
                          <a:spcPts val="0"/>
                        </a:spcBef>
                        <a:spcAft>
                          <a:spcPts val="0"/>
                        </a:spcAft>
                        <a:buClr>
                          <a:schemeClr val="dk1"/>
                        </a:buClr>
                        <a:buSzPts val="1100"/>
                        <a:buFont typeface="Calibri"/>
                        <a:buNone/>
                      </a:pPr>
                      <a:endParaRPr sz="1100" b="1" u="none" strike="noStrike" cap="none" dirty="0">
                        <a:solidFill>
                          <a:srgbClr val="000000"/>
                        </a:solidFill>
                      </a:endParaRPr>
                    </a:p>
                    <a:p>
                      <a:pPr marL="0" marR="0" lvl="0" indent="0" algn="l" rtl="0">
                        <a:lnSpc>
                          <a:spcPct val="100000"/>
                        </a:lnSpc>
                        <a:spcBef>
                          <a:spcPts val="0"/>
                        </a:spcBef>
                        <a:spcAft>
                          <a:spcPts val="0"/>
                        </a:spcAft>
                        <a:buClr>
                          <a:schemeClr val="dk1"/>
                        </a:buClr>
                        <a:buSzPts val="1100"/>
                        <a:buFont typeface="Calibri"/>
                        <a:buNone/>
                      </a:pPr>
                      <a:r>
                        <a:rPr lang="en-US" sz="1100" b="1" i="0" u="none" strike="noStrike" cap="none" dirty="0">
                          <a:solidFill>
                            <a:schemeClr val="dk1"/>
                          </a:solidFill>
                        </a:rPr>
                        <a:t>MAPS Mini Score:   0-1      2-3      4-5    6-7     8-9     10-11   12-13   14-15     16-17     18-19   20-21   </a:t>
                      </a:r>
                      <a:endParaRPr sz="1400" u="none" strike="noStrike" cap="none" dirty="0"/>
                    </a:p>
                    <a:p>
                      <a:pPr marL="0" marR="0" lvl="0" indent="0" algn="l" rtl="0">
                        <a:lnSpc>
                          <a:spcPct val="100000"/>
                        </a:lnSpc>
                        <a:spcBef>
                          <a:spcPts val="0"/>
                        </a:spcBef>
                        <a:spcAft>
                          <a:spcPts val="0"/>
                        </a:spcAft>
                        <a:buClr>
                          <a:srgbClr val="FF0000"/>
                        </a:buClr>
                        <a:buSzPts val="1100"/>
                        <a:buFont typeface="Calibri"/>
                        <a:buNone/>
                      </a:pPr>
                      <a:r>
                        <a:rPr lang="en-US" sz="1100" b="1" i="0" u="none" strike="noStrike" cap="none" dirty="0">
                          <a:solidFill>
                            <a:srgbClr val="FF0000"/>
                          </a:solidFill>
                        </a:rPr>
                        <a:t>Points:                       0          2.5       5      7.5       10       12.5      15        17.5         20         22.5         25                                        </a:t>
                      </a:r>
                      <a:endParaRPr sz="1400" u="none" strike="noStrike" cap="none" dirty="0"/>
                    </a:p>
                  </a:txBody>
                  <a:tcPr marL="68575" marR="68575" marT="60950" marB="60950">
                    <a:solidFill>
                      <a:srgbClr val="00FF00"/>
                    </a:solidFill>
                  </a:tcPr>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         /25</a:t>
                      </a:r>
                      <a:endParaRPr sz="1400" u="none" strike="noStrike" cap="none"/>
                    </a:p>
                  </a:txBody>
                  <a:tcPr marL="68575" marR="68575" marT="60950" marB="60950">
                    <a:solidFill>
                      <a:srgbClr val="00FF00"/>
                    </a:solidFill>
                  </a:tcPr>
                </a:tc>
                <a:extLst>
                  <a:ext uri="{0D108BD9-81ED-4DB2-BD59-A6C34878D82A}">
                    <a16:rowId xmlns:a16="http://schemas.microsoft.com/office/drawing/2014/main" val="10003"/>
                  </a:ext>
                </a:extLst>
              </a:tr>
              <a:tr h="794950">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a:solidFill>
                            <a:srgbClr val="FF0000"/>
                          </a:solidFill>
                        </a:rPr>
                        <a:t>Step 2 Points</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0-17 points: Below Average</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18-32 points: Average</a:t>
                      </a:r>
                      <a:endParaRPr sz="1400" u="none" strike="noStrike" cap="none"/>
                    </a:p>
                    <a:p>
                      <a:pPr marL="0" marR="0" lvl="0" indent="0" algn="l" rtl="0">
                        <a:lnSpc>
                          <a:spcPct val="100000"/>
                        </a:lnSpc>
                        <a:spcBef>
                          <a:spcPts val="0"/>
                        </a:spcBef>
                        <a:spcAft>
                          <a:spcPts val="0"/>
                        </a:spcAft>
                        <a:buClr>
                          <a:srgbClr val="FF0000"/>
                        </a:buClr>
                        <a:buSzPts val="1100"/>
                        <a:buFont typeface="Calibri"/>
                        <a:buNone/>
                      </a:pPr>
                      <a:r>
                        <a:rPr lang="en-US" sz="1100" b="0" i="1" u="none" strike="noStrike" cap="none">
                          <a:solidFill>
                            <a:srgbClr val="FF0000"/>
                          </a:solidFill>
                        </a:rPr>
                        <a:t>33-50: Above Average</a:t>
                      </a:r>
                      <a:endParaRPr sz="1400" u="none" strike="noStrike" cap="none"/>
                    </a:p>
                  </a:txBody>
                  <a:tcPr marL="68575" marR="68575" marT="60950" marB="60950"/>
                </a:tc>
                <a:tc>
                  <a:txBody>
                    <a:bodyPr/>
                    <a:lstStyle/>
                    <a:p>
                      <a:pPr marL="0" marR="0" lvl="0" indent="0" algn="l" rtl="0">
                        <a:lnSpc>
                          <a:spcPct val="100000"/>
                        </a:lnSpc>
                        <a:spcBef>
                          <a:spcPts val="0"/>
                        </a:spcBef>
                        <a:spcAft>
                          <a:spcPts val="0"/>
                        </a:spcAft>
                        <a:buClr>
                          <a:srgbClr val="FF0000"/>
                        </a:buClr>
                        <a:buSzPts val="1100"/>
                        <a:buFont typeface="Calibri"/>
                        <a:buNone/>
                      </a:pPr>
                      <a:r>
                        <a:rPr lang="en-US" sz="1100" b="1" i="1" u="none" strike="noStrike" cap="none" dirty="0">
                          <a:solidFill>
                            <a:srgbClr val="FF0000"/>
                          </a:solidFill>
                        </a:rPr>
                        <a:t>     /50</a:t>
                      </a:r>
                      <a:endParaRPr sz="1400" u="none" strike="noStrike" cap="none" dirty="0"/>
                    </a:p>
                  </a:txBody>
                  <a:tcPr marL="68575" marR="68575" marT="60950" marB="60950"/>
                </a:tc>
                <a:extLst>
                  <a:ext uri="{0D108BD9-81ED-4DB2-BD59-A6C34878D82A}">
                    <a16:rowId xmlns:a16="http://schemas.microsoft.com/office/drawing/2014/main" val="10004"/>
                  </a:ext>
                </a:extLst>
              </a:tr>
            </a:tbl>
          </a:graphicData>
        </a:graphic>
      </p:graphicFrame>
      <p:sp>
        <p:nvSpPr>
          <p:cNvPr id="2" name="Footer Placeholder 1">
            <a:extLst>
              <a:ext uri="{FF2B5EF4-FFF2-40B4-BE49-F238E27FC236}">
                <a16:creationId xmlns:a16="http://schemas.microsoft.com/office/drawing/2014/main" id="{5950B9FF-2CAF-9844-98B6-4805CF3FB19A}"/>
              </a:ext>
            </a:extLst>
          </p:cNvPr>
          <p:cNvSpPr>
            <a:spLocks noGrp="1"/>
          </p:cNvSpPr>
          <p:nvPr>
            <p:ph type="ftr" idx="11"/>
          </p:nvPr>
        </p:nvSpPr>
        <p:spPr/>
        <p:txBody>
          <a:bodyPr/>
          <a:lstStyle/>
          <a:p>
            <a:r>
              <a:rPr lang="en-US"/>
              <a:t>V9B</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g783ce67ac1_0_282"/>
          <p:cNvSpPr txBox="1">
            <a:spLocks noGrp="1"/>
          </p:cNvSpPr>
          <p:nvPr>
            <p:ph type="title"/>
          </p:nvPr>
        </p:nvSpPr>
        <p:spPr>
          <a:xfrm>
            <a:off x="342900" y="180975"/>
            <a:ext cx="6172200" cy="72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800"/>
              <a:buNone/>
            </a:pPr>
            <a:r>
              <a:rPr lang="en-US" sz="4000"/>
              <a:t>S2Q3 Instructions</a:t>
            </a:r>
            <a:endParaRPr sz="4000"/>
          </a:p>
        </p:txBody>
      </p:sp>
      <p:sp>
        <p:nvSpPr>
          <p:cNvPr id="587" name="Google Shape;587;g783ce67ac1_0_282"/>
          <p:cNvSpPr txBox="1">
            <a:spLocks noGrp="1"/>
          </p:cNvSpPr>
          <p:nvPr>
            <p:ph type="body" idx="1"/>
          </p:nvPr>
        </p:nvSpPr>
        <p:spPr>
          <a:xfrm>
            <a:off x="342900" y="1028700"/>
            <a:ext cx="6172200" cy="6858000"/>
          </a:xfrm>
          <a:prstGeom prst="rect">
            <a:avLst/>
          </a:prstGeom>
          <a:noFill/>
          <a:ln>
            <a:noFill/>
          </a:ln>
        </p:spPr>
        <p:txBody>
          <a:bodyPr spcFirstLastPara="1" wrap="square" lIns="91425" tIns="45700" rIns="91425" bIns="45700" anchor="t" anchorCtr="0">
            <a:noAutofit/>
          </a:bodyPr>
          <a:lstStyle/>
          <a:p>
            <a:pPr marL="457200" lvl="0" indent="-342900" algn="l" rtl="0">
              <a:lnSpc>
                <a:spcPct val="107000"/>
              </a:lnSpc>
              <a:spcBef>
                <a:spcPts val="0"/>
              </a:spcBef>
              <a:spcAft>
                <a:spcPts val="0"/>
              </a:spcAft>
              <a:buSzPts val="1800"/>
              <a:buChar char="●"/>
            </a:pPr>
            <a:r>
              <a:rPr lang="en-US" sz="2400" dirty="0"/>
              <a:t>Click the link provided for the MAPS Mini Survey; available </a:t>
            </a:r>
            <a:r>
              <a:rPr lang="en-US" sz="2400" u="sng" dirty="0">
                <a:solidFill>
                  <a:srgbClr val="666699"/>
                </a:solidFill>
                <a:hlinkClick r:id="rId3">
                  <a:extLst>
                    <a:ext uri="{A12FA001-AC4F-418D-AE19-62706E023703}">
                      <ahyp:hlinkClr xmlns:ahyp="http://schemas.microsoft.com/office/drawing/2018/hyperlinkcolor" val="tx"/>
                    </a:ext>
                  </a:extLst>
                </a:hlinkClick>
              </a:rPr>
              <a:t>here</a:t>
            </a:r>
            <a:r>
              <a:rPr lang="en-US" sz="2700" dirty="0"/>
              <a:t>. </a:t>
            </a:r>
            <a:endParaRPr sz="2700" dirty="0"/>
          </a:p>
          <a:p>
            <a:pPr marL="457200" lvl="0" indent="-381000" algn="l" rtl="0">
              <a:lnSpc>
                <a:spcPct val="107000"/>
              </a:lnSpc>
              <a:spcBef>
                <a:spcPts val="0"/>
              </a:spcBef>
              <a:spcAft>
                <a:spcPts val="0"/>
              </a:spcAft>
              <a:buSzPts val="2400"/>
              <a:buChar char="●"/>
            </a:pPr>
            <a:r>
              <a:rPr lang="en-US" sz="2400" dirty="0"/>
              <a:t>Select “MAPS Mini Survey” to open the survey</a:t>
            </a:r>
            <a:endParaRPr sz="2400" dirty="0"/>
          </a:p>
          <a:p>
            <a:pPr marL="457200" lvl="0" indent="-381000" algn="l" rtl="0">
              <a:lnSpc>
                <a:spcPct val="115000"/>
              </a:lnSpc>
              <a:spcBef>
                <a:spcPts val="0"/>
              </a:spcBef>
              <a:spcAft>
                <a:spcPts val="0"/>
              </a:spcAft>
              <a:buSzPts val="2400"/>
              <a:buChar char="●"/>
            </a:pPr>
            <a:r>
              <a:rPr lang="en-US" sz="2400" dirty="0"/>
              <a:t>The “MAPS Mini Protocol” and “MAPS Mini Picture Guide” provides field procedures for data collection with a more in-depth understanding of how to assess segments during the survey for each question.</a:t>
            </a:r>
            <a:endParaRPr sz="2400" dirty="0"/>
          </a:p>
          <a:p>
            <a:pPr marL="457200" lvl="0" indent="-381000" algn="l" rtl="0">
              <a:lnSpc>
                <a:spcPct val="107000"/>
              </a:lnSpc>
              <a:spcBef>
                <a:spcPts val="0"/>
              </a:spcBef>
              <a:spcAft>
                <a:spcPts val="0"/>
              </a:spcAft>
              <a:buSzPts val="2400"/>
              <a:buChar char="●"/>
            </a:pPr>
            <a:r>
              <a:rPr lang="en-US" sz="2400" dirty="0"/>
              <a:t>Complete the “MAPS Mini Survey” for each segment – i.e., block. Average the MAPS Mini points for all segments.</a:t>
            </a:r>
            <a:endParaRPr sz="2400" dirty="0"/>
          </a:p>
          <a:p>
            <a:pPr marL="457200" lvl="0" indent="-381000" algn="l" rtl="0">
              <a:lnSpc>
                <a:spcPct val="107000"/>
              </a:lnSpc>
              <a:spcBef>
                <a:spcPts val="0"/>
              </a:spcBef>
              <a:spcAft>
                <a:spcPts val="0"/>
              </a:spcAft>
              <a:buSzPts val="2400"/>
              <a:buChar char="●"/>
            </a:pPr>
            <a:r>
              <a:rPr lang="en-US" sz="2400" dirty="0"/>
              <a:t>Use the MAPS Mini Points to derive and record the corresponding DST points.</a:t>
            </a:r>
            <a:endParaRPr sz="2400" dirty="0"/>
          </a:p>
          <a:p>
            <a:pPr marL="457200" lvl="0" indent="-381000" algn="l" rtl="0">
              <a:lnSpc>
                <a:spcPct val="107000"/>
              </a:lnSpc>
              <a:spcBef>
                <a:spcPts val="0"/>
              </a:spcBef>
              <a:spcAft>
                <a:spcPts val="0"/>
              </a:spcAft>
              <a:buSzPts val="2400"/>
              <a:buChar char="●"/>
            </a:pPr>
            <a:r>
              <a:rPr lang="en-US" sz="2400" i="1" dirty="0"/>
              <a:t>Note: the MAPS Mini Survey may also be completed using online maps, though the information may not be as up-to-date. </a:t>
            </a:r>
            <a:endParaRPr sz="2400" i="1" dirty="0"/>
          </a:p>
          <a:p>
            <a:pPr marL="0" lvl="0" indent="0" algn="l" rtl="0">
              <a:lnSpc>
                <a:spcPct val="107000"/>
              </a:lnSpc>
              <a:spcBef>
                <a:spcPts val="1000"/>
              </a:spcBef>
              <a:spcAft>
                <a:spcPts val="0"/>
              </a:spcAft>
              <a:buSzPts val="1800"/>
              <a:buNone/>
            </a:pPr>
            <a:endParaRPr sz="1800" dirty="0"/>
          </a:p>
          <a:p>
            <a:pPr marL="0" lvl="0" indent="0" algn="l" rtl="0">
              <a:lnSpc>
                <a:spcPct val="107000"/>
              </a:lnSpc>
              <a:spcBef>
                <a:spcPts val="0"/>
              </a:spcBef>
              <a:spcAft>
                <a:spcPts val="0"/>
              </a:spcAft>
              <a:buSzPts val="1800"/>
              <a:buNone/>
            </a:pPr>
            <a:endParaRPr sz="1800" dirty="0"/>
          </a:p>
          <a:p>
            <a:pPr marL="457200" lvl="0" indent="0" algn="l" rtl="0">
              <a:lnSpc>
                <a:spcPct val="115000"/>
              </a:lnSpc>
              <a:spcBef>
                <a:spcPts val="0"/>
              </a:spcBef>
              <a:spcAft>
                <a:spcPts val="0"/>
              </a:spcAft>
              <a:buSzPts val="1800"/>
              <a:buNone/>
            </a:pPr>
            <a:endParaRPr sz="1600" dirty="0">
              <a:solidFill>
                <a:srgbClr val="000000"/>
              </a:solidFill>
            </a:endParaRPr>
          </a:p>
          <a:p>
            <a:pPr marL="0" lvl="0" indent="0" algn="l" rtl="0">
              <a:lnSpc>
                <a:spcPct val="100000"/>
              </a:lnSpc>
              <a:spcBef>
                <a:spcPts val="360"/>
              </a:spcBef>
              <a:spcAft>
                <a:spcPts val="0"/>
              </a:spcAft>
              <a:buSzPts val="1800"/>
              <a:buNone/>
            </a:pPr>
            <a:endParaRPr sz="1400" dirty="0"/>
          </a:p>
          <a:p>
            <a:pPr marL="0" lvl="0" indent="0" algn="l" rtl="0">
              <a:lnSpc>
                <a:spcPct val="115000"/>
              </a:lnSpc>
              <a:spcBef>
                <a:spcPts val="0"/>
              </a:spcBef>
              <a:spcAft>
                <a:spcPts val="0"/>
              </a:spcAft>
              <a:buSzPts val="1800"/>
              <a:buNone/>
            </a:pPr>
            <a:endParaRPr sz="1400" dirty="0"/>
          </a:p>
          <a:p>
            <a:pPr marL="0" lvl="0" indent="0" algn="l" rtl="0">
              <a:lnSpc>
                <a:spcPct val="115000"/>
              </a:lnSpc>
              <a:spcBef>
                <a:spcPts val="0"/>
              </a:spcBef>
              <a:spcAft>
                <a:spcPts val="0"/>
              </a:spcAft>
              <a:buSzPts val="1800"/>
              <a:buNone/>
            </a:pPr>
            <a:endParaRPr sz="1400" dirty="0"/>
          </a:p>
          <a:p>
            <a:pPr marL="0" lvl="0" indent="0" algn="l" rtl="0">
              <a:lnSpc>
                <a:spcPct val="100000"/>
              </a:lnSpc>
              <a:spcBef>
                <a:spcPts val="800"/>
              </a:spcBef>
              <a:spcAft>
                <a:spcPts val="0"/>
              </a:spcAft>
              <a:buSzPts val="1800"/>
              <a:buNone/>
            </a:pPr>
            <a:endParaRPr sz="1400" dirty="0"/>
          </a:p>
          <a:p>
            <a:pPr marL="457200" lvl="0" indent="0" algn="l" rtl="0">
              <a:lnSpc>
                <a:spcPct val="100000"/>
              </a:lnSpc>
              <a:spcBef>
                <a:spcPts val="360"/>
              </a:spcBef>
              <a:spcAft>
                <a:spcPts val="0"/>
              </a:spcAft>
              <a:buSzPts val="1800"/>
              <a:buNone/>
            </a:pPr>
            <a:endParaRPr sz="1400" dirty="0"/>
          </a:p>
          <a:p>
            <a:pPr marL="457200" lvl="0" indent="0" algn="l" rtl="0">
              <a:lnSpc>
                <a:spcPct val="100000"/>
              </a:lnSpc>
              <a:spcBef>
                <a:spcPts val="360"/>
              </a:spcBef>
              <a:spcAft>
                <a:spcPts val="0"/>
              </a:spcAft>
              <a:buSzPts val="1800"/>
              <a:buNone/>
            </a:pPr>
            <a:endParaRPr sz="1400" dirty="0"/>
          </a:p>
          <a:p>
            <a:pPr marL="0" lvl="0" indent="0" algn="l" rtl="0">
              <a:lnSpc>
                <a:spcPct val="115000"/>
              </a:lnSpc>
              <a:spcBef>
                <a:spcPts val="0"/>
              </a:spcBef>
              <a:spcAft>
                <a:spcPts val="0"/>
              </a:spcAft>
              <a:buSzPts val="1800"/>
              <a:buNone/>
            </a:pPr>
            <a:endParaRPr sz="1600" dirty="0"/>
          </a:p>
        </p:txBody>
      </p:sp>
      <p:sp>
        <p:nvSpPr>
          <p:cNvPr id="2" name="Footer Placeholder 1">
            <a:extLst>
              <a:ext uri="{FF2B5EF4-FFF2-40B4-BE49-F238E27FC236}">
                <a16:creationId xmlns:a16="http://schemas.microsoft.com/office/drawing/2014/main" id="{1A7C1F6E-FAAE-1F49-8CE4-676730D5DEDA}"/>
              </a:ext>
            </a:extLst>
          </p:cNvPr>
          <p:cNvSpPr>
            <a:spLocks noGrp="1"/>
          </p:cNvSpPr>
          <p:nvPr>
            <p:ph type="ftr" idx="11"/>
          </p:nvPr>
        </p:nvSpPr>
        <p:spPr/>
        <p:txBody>
          <a:bodyPr/>
          <a:lstStyle/>
          <a:p>
            <a:r>
              <a:rPr lang="en-US"/>
              <a:t>V9B</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8" name="Google Shape;708;g8701af7b45_0_117"/>
          <p:cNvSpPr txBox="1"/>
          <p:nvPr/>
        </p:nvSpPr>
        <p:spPr>
          <a:xfrm>
            <a:off x="486825" y="1042450"/>
            <a:ext cx="5935200" cy="1355700"/>
          </a:xfrm>
          <a:prstGeom prst="rect">
            <a:avLst/>
          </a:prstGeom>
          <a:solidFill>
            <a:srgbClr val="FFC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9051"/>
              </a:buClr>
              <a:buSzPts val="2600"/>
              <a:buFont typeface="Arial"/>
              <a:buChar char="•"/>
            </a:pPr>
            <a:r>
              <a:rPr lang="en-US" sz="2600" b="0" i="0" u="none" strike="noStrike" cap="none">
                <a:solidFill>
                  <a:srgbClr val="009051"/>
                </a:solidFill>
                <a:latin typeface="Calibri"/>
                <a:ea typeface="Calibri"/>
                <a:cs typeface="Calibri"/>
                <a:sym typeface="Calibri"/>
              </a:rPr>
              <a:t>Step 2: Assess existing infrastructure</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g8701af7b45_0_117"/>
          <p:cNvSpPr/>
          <p:nvPr/>
        </p:nvSpPr>
        <p:spPr>
          <a:xfrm>
            <a:off x="3221575" y="2468177"/>
            <a:ext cx="414900" cy="523200"/>
          </a:xfrm>
          <a:prstGeom prst="downArrow">
            <a:avLst>
              <a:gd name="adj1" fmla="val 50000"/>
              <a:gd name="adj2" fmla="val 50000"/>
            </a:avLst>
          </a:prstGeom>
          <a:solidFill>
            <a:srgbClr val="A5A5A5"/>
          </a:solidFill>
          <a:ln w="9525" cap="flat" cmpd="sng">
            <a:solidFill>
              <a:srgbClr val="4A7DBA"/>
            </a:solidFill>
            <a:prstDash val="solid"/>
            <a:round/>
            <a:headEnd type="none" w="sm" len="sm"/>
            <a:tailEnd type="none" w="sm" len="sm"/>
          </a:ln>
          <a:effectLst>
            <a:outerShdw blurRad="40000" dist="23000" dir="5400000" rotWithShape="0">
              <a:srgbClr val="000000">
                <a:alpha val="3294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aphicFrame>
        <p:nvGraphicFramePr>
          <p:cNvPr id="710" name="Google Shape;710;g8701af7b45_0_117"/>
          <p:cNvGraphicFramePr/>
          <p:nvPr/>
        </p:nvGraphicFramePr>
        <p:xfrm>
          <a:off x="555604" y="3472437"/>
          <a:ext cx="6158475" cy="4610495"/>
        </p:xfrm>
        <a:graphic>
          <a:graphicData uri="http://schemas.openxmlformats.org/drawingml/2006/table">
            <a:tbl>
              <a:tblPr firstRow="1" bandRow="1">
                <a:noFill/>
                <a:tableStyleId>{CAC760E6-1B21-447E-AD2F-912B2140AA3E}</a:tableStyleId>
              </a:tblPr>
              <a:tblGrid>
                <a:gridCol w="1290125">
                  <a:extLst>
                    <a:ext uri="{9D8B030D-6E8A-4147-A177-3AD203B41FA5}">
                      <a16:colId xmlns:a16="http://schemas.microsoft.com/office/drawing/2014/main" val="20000"/>
                    </a:ext>
                  </a:extLst>
                </a:gridCol>
                <a:gridCol w="1513725">
                  <a:extLst>
                    <a:ext uri="{9D8B030D-6E8A-4147-A177-3AD203B41FA5}">
                      <a16:colId xmlns:a16="http://schemas.microsoft.com/office/drawing/2014/main" val="20001"/>
                    </a:ext>
                  </a:extLst>
                </a:gridCol>
                <a:gridCol w="1629525">
                  <a:extLst>
                    <a:ext uri="{9D8B030D-6E8A-4147-A177-3AD203B41FA5}">
                      <a16:colId xmlns:a16="http://schemas.microsoft.com/office/drawing/2014/main" val="20002"/>
                    </a:ext>
                  </a:extLst>
                </a:gridCol>
                <a:gridCol w="1725100">
                  <a:extLst>
                    <a:ext uri="{9D8B030D-6E8A-4147-A177-3AD203B41FA5}">
                      <a16:colId xmlns:a16="http://schemas.microsoft.com/office/drawing/2014/main" val="20003"/>
                    </a:ext>
                  </a:extLst>
                </a:gridCol>
              </a:tblGrid>
              <a:tr h="569500">
                <a:tc>
                  <a:txBody>
                    <a:bodyPr/>
                    <a:lstStyle/>
                    <a:p>
                      <a:pPr marL="0" marR="0" lvl="0" indent="0" algn="ctr" rtl="0">
                        <a:lnSpc>
                          <a:spcPct val="100000"/>
                        </a:lnSpc>
                        <a:spcBef>
                          <a:spcPts val="0"/>
                        </a:spcBef>
                        <a:spcAft>
                          <a:spcPts val="0"/>
                        </a:spcAft>
                        <a:buClr>
                          <a:srgbClr val="000000"/>
                        </a:buClr>
                        <a:buSzPts val="2400"/>
                        <a:buFont typeface="Arial"/>
                        <a:buNone/>
                      </a:pPr>
                      <a:endParaRPr sz="2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Below Average</a:t>
                      </a:r>
                      <a:endParaRPr sz="2400" b="0" u="none" strike="noStrike" cap="none">
                        <a:solidFill>
                          <a:srgbClr val="00B050"/>
                        </a:solidFill>
                      </a:endParaRPr>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Average</a:t>
                      </a:r>
                      <a:endParaRPr sz="2400" b="0" u="none" strike="noStrike" cap="none">
                        <a:solidFill>
                          <a:srgbClr val="00B050"/>
                        </a:solidFill>
                      </a:endParaRPr>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Above Average</a:t>
                      </a:r>
                      <a:endParaRPr sz="2400" b="0" u="none" strike="noStrike" cap="none">
                        <a:solidFill>
                          <a:srgbClr val="00B050"/>
                        </a:solidFill>
                      </a:endParaRPr>
                    </a:p>
                  </a:txBody>
                  <a:tcPr marL="84800" marR="84800" marT="42400" marB="42400"/>
                </a:tc>
                <a:extLst>
                  <a:ext uri="{0D108BD9-81ED-4DB2-BD59-A6C34878D82A}">
                    <a16:rowId xmlns:a16="http://schemas.microsoft.com/office/drawing/2014/main" val="10000"/>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High</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extLst>
                  <a:ext uri="{0D108BD9-81ED-4DB2-BD59-A6C34878D82A}">
                    <a16:rowId xmlns:a16="http://schemas.microsoft.com/office/drawing/2014/main" val="10001"/>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Medium</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Better</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Good</a:t>
                      </a:r>
                      <a:endParaRPr sz="1400" u="none" strike="noStrike" cap="none"/>
                    </a:p>
                  </a:txBody>
                  <a:tcPr marL="84800" marR="84800" marT="42400" marB="42400"/>
                </a:tc>
                <a:extLst>
                  <a:ext uri="{0D108BD9-81ED-4DB2-BD59-A6C34878D82A}">
                    <a16:rowId xmlns:a16="http://schemas.microsoft.com/office/drawing/2014/main" val="10002"/>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Low</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Better</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Good</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dirty="0">
                          <a:solidFill>
                            <a:srgbClr val="C00000"/>
                          </a:solidFill>
                        </a:rPr>
                        <a:t>Minimal potential for benefit</a:t>
                      </a:r>
                      <a:endParaRPr sz="1400" u="none" strike="noStrike" cap="none" dirty="0"/>
                    </a:p>
                  </a:txBody>
                  <a:tcPr marL="84800" marR="84800" marT="42400" marB="42400"/>
                </a:tc>
                <a:extLst>
                  <a:ext uri="{0D108BD9-81ED-4DB2-BD59-A6C34878D82A}">
                    <a16:rowId xmlns:a16="http://schemas.microsoft.com/office/drawing/2014/main" val="10003"/>
                  </a:ext>
                </a:extLst>
              </a:tr>
            </a:tbl>
          </a:graphicData>
        </a:graphic>
      </p:graphicFrame>
      <p:sp>
        <p:nvSpPr>
          <p:cNvPr id="711" name="Google Shape;711;g8701af7b45_0_117"/>
          <p:cNvSpPr txBox="1"/>
          <p:nvPr/>
        </p:nvSpPr>
        <p:spPr>
          <a:xfrm>
            <a:off x="1861498" y="2883601"/>
            <a:ext cx="3546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9051"/>
                </a:solidFill>
                <a:latin typeface="Calibri"/>
                <a:ea typeface="Calibri"/>
                <a:cs typeface="Calibri"/>
                <a:sym typeface="Calibri"/>
              </a:rPr>
              <a:t>Existing Infrastructure </a:t>
            </a:r>
            <a:endParaRPr sz="1400" b="0" i="0" u="none" strike="noStrike" cap="none">
              <a:solidFill>
                <a:srgbClr val="000000"/>
              </a:solidFill>
              <a:latin typeface="Arial"/>
              <a:ea typeface="Arial"/>
              <a:cs typeface="Arial"/>
              <a:sym typeface="Arial"/>
            </a:endParaRPr>
          </a:p>
        </p:txBody>
      </p:sp>
      <p:sp>
        <p:nvSpPr>
          <p:cNvPr id="712" name="Google Shape;712;g8701af7b45_0_117"/>
          <p:cNvSpPr txBox="1"/>
          <p:nvPr/>
        </p:nvSpPr>
        <p:spPr>
          <a:xfrm rot="-5400000">
            <a:off x="-1959671" y="5516123"/>
            <a:ext cx="4610400" cy="523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7030A0"/>
                </a:solidFill>
                <a:latin typeface="Calibri"/>
                <a:ea typeface="Calibri"/>
                <a:cs typeface="Calibri"/>
                <a:sym typeface="Calibri"/>
              </a:rPr>
              <a:t>Area Existing Need</a:t>
            </a:r>
            <a:endParaRPr sz="1400" b="0" i="0" u="none" strike="noStrike" cap="none">
              <a:solidFill>
                <a:srgbClr val="000000"/>
              </a:solidFill>
              <a:latin typeface="Arial"/>
              <a:ea typeface="Arial"/>
              <a:cs typeface="Arial"/>
              <a:sym typeface="Arial"/>
            </a:endParaRPr>
          </a:p>
        </p:txBody>
      </p:sp>
      <p:sp>
        <p:nvSpPr>
          <p:cNvPr id="714" name="Google Shape;714;g8701af7b45_0_117"/>
          <p:cNvSpPr txBox="1"/>
          <p:nvPr/>
        </p:nvSpPr>
        <p:spPr>
          <a:xfrm>
            <a:off x="0" y="0"/>
            <a:ext cx="6858000" cy="719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900"/>
              <a:buFont typeface="Arial"/>
              <a:buNone/>
            </a:pPr>
            <a:r>
              <a:rPr lang="en-US" sz="3900" b="0" i="0" u="none" strike="noStrike" cap="none">
                <a:solidFill>
                  <a:schemeClr val="dk1"/>
                </a:solidFill>
                <a:latin typeface="Calibri"/>
                <a:ea typeface="Calibri"/>
                <a:cs typeface="Calibri"/>
                <a:sym typeface="Calibri"/>
              </a:rPr>
              <a:t>Assess Existing Infrastructure</a:t>
            </a:r>
            <a:endParaRPr sz="3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Calibri"/>
              <a:ea typeface="Calibri"/>
              <a:cs typeface="Calibri"/>
              <a:sym typeface="Calibri"/>
            </a:endParaRPr>
          </a:p>
        </p:txBody>
      </p:sp>
      <p:sp>
        <p:nvSpPr>
          <p:cNvPr id="715" name="Google Shape;715;g8701af7b45_0_117"/>
          <p:cNvSpPr/>
          <p:nvPr/>
        </p:nvSpPr>
        <p:spPr>
          <a:xfrm>
            <a:off x="590650" y="1299000"/>
            <a:ext cx="5740500" cy="3693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6" name="Google Shape;716;g8701af7b45_0_117"/>
          <p:cNvSpPr/>
          <p:nvPr/>
        </p:nvSpPr>
        <p:spPr>
          <a:xfrm>
            <a:off x="1861500" y="3472425"/>
            <a:ext cx="4801500" cy="8508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g8701af7b45_0_117"/>
          <p:cNvSpPr txBox="1"/>
          <p:nvPr/>
        </p:nvSpPr>
        <p:spPr>
          <a:xfrm>
            <a:off x="486900" y="1674600"/>
            <a:ext cx="5935200" cy="43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a:solidFill>
                  <a:schemeClr val="dk1"/>
                </a:solidFill>
                <a:latin typeface="Calibri"/>
                <a:ea typeface="Calibri"/>
                <a:cs typeface="Calibri"/>
                <a:sym typeface="Calibri"/>
              </a:rPr>
              <a:t>Add up all the points for Step 2 to determine if infrastructure is “Below Average,” “Average,” or “Above Average”</a:t>
            </a:r>
            <a:endParaRPr sz="1400" b="0" i="0" u="none" strike="noStrike" cap="none">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9B475E8E-F9E3-5347-857C-B45142F55CE2}"/>
              </a:ext>
            </a:extLst>
          </p:cNvPr>
          <p:cNvSpPr>
            <a:spLocks noGrp="1"/>
          </p:cNvSpPr>
          <p:nvPr>
            <p:ph type="ftr" idx="11"/>
          </p:nvPr>
        </p:nvSpPr>
        <p:spPr/>
        <p:txBody>
          <a:bodyPr/>
          <a:lstStyle/>
          <a:p>
            <a:r>
              <a:rPr lang="en-US"/>
              <a:t>V9B</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4" name="Google Shape;724;g8701af7b45_0_29"/>
          <p:cNvSpPr txBox="1"/>
          <p:nvPr/>
        </p:nvSpPr>
        <p:spPr>
          <a:xfrm>
            <a:off x="457200" y="767300"/>
            <a:ext cx="6039000" cy="2099700"/>
          </a:xfrm>
          <a:prstGeom prst="rect">
            <a:avLst/>
          </a:prstGeom>
          <a:solidFill>
            <a:srgbClr val="FFC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C00000"/>
              </a:buClr>
              <a:buSzPts val="2600"/>
              <a:buFont typeface="Arial"/>
              <a:buChar char="•"/>
            </a:pPr>
            <a:r>
              <a:rPr lang="en-US" sz="2600" b="0" i="0" u="none" strike="noStrike" cap="none">
                <a:solidFill>
                  <a:srgbClr val="C00000"/>
                </a:solidFill>
                <a:latin typeface="Calibri"/>
                <a:ea typeface="Calibri"/>
                <a:cs typeface="Calibri"/>
                <a:sym typeface="Calibri"/>
              </a:rPr>
              <a:t>Step 3: Select proposed infrastructure</a:t>
            </a:r>
            <a:endParaRPr sz="1400" b="0" i="0" u="none" strike="noStrike" cap="none">
              <a:solidFill>
                <a:srgbClr val="000000"/>
              </a:solidFill>
              <a:latin typeface="Arial"/>
              <a:ea typeface="Arial"/>
              <a:cs typeface="Arial"/>
              <a:sym typeface="Arial"/>
            </a:endParaRPr>
          </a:p>
        </p:txBody>
      </p:sp>
      <p:sp>
        <p:nvSpPr>
          <p:cNvPr id="725" name="Google Shape;725;g8701af7b45_0_29"/>
          <p:cNvSpPr/>
          <p:nvPr/>
        </p:nvSpPr>
        <p:spPr>
          <a:xfrm>
            <a:off x="3221575" y="2944978"/>
            <a:ext cx="414900" cy="427500"/>
          </a:xfrm>
          <a:prstGeom prst="downArrow">
            <a:avLst>
              <a:gd name="adj1" fmla="val 50000"/>
              <a:gd name="adj2" fmla="val 50000"/>
            </a:avLst>
          </a:prstGeom>
          <a:solidFill>
            <a:srgbClr val="A5A5A5"/>
          </a:solidFill>
          <a:ln w="9525" cap="flat" cmpd="sng">
            <a:solidFill>
              <a:srgbClr val="4A7DBA"/>
            </a:solidFill>
            <a:prstDash val="solid"/>
            <a:round/>
            <a:headEnd type="none" w="sm" len="sm"/>
            <a:tailEnd type="none" w="sm" len="sm"/>
          </a:ln>
          <a:effectLst>
            <a:outerShdw blurRad="40000" dist="23000" dir="5400000" rotWithShape="0">
              <a:srgbClr val="000000">
                <a:alpha val="3294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aphicFrame>
        <p:nvGraphicFramePr>
          <p:cNvPr id="726" name="Google Shape;726;g8701af7b45_0_29"/>
          <p:cNvGraphicFramePr/>
          <p:nvPr/>
        </p:nvGraphicFramePr>
        <p:xfrm>
          <a:off x="555604" y="3853437"/>
          <a:ext cx="6158475" cy="4610495"/>
        </p:xfrm>
        <a:graphic>
          <a:graphicData uri="http://schemas.openxmlformats.org/drawingml/2006/table">
            <a:tbl>
              <a:tblPr firstRow="1" bandRow="1">
                <a:noFill/>
                <a:tableStyleId>{CAC760E6-1B21-447E-AD2F-912B2140AA3E}</a:tableStyleId>
              </a:tblPr>
              <a:tblGrid>
                <a:gridCol w="1290125">
                  <a:extLst>
                    <a:ext uri="{9D8B030D-6E8A-4147-A177-3AD203B41FA5}">
                      <a16:colId xmlns:a16="http://schemas.microsoft.com/office/drawing/2014/main" val="20000"/>
                    </a:ext>
                  </a:extLst>
                </a:gridCol>
                <a:gridCol w="1513725">
                  <a:extLst>
                    <a:ext uri="{9D8B030D-6E8A-4147-A177-3AD203B41FA5}">
                      <a16:colId xmlns:a16="http://schemas.microsoft.com/office/drawing/2014/main" val="20001"/>
                    </a:ext>
                  </a:extLst>
                </a:gridCol>
                <a:gridCol w="1629525">
                  <a:extLst>
                    <a:ext uri="{9D8B030D-6E8A-4147-A177-3AD203B41FA5}">
                      <a16:colId xmlns:a16="http://schemas.microsoft.com/office/drawing/2014/main" val="20002"/>
                    </a:ext>
                  </a:extLst>
                </a:gridCol>
                <a:gridCol w="1725100">
                  <a:extLst>
                    <a:ext uri="{9D8B030D-6E8A-4147-A177-3AD203B41FA5}">
                      <a16:colId xmlns:a16="http://schemas.microsoft.com/office/drawing/2014/main" val="20003"/>
                    </a:ext>
                  </a:extLst>
                </a:gridCol>
              </a:tblGrid>
              <a:tr h="569500">
                <a:tc>
                  <a:txBody>
                    <a:bodyPr/>
                    <a:lstStyle/>
                    <a:p>
                      <a:pPr marL="0" marR="0" lvl="0" indent="0" algn="ctr" rtl="0">
                        <a:lnSpc>
                          <a:spcPct val="100000"/>
                        </a:lnSpc>
                        <a:spcBef>
                          <a:spcPts val="0"/>
                        </a:spcBef>
                        <a:spcAft>
                          <a:spcPts val="0"/>
                        </a:spcAft>
                        <a:buClr>
                          <a:srgbClr val="000000"/>
                        </a:buClr>
                        <a:buSzPts val="2400"/>
                        <a:buFont typeface="Arial"/>
                        <a:buNone/>
                      </a:pPr>
                      <a:endParaRPr sz="2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Below Average</a:t>
                      </a:r>
                      <a:endParaRPr sz="2400" b="0" u="none" strike="noStrike" cap="none">
                        <a:solidFill>
                          <a:srgbClr val="00B050"/>
                        </a:solidFill>
                      </a:endParaRPr>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Average</a:t>
                      </a:r>
                      <a:endParaRPr sz="2400" b="0" u="none" strike="noStrike" cap="none">
                        <a:solidFill>
                          <a:srgbClr val="00B050"/>
                        </a:solidFill>
                      </a:endParaRPr>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00B050"/>
                          </a:solidFill>
                        </a:rPr>
                        <a:t>Above Average</a:t>
                      </a:r>
                      <a:endParaRPr sz="2400" b="0" u="none" strike="noStrike" cap="none">
                        <a:solidFill>
                          <a:srgbClr val="00B050"/>
                        </a:solidFill>
                      </a:endParaRPr>
                    </a:p>
                  </a:txBody>
                  <a:tcPr marL="84800" marR="84800" marT="42400" marB="42400"/>
                </a:tc>
                <a:extLst>
                  <a:ext uri="{0D108BD9-81ED-4DB2-BD59-A6C34878D82A}">
                    <a16:rowId xmlns:a16="http://schemas.microsoft.com/office/drawing/2014/main" val="10000"/>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High</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extLst>
                  <a:ext uri="{0D108BD9-81ED-4DB2-BD59-A6C34878D82A}">
                    <a16:rowId xmlns:a16="http://schemas.microsoft.com/office/drawing/2014/main" val="10001"/>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Medium</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Best</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Better</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Good</a:t>
                      </a:r>
                      <a:endParaRPr sz="1400" u="none" strike="noStrike" cap="none"/>
                    </a:p>
                  </a:txBody>
                  <a:tcPr marL="84800" marR="84800" marT="42400" marB="42400"/>
                </a:tc>
                <a:extLst>
                  <a:ext uri="{0D108BD9-81ED-4DB2-BD59-A6C34878D82A}">
                    <a16:rowId xmlns:a16="http://schemas.microsoft.com/office/drawing/2014/main" val="10002"/>
                  </a:ext>
                </a:extLst>
              </a:tr>
              <a:tr h="126472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7030A0"/>
                          </a:solidFill>
                        </a:rPr>
                        <a:t>Low</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Better</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rgbClr val="C00000"/>
                          </a:solidFill>
                        </a:rPr>
                        <a:t>≥ Good</a:t>
                      </a:r>
                      <a:endParaRPr sz="1400" u="none" strike="noStrike" cap="none"/>
                    </a:p>
                  </a:txBody>
                  <a:tcPr marL="84800" marR="84800" marT="42400" marB="42400"/>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dirty="0">
                          <a:solidFill>
                            <a:srgbClr val="C00000"/>
                          </a:solidFill>
                        </a:rPr>
                        <a:t>Minimal potential for benefit</a:t>
                      </a:r>
                      <a:endParaRPr sz="1400" u="none" strike="noStrike" cap="none" dirty="0"/>
                    </a:p>
                  </a:txBody>
                  <a:tcPr marL="84800" marR="84800" marT="42400" marB="42400"/>
                </a:tc>
                <a:extLst>
                  <a:ext uri="{0D108BD9-81ED-4DB2-BD59-A6C34878D82A}">
                    <a16:rowId xmlns:a16="http://schemas.microsoft.com/office/drawing/2014/main" val="10003"/>
                  </a:ext>
                </a:extLst>
              </a:tr>
            </a:tbl>
          </a:graphicData>
        </a:graphic>
      </p:graphicFrame>
      <p:sp>
        <p:nvSpPr>
          <p:cNvPr id="727" name="Google Shape;727;g8701af7b45_0_29"/>
          <p:cNvSpPr txBox="1"/>
          <p:nvPr/>
        </p:nvSpPr>
        <p:spPr>
          <a:xfrm>
            <a:off x="1861498" y="3340801"/>
            <a:ext cx="35466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9051"/>
                </a:solidFill>
                <a:latin typeface="Calibri"/>
                <a:ea typeface="Calibri"/>
                <a:cs typeface="Calibri"/>
                <a:sym typeface="Calibri"/>
              </a:rPr>
              <a:t>Existing Infrastructure </a:t>
            </a:r>
            <a:endParaRPr sz="1400" b="0" i="0" u="none" strike="noStrike" cap="none">
              <a:solidFill>
                <a:srgbClr val="000000"/>
              </a:solidFill>
              <a:latin typeface="Arial"/>
              <a:ea typeface="Arial"/>
              <a:cs typeface="Arial"/>
              <a:sym typeface="Arial"/>
            </a:endParaRPr>
          </a:p>
        </p:txBody>
      </p:sp>
      <p:sp>
        <p:nvSpPr>
          <p:cNvPr id="728" name="Google Shape;728;g8701af7b45_0_29"/>
          <p:cNvSpPr txBox="1"/>
          <p:nvPr/>
        </p:nvSpPr>
        <p:spPr>
          <a:xfrm rot="-5400000">
            <a:off x="-1959671" y="5820923"/>
            <a:ext cx="4610400" cy="523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7030A0"/>
                </a:solidFill>
                <a:latin typeface="Calibri"/>
                <a:ea typeface="Calibri"/>
                <a:cs typeface="Calibri"/>
                <a:sym typeface="Calibri"/>
              </a:rPr>
              <a:t>Area Existing Need</a:t>
            </a:r>
            <a:endParaRPr sz="1400" b="0" i="0" u="none" strike="noStrike" cap="none">
              <a:solidFill>
                <a:srgbClr val="000000"/>
              </a:solidFill>
              <a:latin typeface="Arial"/>
              <a:ea typeface="Arial"/>
              <a:cs typeface="Arial"/>
              <a:sym typeface="Arial"/>
            </a:endParaRPr>
          </a:p>
        </p:txBody>
      </p:sp>
      <p:sp>
        <p:nvSpPr>
          <p:cNvPr id="730" name="Google Shape;730;g8701af7b45_0_29"/>
          <p:cNvSpPr txBox="1"/>
          <p:nvPr/>
        </p:nvSpPr>
        <p:spPr>
          <a:xfrm>
            <a:off x="0" y="0"/>
            <a:ext cx="6858000" cy="719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900"/>
              <a:buFont typeface="Arial"/>
              <a:buNone/>
            </a:pPr>
            <a:r>
              <a:rPr lang="en-US" sz="3900" b="0" i="0" u="none" strike="noStrike" cap="none">
                <a:solidFill>
                  <a:schemeClr val="dk1"/>
                </a:solidFill>
                <a:latin typeface="Calibri"/>
                <a:ea typeface="Calibri"/>
                <a:cs typeface="Calibri"/>
                <a:sym typeface="Calibri"/>
              </a:rPr>
              <a:t>Select Infrastructure</a:t>
            </a:r>
            <a:endParaRPr sz="3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Calibri"/>
              <a:ea typeface="Calibri"/>
              <a:cs typeface="Calibri"/>
              <a:sym typeface="Calibri"/>
            </a:endParaRPr>
          </a:p>
        </p:txBody>
      </p:sp>
      <p:sp>
        <p:nvSpPr>
          <p:cNvPr id="731" name="Google Shape;731;g8701af7b45_0_29"/>
          <p:cNvSpPr/>
          <p:nvPr/>
        </p:nvSpPr>
        <p:spPr>
          <a:xfrm>
            <a:off x="584175" y="1024675"/>
            <a:ext cx="5740500" cy="3693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g8701af7b45_0_29"/>
          <p:cNvSpPr/>
          <p:nvPr/>
        </p:nvSpPr>
        <p:spPr>
          <a:xfrm>
            <a:off x="1861500" y="4691625"/>
            <a:ext cx="4801500" cy="37131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g8701af7b45_0_29"/>
          <p:cNvSpPr/>
          <p:nvPr/>
        </p:nvSpPr>
        <p:spPr>
          <a:xfrm>
            <a:off x="6354200" y="7692300"/>
            <a:ext cx="247800" cy="254100"/>
          </a:xfrm>
          <a:prstGeom prst="bracketPair">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g8701af7b45_0_29"/>
          <p:cNvSpPr/>
          <p:nvPr/>
        </p:nvSpPr>
        <p:spPr>
          <a:xfrm>
            <a:off x="6354200" y="6473100"/>
            <a:ext cx="247800" cy="254100"/>
          </a:xfrm>
          <a:prstGeom prst="bracketPair">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g8701af7b45_0_29"/>
          <p:cNvSpPr/>
          <p:nvPr/>
        </p:nvSpPr>
        <p:spPr>
          <a:xfrm>
            <a:off x="6354200" y="5177700"/>
            <a:ext cx="247800" cy="254100"/>
          </a:xfrm>
          <a:prstGeom prst="bracketPair">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g8701af7b45_0_29"/>
          <p:cNvSpPr/>
          <p:nvPr/>
        </p:nvSpPr>
        <p:spPr>
          <a:xfrm>
            <a:off x="4677800" y="5177700"/>
            <a:ext cx="247800" cy="254100"/>
          </a:xfrm>
          <a:prstGeom prst="bracketPair">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g8701af7b45_0_29"/>
          <p:cNvSpPr/>
          <p:nvPr/>
        </p:nvSpPr>
        <p:spPr>
          <a:xfrm>
            <a:off x="3030300" y="5203200"/>
            <a:ext cx="247800" cy="254100"/>
          </a:xfrm>
          <a:prstGeom prst="bracketPair">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g8701af7b45_0_29"/>
          <p:cNvSpPr/>
          <p:nvPr/>
        </p:nvSpPr>
        <p:spPr>
          <a:xfrm>
            <a:off x="3030300" y="6498600"/>
            <a:ext cx="247800" cy="254100"/>
          </a:xfrm>
          <a:prstGeom prst="bracketPair">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g8701af7b45_0_29"/>
          <p:cNvSpPr/>
          <p:nvPr/>
        </p:nvSpPr>
        <p:spPr>
          <a:xfrm>
            <a:off x="3030300" y="7717800"/>
            <a:ext cx="247800" cy="254100"/>
          </a:xfrm>
          <a:prstGeom prst="bracketPair">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 name="Google Shape;740;g8701af7b45_0_29"/>
          <p:cNvSpPr/>
          <p:nvPr/>
        </p:nvSpPr>
        <p:spPr>
          <a:xfrm>
            <a:off x="4706700" y="7717800"/>
            <a:ext cx="247800" cy="254100"/>
          </a:xfrm>
          <a:prstGeom prst="bracketPair">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1" name="Google Shape;741;g8701af7b45_0_29"/>
          <p:cNvSpPr/>
          <p:nvPr/>
        </p:nvSpPr>
        <p:spPr>
          <a:xfrm>
            <a:off x="4706700" y="6498600"/>
            <a:ext cx="247800" cy="254100"/>
          </a:xfrm>
          <a:prstGeom prst="bracketPair">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 name="Google Shape;742;g8701af7b45_0_29"/>
          <p:cNvSpPr txBox="1"/>
          <p:nvPr/>
        </p:nvSpPr>
        <p:spPr>
          <a:xfrm>
            <a:off x="607125" y="1479775"/>
            <a:ext cx="5650800" cy="126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US" sz="1300" b="0" i="1" u="none" strike="noStrike" cap="none">
                <a:solidFill>
                  <a:schemeClr val="dk1"/>
                </a:solidFill>
                <a:latin typeface="Calibri"/>
                <a:ea typeface="Calibri"/>
                <a:cs typeface="Calibri"/>
                <a:sym typeface="Calibri"/>
              </a:rPr>
              <a:t>Based on Steps 1 &amp; 2, determine which set of recommendations to pursue. Place an “X” in the box where the Area Existing Need Score (Step 1 Score) and the Existing Infrastructure Score (Step 2 Score) meet. Then, attempt to integrate each recommendation in the corresponding column during Step 3 Analysis. </a:t>
            </a:r>
            <a:endParaRPr sz="1300" b="0" i="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Arial"/>
              <a:buNone/>
            </a:pPr>
            <a:r>
              <a:rPr lang="en-US" sz="1300" b="0" i="1" u="none" strike="noStrike" cap="none">
                <a:solidFill>
                  <a:schemeClr val="dk1"/>
                </a:solidFill>
                <a:latin typeface="Calibri"/>
                <a:ea typeface="Calibri"/>
                <a:cs typeface="Calibri"/>
                <a:sym typeface="Calibri"/>
              </a:rPr>
              <a:t>Note: Not every infrastructure recommendation is appropriate for every project. If specific infrastructure is not appropriate, explain why in the “N/A” column</a:t>
            </a:r>
            <a:endParaRPr sz="1500" b="0" i="0" u="none" strike="noStrike" cap="none">
              <a:solidFill>
                <a:schemeClr val="dk1"/>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38D0D46C-2FA1-844E-9EDA-5A03975AD025}"/>
              </a:ext>
            </a:extLst>
          </p:cNvPr>
          <p:cNvSpPr>
            <a:spLocks noGrp="1"/>
          </p:cNvSpPr>
          <p:nvPr>
            <p:ph type="ftr" idx="11"/>
          </p:nvPr>
        </p:nvSpPr>
        <p:spPr/>
        <p:txBody>
          <a:bodyPr/>
          <a:lstStyle/>
          <a:p>
            <a:r>
              <a:rPr lang="en-US"/>
              <a:t>V9B</a:t>
            </a:r>
          </a:p>
        </p:txBody>
      </p:sp>
    </p:spTree>
    <p:extLst>
      <p:ext uri="{BB962C8B-B14F-4D97-AF65-F5344CB8AC3E}">
        <p14:creationId xmlns:p14="http://schemas.microsoft.com/office/powerpoint/2010/main" val="37107070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graphicFrame>
        <p:nvGraphicFramePr>
          <p:cNvPr id="750" name="Google Shape;750;p6"/>
          <p:cNvGraphicFramePr/>
          <p:nvPr>
            <p:extLst>
              <p:ext uri="{D42A27DB-BD31-4B8C-83A1-F6EECF244321}">
                <p14:modId xmlns:p14="http://schemas.microsoft.com/office/powerpoint/2010/main" val="2537100586"/>
              </p:ext>
            </p:extLst>
          </p:nvPr>
        </p:nvGraphicFramePr>
        <p:xfrm>
          <a:off x="188159" y="576330"/>
          <a:ext cx="6460100" cy="8098534"/>
        </p:xfrm>
        <a:graphic>
          <a:graphicData uri="http://schemas.openxmlformats.org/drawingml/2006/table">
            <a:tbl>
              <a:tblPr firstRow="1" bandRow="1">
                <a:noFill/>
                <a:tableStyleId>{CAC760E6-1B21-447E-AD2F-912B2140AA3E}</a:tableStyleId>
              </a:tblPr>
              <a:tblGrid>
                <a:gridCol w="1217300">
                  <a:extLst>
                    <a:ext uri="{9D8B030D-6E8A-4147-A177-3AD203B41FA5}">
                      <a16:colId xmlns:a16="http://schemas.microsoft.com/office/drawing/2014/main" val="20000"/>
                    </a:ext>
                  </a:extLst>
                </a:gridCol>
                <a:gridCol w="1229586">
                  <a:extLst>
                    <a:ext uri="{9D8B030D-6E8A-4147-A177-3AD203B41FA5}">
                      <a16:colId xmlns:a16="http://schemas.microsoft.com/office/drawing/2014/main" val="20001"/>
                    </a:ext>
                  </a:extLst>
                </a:gridCol>
                <a:gridCol w="1307690">
                  <a:extLst>
                    <a:ext uri="{9D8B030D-6E8A-4147-A177-3AD203B41FA5}">
                      <a16:colId xmlns:a16="http://schemas.microsoft.com/office/drawing/2014/main" val="20002"/>
                    </a:ext>
                  </a:extLst>
                </a:gridCol>
                <a:gridCol w="1582994">
                  <a:extLst>
                    <a:ext uri="{9D8B030D-6E8A-4147-A177-3AD203B41FA5}">
                      <a16:colId xmlns:a16="http://schemas.microsoft.com/office/drawing/2014/main" val="20003"/>
                    </a:ext>
                  </a:extLst>
                </a:gridCol>
                <a:gridCol w="1122530">
                  <a:extLst>
                    <a:ext uri="{9D8B030D-6E8A-4147-A177-3AD203B41FA5}">
                      <a16:colId xmlns:a16="http://schemas.microsoft.com/office/drawing/2014/main" val="20004"/>
                    </a:ext>
                  </a:extLst>
                </a:gridCol>
              </a:tblGrid>
              <a:tr h="92326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Category </a:t>
                      </a:r>
                      <a:endParaRPr sz="12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Good for health promotion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Better for health promotion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Best for health promotion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t>N/A </a:t>
                      </a:r>
                      <a:endParaRPr sz="1400" u="none" strike="noStrike" cap="none" dirty="0"/>
                    </a:p>
                    <a:p>
                      <a:pPr marL="0" marR="0" lvl="0" indent="0" algn="l" rtl="0">
                        <a:lnSpc>
                          <a:spcPct val="100000"/>
                        </a:lnSpc>
                        <a:spcBef>
                          <a:spcPts val="0"/>
                        </a:spcBef>
                        <a:spcAft>
                          <a:spcPts val="0"/>
                        </a:spcAft>
                        <a:buClr>
                          <a:srgbClr val="000000"/>
                        </a:buClr>
                        <a:buSzPts val="1200"/>
                        <a:buFont typeface="Arial"/>
                        <a:buNone/>
                      </a:pPr>
                      <a:r>
                        <a:rPr lang="en-US" sz="1100" b="0" i="1" u="none" strike="noStrike" cap="none" dirty="0"/>
                        <a:t>(If a rec is not selected, explain &amp; document why it is not appropriate</a:t>
                      </a:r>
                      <a:r>
                        <a:rPr lang="en-US" sz="1100" u="none" strike="noStrike" cap="none" dirty="0"/>
                        <a:t>)</a:t>
                      </a:r>
                      <a:endParaRPr sz="1200" u="none" strike="noStrike" cap="none" dirty="0"/>
                    </a:p>
                  </a:txBody>
                  <a:tcPr marL="91450" marR="91450" marT="45725" marB="45725"/>
                </a:tc>
                <a:extLst>
                  <a:ext uri="{0D108BD9-81ED-4DB2-BD59-A6C34878D82A}">
                    <a16:rowId xmlns:a16="http://schemas.microsoft.com/office/drawing/2014/main" val="10000"/>
                  </a:ext>
                </a:extLst>
              </a:tr>
              <a:tr h="446746">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t>Speed limit</a:t>
                      </a:r>
                      <a:endParaRPr sz="14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3</a:t>
                      </a:r>
                      <a:r>
                        <a:rPr lang="en-US" sz="1200" u="none" strike="noStrike" cap="non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5 mph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30 mph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25 mph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50" marR="91450" marT="45725" marB="45725"/>
                </a:tc>
                <a:extLst>
                  <a:ext uri="{0D108BD9-81ED-4DB2-BD59-A6C34878D82A}">
                    <a16:rowId xmlns:a16="http://schemas.microsoft.com/office/drawing/2014/main" val="10001"/>
                  </a:ext>
                </a:extLst>
              </a:tr>
              <a:tr h="3264397">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t>Traffic calming</a:t>
                      </a:r>
                      <a:endParaRPr sz="1200" b="1"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a:t>Reduce lane widths </a:t>
                      </a:r>
                      <a:r>
                        <a:rPr lang="en-US" sz="1200" u="none" strike="noStrike" cap="none">
                          <a:solidFill>
                            <a:schemeClr val="dk1"/>
                          </a:solidFill>
                        </a:rPr>
                        <a:t>with centerlines, edge lines or other pavement markings</a:t>
                      </a:r>
                      <a:endParaRPr sz="1200" u="none" strike="noStrike" cap="none">
                        <a:solidFill>
                          <a:schemeClr val="dk1"/>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chemeClr val="dk1"/>
                          </a:solidFill>
                        </a:rPr>
                        <a:t>Reduce lane widths with raised center medians to discourage passing in two-way turn lanes </a:t>
                      </a:r>
                      <a:endParaRPr sz="14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chemeClr val="dk1"/>
                          </a:solidFill>
                        </a:rPr>
                        <a:t>Install painted curb extensions at crosswalks. </a:t>
                      </a:r>
                      <a:endParaRPr sz="14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chemeClr val="dk1"/>
                          </a:solidFill>
                        </a:rPr>
                        <a:t>Install painted chicanes with lane delineators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Reduce lane widths and/or reduce number of lanes</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Install raised center medians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Install raised curb extensions</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Install curb extensions and chicanes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7"/>
                            </a:ext>
                          </a:extLst>
                        </a:rPr>
                        <a:t>Install speed warning </a:t>
                      </a:r>
                      <a:r>
                        <a:rPr lang="en-US" sz="1200" u="none" strike="noStrike" cap="none" dirty="0"/>
                        <a:t>flashing beacons.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50" marR="91450" marT="45725" marB="45725"/>
                </a:tc>
                <a:extLst>
                  <a:ext uri="{0D108BD9-81ED-4DB2-BD59-A6C34878D82A}">
                    <a16:rowId xmlns:a16="http://schemas.microsoft.com/office/drawing/2014/main" val="10002"/>
                  </a:ext>
                </a:extLst>
              </a:tr>
              <a:tr h="3264397">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t>Sidewalks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Ensure minimum 4-ft clear width in sidewalk.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Repair trip hazards. </a:t>
                      </a:r>
                      <a:br>
                        <a:rPr lang="en-US" sz="1200" u="none" strike="noStrike" cap="none">
                          <a:solidFill>
                            <a:schemeClr val="dk1"/>
                          </a:solidFill>
                        </a:rPr>
                      </a:b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Verify sidewalks and ramp transitions are PROWAG compliant.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Ensure minimum 5-ft clear width in sidewalk.</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Repair trip hazards.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Verify sidewalks and ramp transitions are PROWAG compliant.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Install detached sidewalks.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Install wide sidewalks, preferably 10-ft min.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Repair trip hazards.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Verify sidewalks and ramp transitions are PROWAG compliant.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Install detached sidewalks with parklets.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p>
                  </a:txBody>
                  <a:tcPr marL="91450" marR="91450" marT="45725" marB="45725"/>
                </a:tc>
                <a:extLst>
                  <a:ext uri="{0D108BD9-81ED-4DB2-BD59-A6C34878D82A}">
                    <a16:rowId xmlns:a16="http://schemas.microsoft.com/office/drawing/2014/main" val="10003"/>
                  </a:ext>
                </a:extLst>
              </a:tr>
            </a:tbl>
          </a:graphicData>
        </a:graphic>
      </p:graphicFrame>
      <p:sp>
        <p:nvSpPr>
          <p:cNvPr id="752" name="Google Shape;752;p6"/>
          <p:cNvSpPr/>
          <p:nvPr/>
        </p:nvSpPr>
        <p:spPr>
          <a:xfrm>
            <a:off x="104850" y="0"/>
            <a:ext cx="6648300" cy="5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C00000"/>
                </a:solidFill>
                <a:latin typeface="Calibri"/>
                <a:ea typeface="Calibri"/>
                <a:cs typeface="Calibri"/>
                <a:sym typeface="Calibri"/>
              </a:rPr>
              <a:t>Step 3: Select proposed infrastructure</a:t>
            </a:r>
            <a:endParaRPr sz="1400" b="0" i="0" u="none" strike="noStrike" cap="none">
              <a:solidFill>
                <a:srgbClr val="000000"/>
              </a:solidFill>
              <a:latin typeface="Arial"/>
              <a:ea typeface="Arial"/>
              <a:cs typeface="Arial"/>
              <a:sym typeface="Arial"/>
            </a:endParaRPr>
          </a:p>
        </p:txBody>
      </p:sp>
      <p:sp>
        <p:nvSpPr>
          <p:cNvPr id="7" name="Google Shape;731;g8701af7b45_0_29">
            <a:extLst>
              <a:ext uri="{FF2B5EF4-FFF2-40B4-BE49-F238E27FC236}">
                <a16:creationId xmlns:a16="http://schemas.microsoft.com/office/drawing/2014/main" id="{52885A1A-9297-DD41-8E78-876A9285FC54}"/>
              </a:ext>
            </a:extLst>
          </p:cNvPr>
          <p:cNvSpPr/>
          <p:nvPr/>
        </p:nvSpPr>
        <p:spPr>
          <a:xfrm>
            <a:off x="1343890" y="593405"/>
            <a:ext cx="5325951" cy="1138413"/>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3ACA3409-9423-D143-A790-F33278CDC6A8}"/>
              </a:ext>
            </a:extLst>
          </p:cNvPr>
          <p:cNvSpPr>
            <a:spLocks noGrp="1"/>
          </p:cNvSpPr>
          <p:nvPr>
            <p:ph type="ftr" idx="11"/>
          </p:nvPr>
        </p:nvSpPr>
        <p:spPr/>
        <p:txBody>
          <a:bodyPr/>
          <a:lstStyle/>
          <a:p>
            <a:r>
              <a:rPr lang="en-US"/>
              <a:t>V9B</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graphicFrame>
        <p:nvGraphicFramePr>
          <p:cNvPr id="759" name="Google Shape;759;p7"/>
          <p:cNvGraphicFramePr/>
          <p:nvPr>
            <p:extLst>
              <p:ext uri="{D42A27DB-BD31-4B8C-83A1-F6EECF244321}">
                <p14:modId xmlns:p14="http://schemas.microsoft.com/office/powerpoint/2010/main" val="580306191"/>
              </p:ext>
            </p:extLst>
          </p:nvPr>
        </p:nvGraphicFramePr>
        <p:xfrm>
          <a:off x="147419" y="647161"/>
          <a:ext cx="6574075" cy="8229620"/>
        </p:xfrm>
        <a:graphic>
          <a:graphicData uri="http://schemas.openxmlformats.org/drawingml/2006/table">
            <a:tbl>
              <a:tblPr firstRow="1" bandRow="1">
                <a:noFill/>
                <a:tableStyleId>{CAC760E6-1B21-447E-AD2F-912B2140AA3E}</a:tableStyleId>
              </a:tblPr>
              <a:tblGrid>
                <a:gridCol w="891672">
                  <a:extLst>
                    <a:ext uri="{9D8B030D-6E8A-4147-A177-3AD203B41FA5}">
                      <a16:colId xmlns:a16="http://schemas.microsoft.com/office/drawing/2014/main" val="20000"/>
                    </a:ext>
                  </a:extLst>
                </a:gridCol>
                <a:gridCol w="1355778">
                  <a:extLst>
                    <a:ext uri="{9D8B030D-6E8A-4147-A177-3AD203B41FA5}">
                      <a16:colId xmlns:a16="http://schemas.microsoft.com/office/drawing/2014/main" val="20001"/>
                    </a:ext>
                  </a:extLst>
                </a:gridCol>
                <a:gridCol w="1497875">
                  <a:extLst>
                    <a:ext uri="{9D8B030D-6E8A-4147-A177-3AD203B41FA5}">
                      <a16:colId xmlns:a16="http://schemas.microsoft.com/office/drawing/2014/main" val="20002"/>
                    </a:ext>
                  </a:extLst>
                </a:gridCol>
                <a:gridCol w="1957450">
                  <a:extLst>
                    <a:ext uri="{9D8B030D-6E8A-4147-A177-3AD203B41FA5}">
                      <a16:colId xmlns:a16="http://schemas.microsoft.com/office/drawing/2014/main" val="20003"/>
                    </a:ext>
                  </a:extLst>
                </a:gridCol>
                <a:gridCol w="871300">
                  <a:extLst>
                    <a:ext uri="{9D8B030D-6E8A-4147-A177-3AD203B41FA5}">
                      <a16:colId xmlns:a16="http://schemas.microsoft.com/office/drawing/2014/main" val="20004"/>
                    </a:ext>
                  </a:extLst>
                </a:gridCol>
              </a:tblGrid>
              <a:tr h="1423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Category</a:t>
                      </a:r>
                      <a:endParaRPr sz="1200" u="none" strike="noStrike" cap="none"/>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Good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Better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Best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t>N/A </a:t>
                      </a:r>
                      <a:endParaRPr sz="1400" u="none" strike="noStrike" cap="none" dirty="0"/>
                    </a:p>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lang="en-US" sz="1000" b="0" i="1" u="none" strike="noStrike" cap="none" dirty="0"/>
                        <a:t>(If a rec is not selected, explain  &amp; document why it is not appropriate</a:t>
                      </a:r>
                      <a:r>
                        <a:rPr lang="en-US" sz="1000" u="none" strike="noStrike" cap="none" dirty="0"/>
                        <a:t>)</a:t>
                      </a:r>
                      <a:endParaRPr lang="en-US" sz="1050" u="none" strike="noStrike" cap="none" dirty="0"/>
                    </a:p>
                  </a:txBody>
                  <a:tcPr marL="91450" marR="91450" marT="45725" marB="45725">
                    <a:lnL w="12700" cap="flat" cmpd="sng">
                      <a:solidFill>
                        <a:schemeClr val="lt1"/>
                      </a:solidFill>
                      <a:prstDash val="solid"/>
                      <a:round/>
                      <a:headEnd type="none" w="sm" len="sm"/>
                      <a:tailEnd type="none" w="sm" len="sm"/>
                    </a:ln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8"/>
                            </a:ext>
                          </a:extLst>
                        </a:rPr>
                        <a:t>Crosswalks </a:t>
                      </a:r>
                      <a:r>
                        <a:rPr lang="en-US" sz="1200" b="1" u="none" strike="noStrike" cap="none" dirty="0">
                          <a:solidFill>
                            <a:schemeClr val="dk1"/>
                          </a:solidFill>
                        </a:rPr>
                        <a:t>&amp; </a:t>
                      </a:r>
                      <a:endParaRPr sz="1400" u="none" strike="noStrike" cap="none" dirty="0"/>
                    </a:p>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solidFill>
                            <a:schemeClr val="dk1"/>
                          </a:solidFill>
                        </a:rPr>
                        <a:t>signalized Intersections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a:solidFill>
                            <a:schemeClr val="dk1"/>
                          </a:solidFill>
                          <a:latin typeface="Calibri"/>
                          <a:ea typeface="Calibri"/>
                          <a:cs typeface="Calibri"/>
                          <a:sym typeface="Calibri"/>
                        </a:rPr>
                        <a:t>Install crosswalk markings, warning signs and yield markings. </a:t>
                      </a:r>
                      <a:endParaRPr sz="1400" u="none" strike="noStrike" cap="none"/>
                    </a:p>
                    <a:p>
                      <a:pPr marL="0" marR="0" lvl="0" indent="0" algn="l" rtl="0">
                        <a:lnSpc>
                          <a:spcPct val="100000"/>
                        </a:lnSpc>
                        <a:spcBef>
                          <a:spcPts val="0"/>
                        </a:spcBef>
                        <a:spcAft>
                          <a:spcPts val="0"/>
                        </a:spcAft>
                        <a:buClr>
                          <a:schemeClr val="dk1"/>
                        </a:buClr>
                        <a:buSzPts val="1200"/>
                        <a:buFont typeface="Arial"/>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Arial"/>
                        <a:buNone/>
                      </a:pPr>
                      <a:r>
                        <a:rPr lang="en-US" sz="1200" u="none" strike="noStrike" cap="none">
                          <a:solidFill>
                            <a:schemeClr val="dk1"/>
                          </a:solidFill>
                          <a:latin typeface="Calibri"/>
                          <a:ea typeface="Calibri"/>
                          <a:cs typeface="Calibri"/>
                          <a:sym typeface="Calibri"/>
                        </a:rPr>
                        <a:t>Install PROWAG- compliant sidewalk ramps and push buttons.</a:t>
                      </a:r>
                      <a:endParaRPr sz="1400" u="none" strike="noStrike" cap="none"/>
                    </a:p>
                    <a:p>
                      <a:pPr marL="0" marR="0" lvl="0" indent="0" algn="l" rtl="0">
                        <a:lnSpc>
                          <a:spcPct val="100000"/>
                        </a:lnSpc>
                        <a:spcBef>
                          <a:spcPts val="0"/>
                        </a:spcBef>
                        <a:spcAft>
                          <a:spcPts val="0"/>
                        </a:spcAft>
                        <a:buClr>
                          <a:schemeClr val="dk1"/>
                        </a:buClr>
                        <a:buSzPts val="1200"/>
                        <a:buFont typeface="Arial"/>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Arial"/>
                        <a:buNone/>
                      </a:pPr>
                      <a:r>
                        <a:rPr lang="en-US" sz="1200" u="none" strike="noStrike" cap="none">
                          <a:solidFill>
                            <a:schemeClr val="dk1"/>
                          </a:solidFill>
                          <a:latin typeface="Calibri"/>
                          <a:ea typeface="Calibri"/>
                          <a:cs typeface="Calibri"/>
                          <a:sym typeface="Calibri"/>
                        </a:rPr>
                        <a:t>Install audible messages at signalized crosswalks and use ped crossing speed of 3.5 ft per second. </a:t>
                      </a:r>
                      <a:endParaRPr sz="14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endParaRPr>
                    </a:p>
                  </a:txBody>
                  <a:tcPr marL="91450" marR="91450" marT="45725" marB="45725">
                    <a:lnT w="38100" cap="flat" cmpd="sng">
                      <a:solidFill>
                        <a:schemeClr val="lt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Install crosswalk markings, warning signs, and yield markings.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Install PROWAG-compliant directional sidewalk ramps and push buttons.</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9"/>
                            </a:ext>
                          </a:extLst>
                        </a:rPr>
                        <a:t>Provide PROWAG- compliant directional </a:t>
                      </a:r>
                      <a:r>
                        <a:rPr lang="en-US" sz="1200" u="none" strike="noStrike" cap="non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0"/>
                            </a:ext>
                          </a:extLst>
                        </a:rPr>
                        <a:t>sidewalk</a:t>
                      </a:r>
                      <a:r>
                        <a:rPr lang="en-US" sz="1200" u="none" strike="noStrike" cap="none">
                          <a:solidFill>
                            <a:schemeClr val="dk1"/>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1"/>
                            </a:ext>
                          </a:extLst>
                        </a:rPr>
                        <a:t> Ramps.</a:t>
                      </a:r>
                      <a:endParaRPr sz="14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chemeClr val="dk1"/>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2"/>
                            </a:ext>
                          </a:extLst>
                        </a:rPr>
                        <a:t>Install pedestrian activated flash</a:t>
                      </a:r>
                      <a:r>
                        <a:rPr lang="en-US" sz="1200" u="none" strike="noStrike" cap="non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3"/>
                            </a:ext>
                          </a:extLst>
                        </a:rPr>
                        <a:t>ing beacons</a:t>
                      </a:r>
                      <a:r>
                        <a:rPr lang="en-US" sz="1200" u="none" strike="noStrike" cap="none">
                          <a:solidFill>
                            <a:schemeClr val="dk1"/>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4"/>
                            </a:ext>
                          </a:extLst>
                        </a:rPr>
                        <a:t>.</a:t>
                      </a:r>
                      <a:endParaRPr sz="14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chemeClr val="dk1"/>
                          </a:solidFill>
                          <a:latin typeface="Calibri"/>
                          <a:ea typeface="Calibri"/>
                          <a:cs typeface="Calibri"/>
                          <a:sym typeface="Calibri"/>
                        </a:rPr>
                        <a:t>Install median refuge.  </a:t>
                      </a:r>
                      <a:endParaRPr sz="14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chemeClr val="dk1"/>
                          </a:solidFill>
                          <a:latin typeface="Calibri"/>
                          <a:ea typeface="Calibri"/>
                          <a:cs typeface="Calibri"/>
                          <a:sym typeface="Calibri"/>
                        </a:rPr>
                        <a:t>Install painted curb extensions. </a:t>
                      </a:r>
                      <a:endParaRPr sz="14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chemeClr val="dk1"/>
                          </a:solidFill>
                          <a:latin typeface="Calibri"/>
                          <a:ea typeface="Calibri"/>
                          <a:cs typeface="Calibri"/>
                          <a:sym typeface="Calibri"/>
                        </a:rPr>
                        <a:t>Improve lighting at sidewalk ramp and through crosswalks. </a:t>
                      </a:r>
                      <a:endParaRPr sz="14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Install leading ped interval.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Install No Right on Red during ped peak hours.   </a:t>
                      </a:r>
                      <a:endParaRPr sz="1400" u="none" strike="noStrike" cap="none"/>
                    </a:p>
                  </a:txBody>
                  <a:tcPr marL="91450" marR="91450" marT="45725" marB="45725">
                    <a:lnT w="38100" cap="flat" cmpd="sng">
                      <a:solidFill>
                        <a:schemeClr val="lt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Install pedestrian activated (sensors) flashers or signals.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Provide PROWAG compliant directional SW Ramps.</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Install advanced warning flashers.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Shorten crossing distance by installing curb extensions.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Install median refuge with Danish offset at mid-block crosswalks.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Install pedestrian guide fencing to discourage jaywalking.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Install leading ped interval.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Reduce walking speed to </a:t>
                      </a:r>
                      <a:r>
                        <a:rPr lang="en-US" sz="1200" u="none" strike="noStrike" cap="none" dirty="0"/>
                        <a:t>3 ft</a:t>
                      </a:r>
                      <a:r>
                        <a:rPr lang="en-US" sz="1200" u="none" strike="noStrike" cap="none" dirty="0">
                          <a:solidFill>
                            <a:schemeClr val="dk1"/>
                          </a:solidFill>
                          <a:latin typeface="Calibri"/>
                          <a:ea typeface="Calibri"/>
                          <a:cs typeface="Calibri"/>
                          <a:sym typeface="Calibri"/>
                        </a:rPr>
                        <a:t>/sec at locations with high numbers of seniors or people with disabilities.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Install No Right on red.</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Eliminate permissive left-turns during pedestrian peak hours.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5"/>
                            </a:ext>
                          </a:extLst>
                        </a:rPr>
                        <a:t>Install signal timing to utilize exclusive pedestrian phase.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Install shade structures on corners. </a:t>
                      </a:r>
                      <a:endParaRPr sz="1400" u="none" strike="noStrike" cap="none" dirty="0"/>
                    </a:p>
                  </a:txBody>
                  <a:tcPr marL="91450" marR="91450" marT="45725" marB="45725">
                    <a:lnT w="38100" cap="flat" cmpd="sng">
                      <a:solidFill>
                        <a:schemeClr val="lt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761" name="Google Shape;761;p7"/>
          <p:cNvSpPr/>
          <p:nvPr/>
        </p:nvSpPr>
        <p:spPr>
          <a:xfrm>
            <a:off x="188150" y="63100"/>
            <a:ext cx="6574200" cy="5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C00000"/>
                </a:solidFill>
                <a:latin typeface="Calibri"/>
                <a:ea typeface="Calibri"/>
                <a:cs typeface="Calibri"/>
                <a:sym typeface="Calibri"/>
              </a:rPr>
              <a:t>Step 3: Select proposed infrastructure</a:t>
            </a:r>
            <a:endParaRPr sz="1400" b="0" i="0" u="none" strike="noStrike" cap="none">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67F99CD1-0FFA-BA4F-9957-76263ED3B66B}"/>
              </a:ext>
            </a:extLst>
          </p:cNvPr>
          <p:cNvSpPr>
            <a:spLocks noGrp="1"/>
          </p:cNvSpPr>
          <p:nvPr>
            <p:ph type="ftr" idx="11"/>
          </p:nvPr>
        </p:nvSpPr>
        <p:spPr/>
        <p:txBody>
          <a:bodyPr/>
          <a:lstStyle/>
          <a:p>
            <a:r>
              <a:rPr lang="en-US"/>
              <a:t>V9B</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graphicFrame>
        <p:nvGraphicFramePr>
          <p:cNvPr id="768" name="Google Shape;768;p8"/>
          <p:cNvGraphicFramePr/>
          <p:nvPr>
            <p:extLst>
              <p:ext uri="{D42A27DB-BD31-4B8C-83A1-F6EECF244321}">
                <p14:modId xmlns:p14="http://schemas.microsoft.com/office/powerpoint/2010/main" val="3615680135"/>
              </p:ext>
            </p:extLst>
          </p:nvPr>
        </p:nvGraphicFramePr>
        <p:xfrm>
          <a:off x="188159" y="1030580"/>
          <a:ext cx="6460100" cy="7207763"/>
        </p:xfrm>
        <a:graphic>
          <a:graphicData uri="http://schemas.openxmlformats.org/drawingml/2006/table">
            <a:tbl>
              <a:tblPr firstRow="1" bandRow="1">
                <a:noFill/>
                <a:tableStyleId>{CAC760E6-1B21-447E-AD2F-912B2140AA3E}</a:tableStyleId>
              </a:tblPr>
              <a:tblGrid>
                <a:gridCol w="1217300">
                  <a:extLst>
                    <a:ext uri="{9D8B030D-6E8A-4147-A177-3AD203B41FA5}">
                      <a16:colId xmlns:a16="http://schemas.microsoft.com/office/drawing/2014/main" val="20000"/>
                    </a:ext>
                  </a:extLst>
                </a:gridCol>
                <a:gridCol w="1388525">
                  <a:extLst>
                    <a:ext uri="{9D8B030D-6E8A-4147-A177-3AD203B41FA5}">
                      <a16:colId xmlns:a16="http://schemas.microsoft.com/office/drawing/2014/main" val="20001"/>
                    </a:ext>
                  </a:extLst>
                </a:gridCol>
                <a:gridCol w="1349250">
                  <a:extLst>
                    <a:ext uri="{9D8B030D-6E8A-4147-A177-3AD203B41FA5}">
                      <a16:colId xmlns:a16="http://schemas.microsoft.com/office/drawing/2014/main" val="20002"/>
                    </a:ext>
                  </a:extLst>
                </a:gridCol>
                <a:gridCol w="1532400">
                  <a:extLst>
                    <a:ext uri="{9D8B030D-6E8A-4147-A177-3AD203B41FA5}">
                      <a16:colId xmlns:a16="http://schemas.microsoft.com/office/drawing/2014/main" val="20003"/>
                    </a:ext>
                  </a:extLst>
                </a:gridCol>
                <a:gridCol w="972625">
                  <a:extLst>
                    <a:ext uri="{9D8B030D-6E8A-4147-A177-3AD203B41FA5}">
                      <a16:colId xmlns:a16="http://schemas.microsoft.com/office/drawing/2014/main" val="20004"/>
                    </a:ext>
                  </a:extLst>
                </a:gridCol>
              </a:tblGrid>
              <a:tr h="95384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Category</a:t>
                      </a: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Good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Better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Best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t>N/A </a:t>
                      </a:r>
                      <a:endParaRPr sz="1400" u="none" strike="noStrike" cap="none" dirty="0"/>
                    </a:p>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lang="en-US" sz="1000" b="0" i="1" u="none" strike="noStrike" cap="none" dirty="0"/>
                        <a:t>(If a rec is not selected, explain &amp; document why it is not appropriate</a:t>
                      </a:r>
                      <a:r>
                        <a:rPr lang="en-US" sz="1000" u="none" strike="noStrike" cap="none" dirty="0"/>
                        <a:t>)</a:t>
                      </a:r>
                      <a:endParaRPr lang="en-US" sz="1050" u="none" strike="noStrike" cap="none" dirty="0"/>
                    </a:p>
                  </a:txBody>
                  <a:tcPr marL="91450" marR="91450" marT="45725" marB="45725">
                    <a:lnL w="12700" cap="flat" cmpd="sng">
                      <a:solidFill>
                        <a:schemeClr val="lt1"/>
                      </a:solidFill>
                      <a:prstDash val="solid"/>
                      <a:round/>
                      <a:headEnd type="none" w="sm" len="sm"/>
                      <a:tailEnd type="none" w="sm" len="sm"/>
                    </a:lnL>
                  </a:tcPr>
                </a:tc>
                <a:extLst>
                  <a:ext uri="{0D108BD9-81ED-4DB2-BD59-A6C34878D82A}">
                    <a16:rowId xmlns:a16="http://schemas.microsoft.com/office/drawing/2014/main" val="10000"/>
                  </a:ext>
                </a:extLst>
              </a:tr>
              <a:tr h="6019033">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t>Bicycle improvements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Install exclusive bike lanes with applicable signs and markings.</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6"/>
                            </a:ext>
                          </a:extLst>
                        </a:rPr>
                        <a:t>Install bike racks near commercial businesses. </a:t>
                      </a:r>
                      <a:endParaRPr sz="1400" u="none" strike="noStrike" cap="none"/>
                    </a:p>
                  </a:txBody>
                  <a:tcPr marL="91450" marR="91450" marT="45725" marB="45725">
                    <a:lnT w="38100" cap="flat" cmpd="sng">
                      <a:solidFill>
                        <a:schemeClr val="lt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Install buffered bike lanes with applicable signs and markings.</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Add green bike legend panels.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7"/>
                            </a:ext>
                          </a:extLst>
                        </a:rPr>
                        <a:t>Install bike boxes at intersections using paint or other materials.</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Install bike racks near commercial businesses. </a:t>
                      </a:r>
                      <a:endParaRPr sz="1400" u="none" strike="noStrike" cap="none" dirty="0"/>
                    </a:p>
                    <a:p>
                      <a:pPr marL="0" marR="0" lvl="0" indent="0" algn="l" rtl="0">
                        <a:lnSpc>
                          <a:spcPct val="100000"/>
                        </a:lnSpc>
                        <a:spcBef>
                          <a:spcPts val="0"/>
                        </a:spcBef>
                        <a:spcAft>
                          <a:spcPts val="0"/>
                        </a:spcAft>
                        <a:buClr>
                          <a:srgbClr val="000000"/>
                        </a:buClr>
                        <a:buSzPts val="1200"/>
                        <a:buFont typeface="Arial"/>
                        <a:buNone/>
                      </a:pPr>
                      <a:endParaRPr lang="en-US" sz="1200" u="none" strike="noStrike" cap="none" dirty="0"/>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t>Consider whether it is possible to extend bike improvements to connect to pre-existing bike infrastructure</a:t>
                      </a:r>
                      <a:endParaRPr sz="1400" u="none" strike="noStrike" cap="none" dirty="0"/>
                    </a:p>
                  </a:txBody>
                  <a:tcPr marL="91450" marR="91450" marT="45725" marB="45725">
                    <a:lnT w="38100" cap="flat" cmpd="sng">
                      <a:solidFill>
                        <a:schemeClr val="lt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Install protected bike lanes with raised barrier and/or physical delineators/posts.</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Install green bike lane markings through transitions or conflict locations.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Install bike signals and bike detectors at signalized intersections.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Install </a:t>
                      </a:r>
                      <a:r>
                        <a:rPr lang="en-US" sz="1200" u="none" strike="noStrike" cap="none" dirty="0"/>
                        <a:t>wayfinding</a:t>
                      </a:r>
                      <a:r>
                        <a:rPr lang="en-US" sz="1200" u="none" strike="noStrike" cap="none" dirty="0">
                          <a:solidFill>
                            <a:schemeClr val="dk1"/>
                          </a:solidFill>
                        </a:rPr>
                        <a:t> signs.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rPr>
                        <a:t>Install bike lockers near transit stops or commercial hubs. </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t>Consider whether it is possible to extend bike improvements to connect to pre-existing bike infrastructure</a:t>
                      </a:r>
                      <a:endParaRPr sz="1400" u="none" strike="noStrike" cap="none" dirty="0"/>
                    </a:p>
                  </a:txBody>
                  <a:tcPr marL="91450" marR="91450" marT="45725" marB="45725">
                    <a:lnT w="38100" cap="flat" cmpd="sng">
                      <a:solidFill>
                        <a:schemeClr val="lt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200"/>
                        <a:buFont typeface="Calibri"/>
                        <a:buNone/>
                      </a:pPr>
                      <a:endParaRPr sz="1200" u="none" strike="noStrike" cap="none" dirty="0"/>
                    </a:p>
                  </a:txBody>
                  <a:tcPr marL="91450" marR="91450" marT="45725" marB="45725"/>
                </a:tc>
                <a:extLst>
                  <a:ext uri="{0D108BD9-81ED-4DB2-BD59-A6C34878D82A}">
                    <a16:rowId xmlns:a16="http://schemas.microsoft.com/office/drawing/2014/main" val="10001"/>
                  </a:ext>
                </a:extLst>
              </a:tr>
            </a:tbl>
          </a:graphicData>
        </a:graphic>
      </p:graphicFrame>
      <p:sp>
        <p:nvSpPr>
          <p:cNvPr id="770" name="Google Shape;770;p8"/>
          <p:cNvSpPr/>
          <p:nvPr/>
        </p:nvSpPr>
        <p:spPr>
          <a:xfrm>
            <a:off x="188150" y="80050"/>
            <a:ext cx="6562500" cy="5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C00000"/>
                </a:solidFill>
                <a:latin typeface="Calibri"/>
                <a:ea typeface="Calibri"/>
                <a:cs typeface="Calibri"/>
                <a:sym typeface="Calibri"/>
              </a:rPr>
              <a:t>Step 3: Select proposed infrastructure</a:t>
            </a:r>
            <a:endParaRPr sz="1400" b="0" i="0" u="none" strike="noStrike" cap="none">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14B1E70E-DF9E-EC49-B55F-B1209F19FF8C}"/>
              </a:ext>
            </a:extLst>
          </p:cNvPr>
          <p:cNvSpPr>
            <a:spLocks noGrp="1"/>
          </p:cNvSpPr>
          <p:nvPr>
            <p:ph type="ftr" idx="11"/>
          </p:nvPr>
        </p:nvSpPr>
        <p:spPr/>
        <p:txBody>
          <a:bodyPr/>
          <a:lstStyle/>
          <a:p>
            <a:r>
              <a:rPr lang="en-US"/>
              <a:t>V9B</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graphicFrame>
        <p:nvGraphicFramePr>
          <p:cNvPr id="777" name="Google Shape;777;p9"/>
          <p:cNvGraphicFramePr/>
          <p:nvPr>
            <p:extLst>
              <p:ext uri="{D42A27DB-BD31-4B8C-83A1-F6EECF244321}">
                <p14:modId xmlns:p14="http://schemas.microsoft.com/office/powerpoint/2010/main" val="1858647386"/>
              </p:ext>
            </p:extLst>
          </p:nvPr>
        </p:nvGraphicFramePr>
        <p:xfrm>
          <a:off x="160449" y="531848"/>
          <a:ext cx="6574163" cy="8449898"/>
        </p:xfrm>
        <a:graphic>
          <a:graphicData uri="http://schemas.openxmlformats.org/drawingml/2006/table">
            <a:tbl>
              <a:tblPr firstRow="1" bandRow="1">
                <a:noFill/>
                <a:tableStyleId>{CAC760E6-1B21-447E-AD2F-912B2140AA3E}</a:tableStyleId>
              </a:tblPr>
              <a:tblGrid>
                <a:gridCol w="1072606">
                  <a:extLst>
                    <a:ext uri="{9D8B030D-6E8A-4147-A177-3AD203B41FA5}">
                      <a16:colId xmlns:a16="http://schemas.microsoft.com/office/drawing/2014/main" val="20000"/>
                    </a:ext>
                  </a:extLst>
                </a:gridCol>
                <a:gridCol w="1343890">
                  <a:extLst>
                    <a:ext uri="{9D8B030D-6E8A-4147-A177-3AD203B41FA5}">
                      <a16:colId xmlns:a16="http://schemas.microsoft.com/office/drawing/2014/main" val="20001"/>
                    </a:ext>
                  </a:extLst>
                </a:gridCol>
                <a:gridCol w="1482437">
                  <a:extLst>
                    <a:ext uri="{9D8B030D-6E8A-4147-A177-3AD203B41FA5}">
                      <a16:colId xmlns:a16="http://schemas.microsoft.com/office/drawing/2014/main" val="20002"/>
                    </a:ext>
                  </a:extLst>
                </a:gridCol>
                <a:gridCol w="1662545">
                  <a:extLst>
                    <a:ext uri="{9D8B030D-6E8A-4147-A177-3AD203B41FA5}">
                      <a16:colId xmlns:a16="http://schemas.microsoft.com/office/drawing/2014/main" val="20003"/>
                    </a:ext>
                  </a:extLst>
                </a:gridCol>
                <a:gridCol w="1012685">
                  <a:extLst>
                    <a:ext uri="{9D8B030D-6E8A-4147-A177-3AD203B41FA5}">
                      <a16:colId xmlns:a16="http://schemas.microsoft.com/office/drawing/2014/main" val="20004"/>
                    </a:ext>
                  </a:extLst>
                </a:gridCol>
              </a:tblGrid>
              <a:tr h="1170669">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Category</a:t>
                      </a:r>
                      <a:endParaRPr sz="1200" u="none" strike="noStrike" cap="none"/>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Good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Better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Best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t>N/A </a:t>
                      </a:r>
                      <a:endParaRPr sz="1400" u="none" strike="noStrike" cap="none" dirty="0"/>
                    </a:p>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lang="en-US" sz="1000" b="0" i="1" u="none" strike="noStrike" cap="none" dirty="0"/>
                        <a:t>(If a rec is not selected, explain &amp; document why it is not appropriate</a:t>
                      </a:r>
                      <a:r>
                        <a:rPr lang="en-US" sz="1000" u="none" strike="noStrike" cap="none" dirty="0"/>
                        <a:t>)</a:t>
                      </a:r>
                      <a:endParaRPr lang="en-US" sz="1050" u="none" strike="noStrike" cap="none" dirty="0"/>
                    </a:p>
                  </a:txBody>
                  <a:tcPr marL="91450" marR="91450" marT="45725" marB="45725">
                    <a:lnL w="12700" cap="flat" cmpd="sng">
                      <a:solidFill>
                        <a:schemeClr val="lt1"/>
                      </a:solidFill>
                      <a:prstDash val="solid"/>
                      <a:round/>
                      <a:headEnd type="none" w="sm" len="sm"/>
                      <a:tailEnd type="none" w="sm" len="sm"/>
                    </a:lnL>
                  </a:tcPr>
                </a:tc>
                <a:extLst>
                  <a:ext uri="{0D108BD9-81ED-4DB2-BD59-A6C34878D82A}">
                    <a16:rowId xmlns:a16="http://schemas.microsoft.com/office/drawing/2014/main" val="10000"/>
                  </a:ext>
                </a:extLst>
              </a:tr>
              <a:tr h="2805392">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t>Access Management</a:t>
                      </a:r>
                      <a:endParaRPr sz="1400" u="none" strike="noStrike" cap="none" dirty="0"/>
                    </a:p>
                  </a:txBody>
                  <a:tcPr marL="91450" marR="91450" marT="45725" marB="45725"/>
                </a:tc>
                <a:tc>
                  <a:txBody>
                    <a:bodyPr/>
                    <a:lstStyle/>
                    <a:p>
                      <a:pPr marL="0" marR="0" lvl="0" indent="0" algn="l" rtl="0">
                        <a:lnSpc>
                          <a:spcPct val="115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Reduce the number of driveways and increase driveway spacing. </a:t>
                      </a:r>
                      <a:endParaRPr sz="1400" u="none" strike="noStrike" cap="none" dirty="0"/>
                    </a:p>
                  </a:txBody>
                  <a:tcPr marL="63500" marR="63500" marT="63500" marB="63500">
                    <a:lnT w="38100" cap="flat" cmpd="sng">
                      <a:solidFill>
                        <a:schemeClr val="lt1"/>
                      </a:solidFill>
                      <a:prstDash val="solid"/>
                      <a:round/>
                      <a:headEnd type="none" w="sm" len="sm"/>
                      <a:tailEnd type="none" w="sm" len="sm"/>
                    </a:lnT>
                  </a:tcPr>
                </a:tc>
                <a:tc>
                  <a:txBody>
                    <a:bodyPr/>
                    <a:lstStyle/>
                    <a:p>
                      <a:pPr marL="0" marR="0" lvl="0" indent="0" algn="l" rtl="0">
                        <a:lnSpc>
                          <a:spcPct val="115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Install raised center medians to define vehicle ingress and egress locations and turning movements.  </a:t>
                      </a:r>
                      <a:endParaRPr sz="1400" u="none" strike="noStrike" cap="none"/>
                    </a:p>
                    <a:p>
                      <a:pPr marL="0" marR="0" lvl="0" indent="0" algn="l" rtl="0">
                        <a:lnSpc>
                          <a:spcPct val="115000"/>
                        </a:lnSpc>
                        <a:spcBef>
                          <a:spcPts val="0"/>
                        </a:spcBef>
                        <a:spcAft>
                          <a:spcPts val="0"/>
                        </a:spcAft>
                        <a:buClr>
                          <a:schemeClr val="dk1"/>
                        </a:buClr>
                        <a:buSzPts val="1200"/>
                        <a:buFont typeface="Calibri"/>
                        <a:buNone/>
                      </a:pPr>
                      <a:endParaRPr sz="120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Upgrade ramps at driveways to PROWAG.</a:t>
                      </a:r>
                      <a:endParaRPr sz="1400" u="none" strike="noStrike" cap="none"/>
                    </a:p>
                  </a:txBody>
                  <a:tcPr marL="63500" marR="63500" marT="63500" marB="63500">
                    <a:lnT w="38100" cap="flat" cmpd="sng">
                      <a:solidFill>
                        <a:schemeClr val="lt1"/>
                      </a:solidFill>
                      <a:prstDash val="solid"/>
                      <a:round/>
                      <a:headEnd type="none" w="sm" len="sm"/>
                      <a:tailEnd type="none" w="sm" len="sm"/>
                    </a:lnT>
                  </a:tcPr>
                </a:tc>
                <a:tc>
                  <a:txBody>
                    <a:bodyPr/>
                    <a:lstStyle/>
                    <a:p>
                      <a:pPr marL="0" marR="0" lvl="0" indent="0" algn="l" rtl="0">
                        <a:lnSpc>
                          <a:spcPct val="115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Reduce driveway radius to slow drivers and improve pedestrian visibility.  </a:t>
                      </a:r>
                      <a:endParaRPr sz="1400" u="none" strike="noStrike" cap="none"/>
                    </a:p>
                    <a:p>
                      <a:pPr marL="0" marR="0" lvl="0" indent="0" algn="l" rtl="0">
                        <a:lnSpc>
                          <a:spcPct val="115000"/>
                        </a:lnSpc>
                        <a:spcBef>
                          <a:spcPts val="0"/>
                        </a:spcBef>
                        <a:spcAft>
                          <a:spcPts val="0"/>
                        </a:spcAft>
                        <a:buClr>
                          <a:schemeClr val="dk1"/>
                        </a:buClr>
                        <a:buSzPts val="1200"/>
                        <a:buFont typeface="Calibri"/>
                        <a:buNone/>
                      </a:pPr>
                      <a:endParaRPr sz="120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Upgrade ramps at driveways to PROWAG.</a:t>
                      </a:r>
                      <a:endParaRPr sz="1400" u="none" strike="noStrike" cap="none"/>
                    </a:p>
                    <a:p>
                      <a:pPr marL="0" marR="0" lvl="0" indent="0" algn="l" rtl="0">
                        <a:lnSpc>
                          <a:spcPct val="115000"/>
                        </a:lnSpc>
                        <a:spcBef>
                          <a:spcPts val="0"/>
                        </a:spcBef>
                        <a:spcAft>
                          <a:spcPts val="0"/>
                        </a:spcAft>
                        <a:buClr>
                          <a:schemeClr val="dk1"/>
                        </a:buClr>
                        <a:buSzPts val="1200"/>
                        <a:buFont typeface="Calibri"/>
                        <a:buNone/>
                      </a:pPr>
                      <a:endParaRPr sz="120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Require commercial businesses owners to acquire cross-access agreements and share driveways and parking.    </a:t>
                      </a:r>
                      <a:endParaRPr sz="1400" u="none" strike="noStrike" cap="none"/>
                    </a:p>
                  </a:txBody>
                  <a:tcPr marL="63500" marR="63500" marT="63500" marB="63500">
                    <a:lnT w="38100" cap="flat" cmpd="sng">
                      <a:solidFill>
                        <a:schemeClr val="lt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200"/>
                        <a:buFont typeface="Calibri"/>
                        <a:buNone/>
                      </a:pPr>
                      <a:endParaRPr sz="1200" u="none" strike="noStrike" cap="none" dirty="0"/>
                    </a:p>
                  </a:txBody>
                  <a:tcPr marL="91450" marR="91450" marT="45725" marB="45725"/>
                </a:tc>
                <a:extLst>
                  <a:ext uri="{0D108BD9-81ED-4DB2-BD59-A6C34878D82A}">
                    <a16:rowId xmlns:a16="http://schemas.microsoft.com/office/drawing/2014/main" val="10001"/>
                  </a:ext>
                </a:extLst>
              </a:tr>
              <a:tr h="4412494">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t>Visibility</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chemeClr val="dk1"/>
                          </a:solidFill>
                        </a:rPr>
                        <a:t>Remove all walls, shrubs, trees, and signs out of sight lines.</a:t>
                      </a:r>
                      <a:endParaRPr sz="1400" u="none" strike="noStrike" cap="none" dirty="0"/>
                    </a:p>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dk1"/>
                        </a:solidFil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t>Install lighting to meet minimum intersection light levels, per Clark County Uniform Standard Drawing (AUSD) 300.S3</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chemeClr val="dk1"/>
                          </a:solidFill>
                        </a:rPr>
                        <a:t>Remove all walls, shrubs, trees, and signs out of sight lines.</a:t>
                      </a:r>
                      <a:endParaRPr sz="1400" u="none" strike="noStrike" cap="none" dirty="0"/>
                    </a:p>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dk1"/>
                        </a:solidFil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chemeClr val="dk1"/>
                          </a:solidFill>
                        </a:rPr>
                        <a:t>Ensure that all utilities are out of sight lines. </a:t>
                      </a:r>
                    </a:p>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t>Meet sidewalk illumination light levels of 0.2 FC minimum average along sidewalk</a:t>
                      </a: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chemeClr val="dk1"/>
                          </a:solidFill>
                          <a:latin typeface="Calibri"/>
                          <a:ea typeface="Calibri"/>
                          <a:cs typeface="Calibri"/>
                          <a:sym typeface="Calibri"/>
                        </a:rPr>
                        <a:t>Meet minimum </a:t>
                      </a:r>
                      <a:r>
                        <a:rPr lang="en-US" sz="1200" u="none" strike="noStrike" cap="none" dirty="0">
                          <a:solidFill>
                            <a:schemeClr val="dk1"/>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8"/>
                            </a:ext>
                          </a:extLst>
                        </a:rPr>
                        <a:t>pedestrian illuminance level of 2.0 FC minimum average on corners and through enti</a:t>
                      </a:r>
                      <a:r>
                        <a:rPr lang="en-US" sz="1200" u="none" strike="noStrike" cap="none" dirty="0">
                          <a:solidFill>
                            <a:schemeClr val="dk1"/>
                          </a:solidFill>
                          <a:latin typeface="Calibri"/>
                          <a:ea typeface="Calibri"/>
                          <a:cs typeface="Calibri"/>
                          <a:sym typeface="Calibri"/>
                        </a:rPr>
                        <a:t>re crosswalk.</a:t>
                      </a: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chemeClr val="dk1"/>
                          </a:solidFill>
                        </a:rPr>
                        <a:t> </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chemeClr val="dk1"/>
                          </a:solidFill>
                        </a:rPr>
                        <a:t>Remove all walls, shrubs, trees, and signs out of sight lines.</a:t>
                      </a:r>
                      <a:endParaRPr sz="1400" u="none" strike="noStrike" cap="none" dirty="0"/>
                    </a:p>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dk1"/>
                        </a:solidFil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chemeClr val="dk1"/>
                          </a:solidFill>
                        </a:rPr>
                        <a:t>Ensure that all utilities are out of sight lines. </a:t>
                      </a:r>
                    </a:p>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t>Meet high sidewalk illumination light levels of 0.2 FC along sidewalk</a:t>
                      </a: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dirty="0">
                          <a:solidFill>
                            <a:schemeClr val="dk1"/>
                          </a:solidFill>
                          <a:latin typeface="Calibri"/>
                          <a:ea typeface="Calibri"/>
                          <a:cs typeface="Calibri"/>
                          <a:sym typeface="Calibri"/>
                        </a:rPr>
                        <a:t>Meet highest pedestrian illuminance levels of 3.4 </a:t>
                      </a:r>
                      <a:r>
                        <a:rPr lang="en-US" sz="1200" u="none" strike="noStrike" cap="none" dirty="0">
                          <a:solidFill>
                            <a:schemeClr val="dk1"/>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9"/>
                            </a:ext>
                          </a:extLst>
                        </a:rPr>
                        <a:t>FC</a:t>
                      </a:r>
                      <a:r>
                        <a:rPr lang="en-US" sz="1200" u="none" strike="noStrike" cap="none" dirty="0">
                          <a:solidFill>
                            <a:schemeClr val="dk1"/>
                          </a:solidFill>
                          <a:latin typeface="Calibri"/>
                          <a:ea typeface="Calibri"/>
                          <a:cs typeface="Calibri"/>
                          <a:sym typeface="Calibri"/>
                        </a:rPr>
                        <a:t> minimum average on corners and through entire crosswalk.</a:t>
                      </a:r>
                      <a:endParaRPr sz="1400" u="none" strike="noStrike" cap="none" dirty="0"/>
                    </a:p>
                    <a:p>
                      <a:pPr marL="0" marR="0" lvl="0" indent="0" algn="l" rtl="0">
                        <a:lnSpc>
                          <a:spcPct val="100000"/>
                        </a:lnSpc>
                        <a:spcBef>
                          <a:spcPts val="0"/>
                        </a:spcBef>
                        <a:spcAft>
                          <a:spcPts val="0"/>
                        </a:spcAft>
                        <a:buClr>
                          <a:schemeClr val="dk1"/>
                        </a:buClr>
                        <a:buSzPts val="1200"/>
                        <a:buFont typeface="Calibri"/>
                        <a:buNone/>
                      </a:pPr>
                      <a:endParaRPr sz="1200" u="none" strike="noStrike" cap="none" dirty="0">
                        <a:solidFill>
                          <a:schemeClr val="dk1"/>
                        </a:solidFill>
                      </a:endParaRPr>
                    </a:p>
                    <a:p>
                      <a:pPr marL="0" marR="0" lvl="0" indent="0" algn="l" rtl="0">
                        <a:lnSpc>
                          <a:spcPct val="100000"/>
                        </a:lnSpc>
                        <a:spcBef>
                          <a:spcPts val="0"/>
                        </a:spcBef>
                        <a:spcAft>
                          <a:spcPts val="0"/>
                        </a:spcAft>
                        <a:buClr>
                          <a:schemeClr val="dk1"/>
                        </a:buClr>
                        <a:buSzPts val="1200"/>
                        <a:buFont typeface="Calibri"/>
                        <a:buNone/>
                      </a:pP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endParaRPr sz="1200" u="none" strike="noStrike" cap="none" dirty="0"/>
                    </a:p>
                  </a:txBody>
                  <a:tcPr marL="91450" marR="91450" marT="45725" marB="45725"/>
                </a:tc>
                <a:extLst>
                  <a:ext uri="{0D108BD9-81ED-4DB2-BD59-A6C34878D82A}">
                    <a16:rowId xmlns:a16="http://schemas.microsoft.com/office/drawing/2014/main" val="10002"/>
                  </a:ext>
                </a:extLst>
              </a:tr>
            </a:tbl>
          </a:graphicData>
        </a:graphic>
      </p:graphicFrame>
      <p:sp>
        <p:nvSpPr>
          <p:cNvPr id="779" name="Google Shape;779;p9"/>
          <p:cNvSpPr/>
          <p:nvPr/>
        </p:nvSpPr>
        <p:spPr>
          <a:xfrm>
            <a:off x="148822" y="-24530"/>
            <a:ext cx="6613500" cy="5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dirty="0">
                <a:solidFill>
                  <a:srgbClr val="C00000"/>
                </a:solidFill>
                <a:latin typeface="Calibri"/>
                <a:ea typeface="Calibri"/>
                <a:cs typeface="Calibri"/>
                <a:sym typeface="Calibri"/>
              </a:rPr>
              <a:t>Step 3: Select proposed infrastructure</a:t>
            </a:r>
            <a:endParaRPr sz="1400" b="0" i="0" u="none" strike="noStrike" cap="none" dirty="0">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94F46293-9F4F-2C4E-8400-D1CE40DCDF18}"/>
              </a:ext>
            </a:extLst>
          </p:cNvPr>
          <p:cNvSpPr>
            <a:spLocks noGrp="1"/>
          </p:cNvSpPr>
          <p:nvPr>
            <p:ph type="ftr" idx="11"/>
          </p:nvPr>
        </p:nvSpPr>
        <p:spPr/>
        <p:txBody>
          <a:bodyPr/>
          <a:lstStyle/>
          <a:p>
            <a:r>
              <a:rPr lang="en-US"/>
              <a:t>V9B</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graphicFrame>
        <p:nvGraphicFramePr>
          <p:cNvPr id="786" name="Google Shape;786;p10"/>
          <p:cNvGraphicFramePr/>
          <p:nvPr>
            <p:extLst>
              <p:ext uri="{D42A27DB-BD31-4B8C-83A1-F6EECF244321}">
                <p14:modId xmlns:p14="http://schemas.microsoft.com/office/powerpoint/2010/main" val="699387558"/>
              </p:ext>
            </p:extLst>
          </p:nvPr>
        </p:nvGraphicFramePr>
        <p:xfrm>
          <a:off x="94434" y="648708"/>
          <a:ext cx="6636525" cy="7772430"/>
        </p:xfrm>
        <a:graphic>
          <a:graphicData uri="http://schemas.openxmlformats.org/drawingml/2006/table">
            <a:tbl>
              <a:tblPr firstRow="1" bandRow="1">
                <a:noFill/>
                <a:tableStyleId>{CAC760E6-1B21-447E-AD2F-912B2140AA3E}</a:tableStyleId>
              </a:tblPr>
              <a:tblGrid>
                <a:gridCol w="1016611">
                  <a:extLst>
                    <a:ext uri="{9D8B030D-6E8A-4147-A177-3AD203B41FA5}">
                      <a16:colId xmlns:a16="http://schemas.microsoft.com/office/drawing/2014/main" val="20000"/>
                    </a:ext>
                  </a:extLst>
                </a:gridCol>
                <a:gridCol w="1366684">
                  <a:extLst>
                    <a:ext uri="{9D8B030D-6E8A-4147-A177-3AD203B41FA5}">
                      <a16:colId xmlns:a16="http://schemas.microsoft.com/office/drawing/2014/main" val="20001"/>
                    </a:ext>
                  </a:extLst>
                </a:gridCol>
                <a:gridCol w="1474839">
                  <a:extLst>
                    <a:ext uri="{9D8B030D-6E8A-4147-A177-3AD203B41FA5}">
                      <a16:colId xmlns:a16="http://schemas.microsoft.com/office/drawing/2014/main" val="20002"/>
                    </a:ext>
                  </a:extLst>
                </a:gridCol>
                <a:gridCol w="1924566">
                  <a:extLst>
                    <a:ext uri="{9D8B030D-6E8A-4147-A177-3AD203B41FA5}">
                      <a16:colId xmlns:a16="http://schemas.microsoft.com/office/drawing/2014/main" val="20003"/>
                    </a:ext>
                  </a:extLst>
                </a:gridCol>
                <a:gridCol w="853825">
                  <a:extLst>
                    <a:ext uri="{9D8B030D-6E8A-4147-A177-3AD203B41FA5}">
                      <a16:colId xmlns:a16="http://schemas.microsoft.com/office/drawing/2014/main" val="20004"/>
                    </a:ext>
                  </a:extLst>
                </a:gridCol>
              </a:tblGrid>
              <a:tr h="3708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Category</a:t>
                      </a:r>
                      <a:endParaRPr sz="1200" u="none" strike="noStrike" cap="none"/>
                    </a:p>
                  </a:txBody>
                  <a:tcPr marL="91450" marR="91450" marT="45725" marB="45725">
                    <a:lnR w="12700" cap="flat" cmpd="sng">
                      <a:solidFill>
                        <a:schemeClr val="lt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Good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Better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Best for health promotion</a:t>
                      </a:r>
                      <a:endParaRPr sz="1400" u="none" strike="noStrike" cap="none"/>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t>N/A </a:t>
                      </a:r>
                      <a:endParaRPr sz="1400" u="none" strike="noStrike" cap="none" dirty="0"/>
                    </a:p>
                    <a:p>
                      <a:pPr marL="0" marR="0" lvl="0" indent="0" algn="l" rtl="0">
                        <a:lnSpc>
                          <a:spcPct val="100000"/>
                        </a:lnSpc>
                        <a:spcBef>
                          <a:spcPts val="0"/>
                        </a:spcBef>
                        <a:spcAft>
                          <a:spcPts val="0"/>
                        </a:spcAft>
                        <a:buClr>
                          <a:srgbClr val="000000"/>
                        </a:buClr>
                        <a:buSzPts val="1200"/>
                        <a:buFont typeface="Arial"/>
                        <a:buNone/>
                      </a:pPr>
                      <a:r>
                        <a:rPr lang="en-US" sz="1000" b="0" i="1" u="none" strike="noStrike" cap="none" dirty="0"/>
                        <a:t>(If a rec is not selected, explain &amp; document why it is not appropriate</a:t>
                      </a:r>
                      <a:r>
                        <a:rPr lang="en-US" sz="1000" u="none" strike="noStrike" cap="none" dirty="0"/>
                        <a:t>)</a:t>
                      </a:r>
                      <a:endParaRPr lang="en-US" sz="1050" u="none" strike="noStrike" cap="none" dirty="0"/>
                    </a:p>
                  </a:txBody>
                  <a:tcPr marL="91450" marR="91450" marT="45725" marB="45725">
                    <a:lnL w="12700" cap="flat" cmpd="sng">
                      <a:solidFill>
                        <a:schemeClr val="lt1"/>
                      </a:solidFill>
                      <a:prstDash val="solid"/>
                      <a:round/>
                      <a:headEnd type="none" w="sm" len="sm"/>
                      <a:tailEnd type="none" w="sm" len="sm"/>
                    </a:ln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t>Bicycle &amp; pedestrian connectivity</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Evaluate project vicinity to nearby pedestrian att</a:t>
                      </a:r>
                      <a:r>
                        <a:rPr lang="en-US" sz="1200" u="none" strike="noStrike" cap="none">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0"/>
                            </a:ext>
                          </a:extLst>
                        </a:rPr>
                        <a:t>ractors (parks, retail, schools, trails) and install interim </a:t>
                      </a:r>
                      <a:r>
                        <a:rPr lang="en-US" sz="1200" u="none" strike="noStrike" cap="non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1"/>
                            </a:ext>
                          </a:extLst>
                        </a:rPr>
                        <a:t>asphalt concrete</a:t>
                      </a:r>
                      <a:r>
                        <a:rPr lang="en-US" sz="1200" u="none" strike="noStrike" cap="none">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2"/>
                            </a:ext>
                          </a:extLst>
                        </a:rPr>
                        <a:t> path(s) connections</a:t>
                      </a:r>
                      <a:r>
                        <a:rPr lang="en-US" sz="1200" u="none" strike="noStrike" cap="none">
                          <a:solidFill>
                            <a:schemeClr val="dk1"/>
                          </a:solidFill>
                        </a:rPr>
                        <a:t> to corners or existing improvements.    </a:t>
                      </a:r>
                      <a:endParaRPr sz="1400" u="none" strike="noStrike" cap="none"/>
                    </a:p>
                  </a:txBody>
                  <a:tcPr marL="91450" marR="91450" marT="45725" marB="45725">
                    <a:lnT w="38100" cap="flat" cmpd="sng">
                      <a:solidFill>
                        <a:schemeClr val="lt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Evaluate project vicinity to nearby pedestrian attractors and install crosswalks, warning signs, sidewalk ramps and AC paths for connectivity.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Install shaded bus shelters behind sidewalk.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Minimize or eliminate adjacent </a:t>
                      </a:r>
                      <a:r>
                        <a:rPr lang="en-US" sz="1200" u="none" strike="noStrike" cap="none"/>
                        <a:t>sawtooths</a:t>
                      </a:r>
                      <a:r>
                        <a:rPr lang="en-US" sz="1200" u="none" strike="noStrike" cap="none">
                          <a:solidFill>
                            <a:schemeClr val="dk1"/>
                          </a:solidFill>
                          <a:latin typeface="Calibri"/>
                          <a:ea typeface="Calibri"/>
                          <a:cs typeface="Calibri"/>
                          <a:sym typeface="Calibri"/>
                        </a:rPr>
                        <a:t> beyond project boundary.</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endParaRPr>
                    </a:p>
                  </a:txBody>
                  <a:tcPr marL="91450" marR="91450" marT="45725" marB="45725">
                    <a:lnT w="38100" cap="flat" cmpd="sng">
                      <a:solidFill>
                        <a:schemeClr val="lt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Evaluate projects vicinity to nearby pedestrian attractors,</a:t>
                      </a:r>
                      <a:r>
                        <a:rPr lang="en-US" sz="1200" u="none" strike="noStrike" cap="none">
                          <a:solidFill>
                            <a:schemeClr val="dk1"/>
                          </a:solidFill>
                        </a:rPr>
                        <a:t> install interim crosswalks and AC paths accordingly,</a:t>
                      </a:r>
                      <a:endParaRPr sz="1400" u="none" strike="noStrike" cap="none"/>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chemeClr val="dk1"/>
                          </a:solidFill>
                          <a:latin typeface="Calibri"/>
                          <a:ea typeface="Calibri"/>
                          <a:cs typeface="Calibri"/>
                          <a:sym typeface="Calibri"/>
                        </a:rPr>
                        <a:t> and install permanent improvements, curb, gutter, sidewalk, streetlights, and provide connections to existing bike and pedestrian infrastructure.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Install shaded bus shelters behind sidewalk. </a:t>
                      </a: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Fill missing sidewalk gaps with permanent sidewalk and lighting improvements. </a:t>
                      </a: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t>Consider the possibility of installing permanent improvements beyond project boundary to eliminate sawtooths</a:t>
                      </a:r>
                      <a:r>
                        <a:rPr lang="en-US" sz="1200" u="none" strike="noStrike" cap="none">
                          <a:solidFill>
                            <a:schemeClr val="dk1"/>
                          </a:solidFill>
                          <a:latin typeface="Calibri"/>
                          <a:ea typeface="Calibri"/>
                          <a:cs typeface="Calibri"/>
                          <a:sym typeface="Calibri"/>
                        </a:rPr>
                        <a:t>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latin typeface="Calibri"/>
                        <a:ea typeface="Calibri"/>
                        <a:cs typeface="Calibri"/>
                        <a:sym typeface="Calibri"/>
                      </a:endParaRPr>
                    </a:p>
                  </a:txBody>
                  <a:tcPr marL="91450" marR="91450" marT="45725" marB="45725">
                    <a:lnT w="38100" cap="flat" cmpd="sng">
                      <a:solidFill>
                        <a:schemeClr val="lt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t>Aesthetics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Install shade trees.</a:t>
                      </a:r>
                      <a:endParaRPr sz="12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a:t>Install </a:t>
                      </a:r>
                      <a:r>
                        <a:rPr lang="en-US" sz="1200" u="none" strike="noStrike" cap="none">
                          <a:solidFill>
                            <a:schemeClr val="dk1"/>
                          </a:solidFill>
                        </a:rPr>
                        <a:t>shade trees.  </a:t>
                      </a:r>
                      <a:endParaRPr sz="1400" u="none" strike="noStrike" cap="none"/>
                    </a:p>
                    <a:p>
                      <a:pPr marL="0" marR="0" lvl="0" indent="0" algn="l" rtl="0">
                        <a:lnSpc>
                          <a:spcPct val="100000"/>
                        </a:lnSpc>
                        <a:spcBef>
                          <a:spcPts val="0"/>
                        </a:spcBef>
                        <a:spcAft>
                          <a:spcPts val="0"/>
                        </a:spcAft>
                        <a:buClr>
                          <a:schemeClr val="dk1"/>
                        </a:buClr>
                        <a:buSzPts val="1200"/>
                        <a:buFont typeface="Calibri"/>
                        <a:buNone/>
                      </a:pPr>
                      <a:endParaRPr sz="1200" u="none" strike="noStrike" cap="none"/>
                    </a:p>
                    <a:p>
                      <a:pPr marL="0" marR="0" lvl="0" indent="0" algn="l" rtl="0">
                        <a:lnSpc>
                          <a:spcPct val="100000"/>
                        </a:lnSpc>
                        <a:spcBef>
                          <a:spcPts val="0"/>
                        </a:spcBef>
                        <a:spcAft>
                          <a:spcPts val="0"/>
                        </a:spcAft>
                        <a:buClr>
                          <a:schemeClr val="dk1"/>
                        </a:buClr>
                        <a:buSzPts val="1200"/>
                        <a:buFont typeface="Calibri"/>
                        <a:buNone/>
                      </a:pPr>
                      <a:r>
                        <a:rPr lang="en-US" sz="1200" u="none" strike="noStrike" cap="none"/>
                        <a:t>Install active wayfinding signage/maps.</a:t>
                      </a:r>
                      <a:endParaRPr sz="12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rPr>
                        <a:t>Install regularly spaced shade trees, and park benches.</a:t>
                      </a: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t>Install active wayfinding signage/maps. </a:t>
                      </a: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endParaRPr sz="1200" u="none" strike="noStrike" cap="none">
                        <a:solidFill>
                          <a:schemeClr val="dk1"/>
                        </a:solidFill>
                      </a:endParaRPr>
                    </a:p>
                    <a:p>
                      <a:pPr marL="0" marR="0" lvl="0" indent="0" algn="l" rtl="0">
                        <a:lnSpc>
                          <a:spcPct val="100000"/>
                        </a:lnSpc>
                        <a:spcBef>
                          <a:spcPts val="0"/>
                        </a:spcBef>
                        <a:spcAft>
                          <a:spcPts val="0"/>
                        </a:spcAft>
                        <a:buClr>
                          <a:schemeClr val="dk1"/>
                        </a:buClr>
                        <a:buSzPts val="1200"/>
                        <a:buFont typeface="Calibri"/>
                        <a:buNone/>
                      </a:pPr>
                      <a:r>
                        <a:rPr lang="en-US" sz="1200" u="none" strike="noStrike" cap="none">
                          <a:solidFill>
                            <a:schemeClr val="dk1"/>
                          </a:solidFill>
                          <a:latin typeface="Calibri"/>
                          <a:ea typeface="Calibri"/>
                          <a:cs typeface="Calibri"/>
                          <a:sym typeface="Calibri"/>
                        </a:rPr>
                        <a:t>Install decorative crosswalks.</a:t>
                      </a:r>
                      <a:endParaRPr sz="1200" u="none" strike="noStrike" cap="none">
                        <a:solidFill>
                          <a:schemeClr val="dk1"/>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p>
                  </a:txBody>
                  <a:tcPr marL="91450" marR="91450" marT="45725" marB="45725"/>
                </a:tc>
                <a:extLst>
                  <a:ext uri="{0D108BD9-81ED-4DB2-BD59-A6C34878D82A}">
                    <a16:rowId xmlns:a16="http://schemas.microsoft.com/office/drawing/2014/main" val="10002"/>
                  </a:ext>
                </a:extLst>
              </a:tr>
            </a:tbl>
          </a:graphicData>
        </a:graphic>
      </p:graphicFrame>
      <p:sp>
        <p:nvSpPr>
          <p:cNvPr id="788" name="Google Shape;788;p10"/>
          <p:cNvSpPr/>
          <p:nvPr/>
        </p:nvSpPr>
        <p:spPr>
          <a:xfrm>
            <a:off x="188150" y="3225"/>
            <a:ext cx="6562500" cy="5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C00000"/>
                </a:solidFill>
                <a:latin typeface="Calibri"/>
                <a:ea typeface="Calibri"/>
                <a:cs typeface="Calibri"/>
                <a:sym typeface="Calibri"/>
              </a:rPr>
              <a:t>Step 3: Select proposed infrastructure</a:t>
            </a:r>
            <a:endParaRPr sz="1400" b="0" i="0" u="none" strike="noStrike" cap="none">
              <a:solidFill>
                <a:srgbClr val="000000"/>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0A378E56-07CB-E249-AF1D-F235AAF2384C}"/>
              </a:ext>
            </a:extLst>
          </p:cNvPr>
          <p:cNvSpPr>
            <a:spLocks noGrp="1"/>
          </p:cNvSpPr>
          <p:nvPr>
            <p:ph type="ftr" idx="11"/>
          </p:nvPr>
        </p:nvSpPr>
        <p:spPr>
          <a:xfrm>
            <a:off x="2161847" y="8786898"/>
            <a:ext cx="2171700" cy="486833"/>
          </a:xfrm>
        </p:spPr>
        <p:txBody>
          <a:bodyPr/>
          <a:lstStyle/>
          <a:p>
            <a:r>
              <a:rPr lang="en-US" dirty="0"/>
              <a:t>V9B</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51504</TotalTime>
  <Words>9636</Words>
  <Application>Microsoft Macintosh PowerPoint</Application>
  <PresentationFormat>On-screen Show (4:3)</PresentationFormat>
  <Paragraphs>1265</Paragraphs>
  <Slides>46</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Times New Roman</vt:lpstr>
      <vt:lpstr>Office Theme</vt:lpstr>
      <vt:lpstr>DECISION SUPPORT TOOL</vt:lpstr>
      <vt:lpstr>Description</vt:lpstr>
      <vt:lpstr>Disclaimer</vt:lpstr>
      <vt:lpstr>Instructions</vt:lpstr>
      <vt:lpstr>Substantive Changes from V8 to V9 </vt:lpstr>
      <vt:lpstr>Substantive Changes from V8 to V9 </vt:lpstr>
      <vt:lpstr>PowerPoint Presentation</vt:lpstr>
      <vt:lpstr>PowerPoint Presentation</vt:lpstr>
      <vt:lpstr>S1Q1 Instructions</vt:lpstr>
      <vt:lpstr>PowerPoint Presentation</vt:lpstr>
      <vt:lpstr>S1Q2 Instructions</vt:lpstr>
      <vt:lpstr>PowerPoint Presentation</vt:lpstr>
      <vt:lpstr>S1Q3 Instructions</vt:lpstr>
      <vt:lpstr>PowerPoint Presentation</vt:lpstr>
      <vt:lpstr>S1Q4 Instructions</vt:lpstr>
      <vt:lpstr>S1Q4 Instructions - Continued</vt:lpstr>
      <vt:lpstr>PowerPoint Presentation</vt:lpstr>
      <vt:lpstr>S1Q5 Instructions</vt:lpstr>
      <vt:lpstr>S1Q5 Instructions - Continued</vt:lpstr>
      <vt:lpstr>S1Q5 Instructions - Continued</vt:lpstr>
      <vt:lpstr>PowerPoint Presentation</vt:lpstr>
      <vt:lpstr>S1Q6 Instructions</vt:lpstr>
      <vt:lpstr>PowerPoint Presentation</vt:lpstr>
      <vt:lpstr>S1Q7 Instructions</vt:lpstr>
      <vt:lpstr>PowerPoint Presentation</vt:lpstr>
      <vt:lpstr>S1Q8 Instructions</vt:lpstr>
      <vt:lpstr>PowerPoint Presentation</vt:lpstr>
      <vt:lpstr>S1Q9 Instructions</vt:lpstr>
      <vt:lpstr>PowerPoint Presentation</vt:lpstr>
      <vt:lpstr>S1Q10 Instructions</vt:lpstr>
      <vt:lpstr>PowerPoint Presentation</vt:lpstr>
      <vt:lpstr>S1Q11 Instructions</vt:lpstr>
      <vt:lpstr>PowerPoint Presentation</vt:lpstr>
      <vt:lpstr>PowerPoint Presentation</vt:lpstr>
      <vt:lpstr>S2Q1 Instructions</vt:lpstr>
      <vt:lpstr>PowerPoint Presentation</vt:lpstr>
      <vt:lpstr>S2Q2 Instructions</vt:lpstr>
      <vt:lpstr>PowerPoint Presentation</vt:lpstr>
      <vt:lpstr>S2Q3 Instructions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Piloting the DST with a CLV Project</dc:title>
  <dc:creator>Max Gakh</dc:creator>
  <cp:lastModifiedBy>Maxim Gakh</cp:lastModifiedBy>
  <cp:revision>111</cp:revision>
  <cp:lastPrinted>2021-01-07T16:23:11Z</cp:lastPrinted>
  <dcterms:created xsi:type="dcterms:W3CDTF">2019-07-16T14:43:04Z</dcterms:created>
  <dcterms:modified xsi:type="dcterms:W3CDTF">2021-01-08T16:13:42Z</dcterms:modified>
</cp:coreProperties>
</file>