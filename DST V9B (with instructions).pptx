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9144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53" roundtripDataSignature="AMtx7mhxiYtByd9tLthnDl/jGR3lh3Bh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B9EC08-3944-4540-AC1C-D55C9B871E89}">
  <a:tblStyle styleId="{17B9EC08-3944-4540-AC1C-D55C9B871E89}" styleName="Table_0">
    <a:wholeTbl>
      <a:tcTxStyle b="off" i="off">
        <a:font>
          <a:latin typeface="Arial"/>
          <a:ea typeface="Arial"/>
          <a:cs typeface="Arial"/>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a:tcStyle>
        <a:fill>
          <a:solidFill>
            <a:schemeClr val="accent3">
              <a:alpha val="40000"/>
            </a:schemeClr>
          </a:solidFill>
        </a:fill>
      </a:tcStyle>
    </a:band1H>
    <a:band2H>
      <a:tcTxStyle/>
    </a:band2H>
    <a:band1V>
      <a:tcTxStyle/>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a:neCell>
    <a:nwCell>
      <a:tcTxStyle/>
    </a:nwCell>
  </a:tblStyle>
  <a:tblStyle styleId="{DA7E6E65-D877-46FA-B78E-C062FE7EB15C}"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customschemas.google.com/relationships/presentationmetadata" Target="metadata"/><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93ad95d091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93ad95d091_0_0: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3: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84d7870085_0_6: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84d7870085_0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g84d7870085_0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6: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2: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3: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7787bb92c3_0_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7787bb92c3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7787bb92c3_0_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77d70e11da_0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77d70e11da_0_2: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77d70e11da_0_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77d70e11da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g77d70e11da_0_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77d70e11da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77d70e11da_0_1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782f7d498b_0_1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782f7d498b_0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g782f7d498b_0_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782f7d498b_0_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782f7d498b_0_27: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782f7d498b_0_3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782f7d498b_0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782f7d498b_0_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783ce67ac1_0_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783ce67ac1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783ce67ac1_0_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783ce67ac1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783ce67ac1_0_21: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8701af7b45_0_5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8701af7b45_0_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8701af7b45_0_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8701af7b45_0_6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8701af7b45_0_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8701af7b45_0_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783ce67ac1_0_38: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783ce67ac1_0_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783ce67ac1_0_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783ce67ac1_0_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783ce67ac1_0_47: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783ce67ac1_0_5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783ce67ac1_0_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g783ce67ac1_0_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8701af7b45_0_7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8701af7b45_0_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g8701af7b45_0_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783ce67ac1_0_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g783ce67ac1_0_107: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783ce67ac1_0_11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783ce67ac1_0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783ce67ac1_0_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783ce67ac1_0_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783ce67ac1_0_152: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783ce67ac1_0_15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783ce67ac1_0_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783ce67ac1_0_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783ce67ac1_0_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g783ce67ac1_0_174: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8701af7b45_0_8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g8701af7b45_0_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g8701af7b45_0_8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783ce67ac1_0_1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g783ce67ac1_0_19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783ce67ac1_0_213: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783ce67ac1_0_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0" name="Google Shape;340;g783ce67ac1_0_2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8701af7b45_0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g8701af7b45_0_3: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783ce67ac1_0_242: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783ce67ac1_0_2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g783ce67ac1_0_2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783ce67ac1_0_2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g783ce67ac1_0_258: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783ce67ac1_0_26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783ce67ac1_0_2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783ce67ac1_0_2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783ce67ac1_0_2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g783ce67ac1_0_275: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783ce67ac1_0_282: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g783ce67ac1_0_2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g783ce67ac1_0_2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8701af7b45_0_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g8701af7b45_0_117: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27: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p6: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p8: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p9: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 name="Google Shape;472;p10: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12"/>
          <p:cNvSpPr txBox="1"/>
          <p:nvPr>
            <p:ph type="title"/>
          </p:nvPr>
        </p:nvSpPr>
        <p:spPr>
          <a:xfrm>
            <a:off x="541735" y="5875867"/>
            <a:ext cx="5829300" cy="18161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body"/>
          </p:nvPr>
        </p:nvSpPr>
        <p:spPr>
          <a:xfrm>
            <a:off x="541735" y="3875619"/>
            <a:ext cx="5829300" cy="2000249"/>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8" name="Google Shape;18;p12"/>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342900" y="2133602"/>
            <a:ext cx="6172200" cy="603461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13"/>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3"/>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15"/>
          <p:cNvSpPr txBox="1"/>
          <p:nvPr>
            <p:ph type="ctrTitle"/>
          </p:nvPr>
        </p:nvSpPr>
        <p:spPr>
          <a:xfrm>
            <a:off x="514350" y="2840569"/>
            <a:ext cx="5829300" cy="196003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 type="subTitle"/>
          </p:nvPr>
        </p:nvSpPr>
        <p:spPr>
          <a:xfrm>
            <a:off x="1028700" y="5181600"/>
            <a:ext cx="4800600" cy="23368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4" name="Google Shape;34;p15"/>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6"/>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 type="body"/>
          </p:nvPr>
        </p:nvSpPr>
        <p:spPr>
          <a:xfrm>
            <a:off x="342901" y="2133602"/>
            <a:ext cx="3028950" cy="6034617"/>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6"/>
          <p:cNvSpPr txBox="1"/>
          <p:nvPr>
            <p:ph idx="2" type="body"/>
          </p:nvPr>
        </p:nvSpPr>
        <p:spPr>
          <a:xfrm>
            <a:off x="3486150" y="2133602"/>
            <a:ext cx="3028950" cy="6034617"/>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6"/>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7"/>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7"/>
          <p:cNvSpPr txBox="1"/>
          <p:nvPr>
            <p:ph idx="1" type="body"/>
          </p:nvPr>
        </p:nvSpPr>
        <p:spPr>
          <a:xfrm>
            <a:off x="342901" y="2046817"/>
            <a:ext cx="3030141" cy="85301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7"/>
          <p:cNvSpPr txBox="1"/>
          <p:nvPr>
            <p:ph idx="2" type="body"/>
          </p:nvPr>
        </p:nvSpPr>
        <p:spPr>
          <a:xfrm>
            <a:off x="342901" y="2899833"/>
            <a:ext cx="3030141" cy="5268384"/>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7"/>
          <p:cNvSpPr txBox="1"/>
          <p:nvPr>
            <p:ph idx="3" type="body"/>
          </p:nvPr>
        </p:nvSpPr>
        <p:spPr>
          <a:xfrm>
            <a:off x="3483770" y="2046817"/>
            <a:ext cx="3031331" cy="85301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7"/>
          <p:cNvSpPr txBox="1"/>
          <p:nvPr>
            <p:ph idx="4" type="body"/>
          </p:nvPr>
        </p:nvSpPr>
        <p:spPr>
          <a:xfrm>
            <a:off x="3483770" y="2899833"/>
            <a:ext cx="3031331" cy="5268384"/>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7"/>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8"/>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8"/>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8"/>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342900" y="364067"/>
            <a:ext cx="2256235" cy="1549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 type="body"/>
          </p:nvPr>
        </p:nvSpPr>
        <p:spPr>
          <a:xfrm>
            <a:off x="2681288" y="364067"/>
            <a:ext cx="3833813" cy="7804151"/>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19"/>
          <p:cNvSpPr txBox="1"/>
          <p:nvPr>
            <p:ph idx="2" type="body"/>
          </p:nvPr>
        </p:nvSpPr>
        <p:spPr>
          <a:xfrm>
            <a:off x="342900" y="1913468"/>
            <a:ext cx="2256235" cy="625475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19"/>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1344216" y="6400801"/>
            <a:ext cx="4114800" cy="75565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p:nvPr>
            <p:ph idx="2" type="pic"/>
          </p:nvPr>
        </p:nvSpPr>
        <p:spPr>
          <a:xfrm>
            <a:off x="1344216" y="817033"/>
            <a:ext cx="4114800" cy="548640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20"/>
          <p:cNvSpPr txBox="1"/>
          <p:nvPr>
            <p:ph idx="1" type="body"/>
          </p:nvPr>
        </p:nvSpPr>
        <p:spPr>
          <a:xfrm>
            <a:off x="1344216" y="7156452"/>
            <a:ext cx="4114800" cy="107314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0"/>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0"/>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1"/>
          <p:cNvSpPr txBox="1"/>
          <p:nvPr>
            <p:ph idx="1" type="body"/>
          </p:nvPr>
        </p:nvSpPr>
        <p:spPr>
          <a:xfrm rot="5400000">
            <a:off x="411692" y="2064810"/>
            <a:ext cx="6034617" cy="61722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1"/>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1"/>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1842558" y="3495678"/>
            <a:ext cx="7802033" cy="15430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 type="body"/>
          </p:nvPr>
        </p:nvSpPr>
        <p:spPr>
          <a:xfrm rot="5400000">
            <a:off x="-1300692" y="2009778"/>
            <a:ext cx="7802033" cy="451485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2"/>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2"/>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CB3E3"/>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342900" y="2133602"/>
            <a:ext cx="6172200" cy="6034617"/>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342900" y="8475135"/>
            <a:ext cx="1600200" cy="48683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4914900" y="8475135"/>
            <a:ext cx="1600200" cy="486833"/>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neighborhoodatlas.medicine.wisc.edu/mapping"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6" Type="http://schemas.openxmlformats.org/officeDocument/2006/relationships/hyperlink" Target="https://ndot.maps.arcgis.com/apps/webappviewer/index.html?id=00d23dc547eb4382bef9beabe07eaefd" TargetMode="External"/><Relationship Id="rId7" Type="http://schemas.openxmlformats.org/officeDocument/2006/relationships/hyperlink" Target="https://ndot.maps.arcgis.com/apps/webappviewer/index.html?id=00d23dc547eb4382bef9beabe07eaefd" TargetMode="External"/><Relationship Id="rId8" Type="http://schemas.openxmlformats.org/officeDocument/2006/relationships/hyperlink" Target="https://geodata.epa.gov/arcgis/rest/services/OA/SmartLocationDatabase/MapServ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neighborhoodatlas.medicine.wisc.edu/mapp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neighborhoodatlas.medicine.wisc.edu/mapping"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6" Type="http://schemas.openxmlformats.org/officeDocument/2006/relationships/hyperlink" Target="https://ndot.maps.arcgis.com/apps/webappviewer/index.html?id=00d23dc547eb4382bef9beabe07eaefd" TargetMode="External"/><Relationship Id="rId7" Type="http://schemas.openxmlformats.org/officeDocument/2006/relationships/hyperlink" Target="https://ndot.maps.arcgis.com/apps/webappviewer/index.html?id=00d23dc547eb4382bef9beabe07eaefd" TargetMode="External"/><Relationship Id="rId8" Type="http://schemas.openxmlformats.org/officeDocument/2006/relationships/hyperlink" Target="https://geodata.epa.gov/arcgis/rest/services/OA/SmartLocationDatabase/MapServ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ata.census.gov/cedsci/map?q=S0801&amp;g=0500000US32003.14000&amp;layer=VT_2017_140_00_PY_D1&amp;vintage=2017&amp;tid=ACSST5Y2017.S0801&amp;cid=S0801_C01_011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neighborhoodatlas.medicine.wisc.edu/mapping"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6" Type="http://schemas.openxmlformats.org/officeDocument/2006/relationships/hyperlink" Target="https://ndot.maps.arcgis.com/apps/webappviewer/index.html?id=00d23dc547eb4382bef9beabe07eaefd" TargetMode="External"/><Relationship Id="rId7" Type="http://schemas.openxmlformats.org/officeDocument/2006/relationships/hyperlink" Target="https://ndot.maps.arcgis.com/apps/webappviewer/index.html?id=00d23dc547eb4382bef9beabe07eaefd" TargetMode="External"/><Relationship Id="rId8" Type="http://schemas.openxmlformats.org/officeDocument/2006/relationships/hyperlink" Target="https://geodata.epa.gov/arcgis/rest/services/OA/SmartLocationDatabase/MapServ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ata.census.gov/cedsci/map?q=S0801&amp;tid=ACSST5Y2017.S0801&amp;vintage=2017&amp;layer=VT_2017_140_00_PY_D1&amp;cid=S0801_C01_010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neighborhoodatlas.medicine.wisc.edu/mapping"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6" Type="http://schemas.openxmlformats.org/officeDocument/2006/relationships/hyperlink" Target="https://ndot.maps.arcgis.com/apps/webappviewer/index.html?id=00d23dc547eb4382bef9beabe07eaefd" TargetMode="External"/><Relationship Id="rId7" Type="http://schemas.openxmlformats.org/officeDocument/2006/relationships/hyperlink" Target="https://ndot.maps.arcgis.com/apps/webappviewer/index.html?id=00d23dc547eb4382bef9beabe07eaefd" TargetMode="External"/><Relationship Id="rId8" Type="http://schemas.openxmlformats.org/officeDocument/2006/relationships/hyperlink" Target="https://geodata.epa.gov/arcgis/rest/services/OA/SmartLocationDatabase/MapServe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ndot.maps.arcgis.com/apps/webappviewer/index.html?id=00d23dc547eb4382bef9beabe07eaefd" TargetMode="External"/><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neighborhoodatlas.medicine.wisc.edu/mapping"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6" Type="http://schemas.openxmlformats.org/officeDocument/2006/relationships/hyperlink" Target="https://ndot.maps.arcgis.com/apps/webappviewer/index.html?id=00d23dc547eb4382bef9beabe07eaefd" TargetMode="External"/><Relationship Id="rId7" Type="http://schemas.openxmlformats.org/officeDocument/2006/relationships/hyperlink" Target="https://ndot.maps.arcgis.com/apps/webappviewer/index.html?id=00d23dc547eb4382bef9beabe07eaefd" TargetMode="External"/><Relationship Id="rId8" Type="http://schemas.openxmlformats.org/officeDocument/2006/relationships/hyperlink" Target="https://geodata.epa.gov/arcgis/rest/services/OA/SmartLocationDatabase/MapServe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ndot.maps.arcgis.com/apps/webappviewer/index.html?id=00d23dc547eb4382bef9beabe07eaefd" TargetMode="External"/><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neighborhoodatlas.medicine.wisc.edu/mapping" TargetMode="External"/><Relationship Id="rId4" Type="http://schemas.openxmlformats.org/officeDocument/2006/relationships/hyperlink" Target="https://data.census.gov/cedsci/map?q=S0801&amp;g=0500000US32003.14000&amp;layer=VT_2017_140_00_PY_D1&amp;vintage=2017&amp;tid=ACSST5Y2017.S0801&amp;cid=S0801_C01_011E" TargetMode="External"/><Relationship Id="rId5" Type="http://schemas.openxmlformats.org/officeDocument/2006/relationships/hyperlink" Target="https://data.census.gov/cedsci/map?q=S0801&amp;g=0500000US32003.14000&amp;layer=VT_2017_140_00_PY_D1&amp;vintage=2017&amp;tid=ACSST5Y2017.S0801&amp;cid=S0801_C01_010E" TargetMode="External"/><Relationship Id="rId6" Type="http://schemas.openxmlformats.org/officeDocument/2006/relationships/hyperlink" Target="https://ndot.maps.arcgis.com/apps/webappviewer/index.html?id=00d23dc547eb4382bef9beabe07eaefd" TargetMode="External"/><Relationship Id="rId7" Type="http://schemas.openxmlformats.org/officeDocument/2006/relationships/hyperlink" Target="https://ndot.maps.arcgis.com/apps/webappviewer/index.html?id=00d23dc547eb4382bef9beabe07eaefd" TargetMode="External"/><Relationship Id="rId8" Type="http://schemas.openxmlformats.org/officeDocument/2006/relationships/hyperlink" Target="https://geodata.epa.gov/arcgis/rest/services/OA/SmartLocationDatabase/MapServer"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geodata.epa.gov/arcgis/rest/services/OA/SmartLocationDatabase/MapServer"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geodata.epa.gov/arcgis/rest/services/OA/SmartLocationDatabase/MapServer" TargetMode="External"/><Relationship Id="rId4" Type="http://schemas.openxmlformats.org/officeDocument/2006/relationships/hyperlink" Target="https://geoview-lasvegasnevada-gov.appspot.com/" TargetMode="External"/><Relationship Id="rId5" Type="http://schemas.openxmlformats.org/officeDocument/2006/relationships/hyperlink" Target="https://geoview-lasvegasnevada-gov.appspot.com/" TargetMode="External"/><Relationship Id="rId6" Type="http://schemas.openxmlformats.org/officeDocument/2006/relationships/hyperlink" Target="https://geoview-lasvegasnevada-gov.appspot.com/" TargetMode="External"/><Relationship Id="rId7" Type="http://schemas.openxmlformats.org/officeDocument/2006/relationships/hyperlink" Target="https://geoview-lasvegasnevada-gov.appspot.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geodata.epa.gov/arcgis/rest/services/OA/SmartLocationDatabase/MapServe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geodata.epa.gov/arcgis/rest/services/OA/SmartLocationDatabase/MapServer" TargetMode="External"/><Relationship Id="rId4" Type="http://schemas.openxmlformats.org/officeDocument/2006/relationships/hyperlink" Target="https://geoview-lasvegasnevada-gov.appspot.com/" TargetMode="External"/><Relationship Id="rId5" Type="http://schemas.openxmlformats.org/officeDocument/2006/relationships/hyperlink" Target="https://geoview-lasvegasnevada-gov.appspot.com/" TargetMode="External"/><Relationship Id="rId6" Type="http://schemas.openxmlformats.org/officeDocument/2006/relationships/hyperlink" Target="https://geoview-lasvegasnevada-gov.appspot.com/" TargetMode="External"/><Relationship Id="rId7" Type="http://schemas.openxmlformats.org/officeDocument/2006/relationships/hyperlink" Target="https://geoview-lasvegasnevada-gov.appspot.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geoview-lasvegasnevada-gov.appspot.com/" TargetMode="External"/><Relationship Id="rId4" Type="http://schemas.openxmlformats.org/officeDocument/2006/relationships/hyperlink" Target="https://geoview-lasvegasnevada-gov.appspot.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geodata.epa.gov/arcgis/rest/services/OA/SmartLocationDatabase/MapServer" TargetMode="External"/><Relationship Id="rId4" Type="http://schemas.openxmlformats.org/officeDocument/2006/relationships/hyperlink" Target="https://geoview-lasvegasnevada-gov.appspot.com/" TargetMode="External"/><Relationship Id="rId5" Type="http://schemas.openxmlformats.org/officeDocument/2006/relationships/hyperlink" Target="https://geoview-lasvegasnevada-gov.appspot.com/" TargetMode="External"/><Relationship Id="rId6" Type="http://schemas.openxmlformats.org/officeDocument/2006/relationships/hyperlink" Target="https://geoview-lasvegasnevada-gov.appspot.com/" TargetMode="External"/><Relationship Id="rId7" Type="http://schemas.openxmlformats.org/officeDocument/2006/relationships/hyperlink" Target="https://geoview-lasvegasnevada-gov.appspot.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geoview-lasvegasnevada-gov.appspot.com/" TargetMode="External"/><Relationship Id="rId4" Type="http://schemas.openxmlformats.org/officeDocument/2006/relationships/hyperlink" Target="https://geoview-lasvegasnevada-gov.appspot.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geodata.epa.gov/arcgis/rest/services/OA/SmartLocationDatabase/MapServer" TargetMode="External"/><Relationship Id="rId4" Type="http://schemas.openxmlformats.org/officeDocument/2006/relationships/hyperlink" Target="https://geoview-lasvegasnevada-gov.appspot.com/" TargetMode="External"/><Relationship Id="rId5" Type="http://schemas.openxmlformats.org/officeDocument/2006/relationships/hyperlink" Target="https://geoview-lasvegasnevada-gov.appspot.com/" TargetMode="External"/><Relationship Id="rId6" Type="http://schemas.openxmlformats.org/officeDocument/2006/relationships/hyperlink" Target="https://geoview-lasvegasnevada-gov.appspot.com/" TargetMode="External"/><Relationship Id="rId7" Type="http://schemas.openxmlformats.org/officeDocument/2006/relationships/hyperlink" Target="https://geoview-lasvegasnevada-gov.appspot.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geoview-lasvegasnevada-gov.appspot.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geodata.epa.gov/arcgis/rest/services/OA/SmartLocationDatabase/MapServer" TargetMode="External"/><Relationship Id="rId4" Type="http://schemas.openxmlformats.org/officeDocument/2006/relationships/hyperlink" Target="https://geoview-lasvegasnevada-gov.appspot.com/" TargetMode="External"/><Relationship Id="rId5" Type="http://schemas.openxmlformats.org/officeDocument/2006/relationships/hyperlink" Target="https://geoview-lasvegasnevada-gov.appspot.com/" TargetMode="External"/><Relationship Id="rId6" Type="http://schemas.openxmlformats.org/officeDocument/2006/relationships/hyperlink" Target="https://geoview-lasvegasnevada-gov.appspot.com/" TargetMode="External"/><Relationship Id="rId7" Type="http://schemas.openxmlformats.org/officeDocument/2006/relationships/hyperlink" Target="https://geoview-lasvegasnevada-gov.appspot.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s://geoview-lasvegasnevada-gov.appspot.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geodata.epa.gov/arcgis/rest/services/OA/WalkabilityIndex/MapServer" TargetMode="External"/><Relationship Id="rId4" Type="http://schemas.openxmlformats.org/officeDocument/2006/relationships/hyperlink" Target="https://drjimsallis.org/measure_maps.html#MAPSMINI"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geodata.epa.gov/arcgis/rest/services/OA/WalkabilityIndex/MapServer"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geodata.epa.gov/arcgis/rest/services/OA/WalkabilityIndex/MapServer" TargetMode="External"/><Relationship Id="rId4" Type="http://schemas.openxmlformats.org/officeDocument/2006/relationships/hyperlink" Target="https://drjimsallis.org/measure_maps.html#MAPSMINI"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rtcsnv.maps.arcgis.com/apps/webappviewer/index.html?id=f3ee5b445fdf48d18e6969ef106c5e09"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geodata.epa.gov/arcgis/rest/services/OA/WalkabilityIndex/MapServer" TargetMode="External"/><Relationship Id="rId4" Type="http://schemas.openxmlformats.org/officeDocument/2006/relationships/hyperlink" Target="https://drjimsallis.org/measure_maps.html#MAPSMINI"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drjimsallis.org/measure_maps.html#MAPSMINI"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93ad95d091_0_0"/>
          <p:cNvSpPr txBox="1"/>
          <p:nvPr>
            <p:ph type="title"/>
          </p:nvPr>
        </p:nvSpPr>
        <p:spPr>
          <a:xfrm>
            <a:off x="541735" y="5875867"/>
            <a:ext cx="5829300" cy="1816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600"/>
              <a:buFont typeface="Calibri"/>
              <a:buNone/>
            </a:pPr>
            <a:r>
              <a:rPr lang="en-US" sz="3600"/>
              <a:t>DECISION SUPPORT TOOL</a:t>
            </a:r>
            <a:endParaRPr/>
          </a:p>
        </p:txBody>
      </p:sp>
      <p:sp>
        <p:nvSpPr>
          <p:cNvPr id="89" name="Google Shape;89;g93ad95d091_0_0"/>
          <p:cNvSpPr txBox="1"/>
          <p:nvPr>
            <p:ph idx="1" type="body"/>
          </p:nvPr>
        </p:nvSpPr>
        <p:spPr>
          <a:xfrm>
            <a:off x="541735" y="3875619"/>
            <a:ext cx="5829300" cy="20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88888"/>
              </a:buClr>
              <a:buSzPts val="2000"/>
              <a:buNone/>
            </a:pPr>
            <a:r>
              <a:rPr lang="en-US"/>
              <a:t>Version 9B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3"/>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Description</a:t>
            </a:r>
            <a:endParaRPr/>
          </a:p>
        </p:txBody>
      </p:sp>
      <p:sp>
        <p:nvSpPr>
          <p:cNvPr id="95" name="Google Shape;95;p23"/>
          <p:cNvSpPr txBox="1"/>
          <p:nvPr>
            <p:ph idx="1" type="body"/>
          </p:nvPr>
        </p:nvSpPr>
        <p:spPr>
          <a:xfrm>
            <a:off x="372396" y="1890184"/>
            <a:ext cx="6172200" cy="6782761"/>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sz="2000"/>
              <a:t>The Decision Support Tool (DST) is a tool for planning, public works and transportation professionals to integrate health and equity into land use decisions to promote safe, walkable, bikeable, and connected communities. </a:t>
            </a:r>
            <a:endParaRPr/>
          </a:p>
          <a:p>
            <a:pPr indent="-342900" lvl="0" marL="457200" rtl="0" algn="l">
              <a:lnSpc>
                <a:spcPct val="100000"/>
              </a:lnSpc>
              <a:spcBef>
                <a:spcPts val="360"/>
              </a:spcBef>
              <a:spcAft>
                <a:spcPts val="0"/>
              </a:spcAft>
              <a:buClr>
                <a:schemeClr val="dk1"/>
              </a:buClr>
              <a:buSzPts val="1800"/>
              <a:buChar char="•"/>
            </a:pPr>
            <a:r>
              <a:rPr lang="en-US" sz="2000"/>
              <a:t>The DST uses a three-step process to identify recommendations for a specific geographic area. </a:t>
            </a:r>
            <a:endParaRPr/>
          </a:p>
          <a:p>
            <a:pPr indent="-342900" lvl="1" marL="914400" rtl="0" algn="l">
              <a:lnSpc>
                <a:spcPct val="100000"/>
              </a:lnSpc>
              <a:spcBef>
                <a:spcPts val="360"/>
              </a:spcBef>
              <a:spcAft>
                <a:spcPts val="0"/>
              </a:spcAft>
              <a:buSzPts val="1800"/>
              <a:buChar char="–"/>
            </a:pPr>
            <a:r>
              <a:rPr lang="en-US" sz="1600"/>
              <a:t>Step 1 uses secondary data related to health, equity, active transport, crashes, land use features, and connectivity to assess an area’s existing needs.</a:t>
            </a:r>
            <a:endParaRPr/>
          </a:p>
          <a:p>
            <a:pPr indent="-342900" lvl="1" marL="914400" rtl="0" algn="l">
              <a:lnSpc>
                <a:spcPct val="100000"/>
              </a:lnSpc>
              <a:spcBef>
                <a:spcPts val="360"/>
              </a:spcBef>
              <a:spcAft>
                <a:spcPts val="0"/>
              </a:spcAft>
              <a:buSzPts val="1800"/>
              <a:buChar char="–"/>
            </a:pPr>
            <a:r>
              <a:rPr lang="en-US" sz="1600"/>
              <a:t>Step 2 uses secondary data and built environment audits to assess an area’s existing walking and biking infrastructure. </a:t>
            </a:r>
            <a:endParaRPr/>
          </a:p>
          <a:p>
            <a:pPr indent="-342900" lvl="1" marL="914400" rtl="0" algn="l">
              <a:lnSpc>
                <a:spcPct val="100000"/>
              </a:lnSpc>
              <a:spcBef>
                <a:spcPts val="360"/>
              </a:spcBef>
              <a:spcAft>
                <a:spcPts val="0"/>
              </a:spcAft>
              <a:buSzPts val="1800"/>
              <a:buChar char="–"/>
            </a:pPr>
            <a:r>
              <a:rPr lang="en-US" sz="1600"/>
              <a:t>Results from Steps 1 and 2 yield recommendations for how to modify the area to promote walking and biking, including recommendations related to traffic calming, visibility, crosswalks and signalized intersections, bicycle and pedestrian connectivity, asset management, and aesthetics. </a:t>
            </a:r>
            <a:endParaRPr/>
          </a:p>
          <a:p>
            <a:pPr indent="-342900" lvl="1" marL="914400" rtl="0" algn="l">
              <a:lnSpc>
                <a:spcPct val="100000"/>
              </a:lnSpc>
              <a:spcBef>
                <a:spcPts val="360"/>
              </a:spcBef>
              <a:spcAft>
                <a:spcPts val="0"/>
              </a:spcAft>
              <a:buSzPts val="1800"/>
              <a:buChar char="–"/>
            </a:pPr>
            <a:r>
              <a:rPr lang="en-US" sz="1600"/>
              <a:t>In general, the higher an area’s existing need and the less the area is conducive to walking and biking, the more the recommendations aim to promote active transport.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4"/>
          <p:cNvSpPr txBox="1"/>
          <p:nvPr>
            <p:ph type="title"/>
          </p:nvPr>
        </p:nvSpPr>
        <p:spPr>
          <a:xfrm>
            <a:off x="342900" y="366184"/>
            <a:ext cx="6172200" cy="1524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Disclaimer</a:t>
            </a:r>
            <a:endParaRPr/>
          </a:p>
        </p:txBody>
      </p:sp>
      <p:sp>
        <p:nvSpPr>
          <p:cNvPr id="101" name="Google Shape;101;p24"/>
          <p:cNvSpPr txBox="1"/>
          <p:nvPr>
            <p:ph idx="1" type="body"/>
          </p:nvPr>
        </p:nvSpPr>
        <p:spPr>
          <a:xfrm>
            <a:off x="372396" y="3923075"/>
            <a:ext cx="6172200" cy="2064772"/>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i="1" lang="en-US" sz="1800" u="sng"/>
              <a:t>Disclaimer</a:t>
            </a:r>
            <a:r>
              <a:rPr i="1" lang="en-US" sz="1800"/>
              <a:t>: This Decision Support Tool relies on external sources of information, data, and analysis. The accuracy, recency, and availability of this information, data, and analysis depends on the organizations that maintain them. DST sources should be periodically verified and the DST updated to reflect any changes.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84d7870085_0_6"/>
          <p:cNvSpPr txBox="1"/>
          <p:nvPr>
            <p:ph type="title"/>
          </p:nvPr>
        </p:nvSpPr>
        <p:spPr>
          <a:xfrm>
            <a:off x="342900" y="84054"/>
            <a:ext cx="6172200" cy="861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a:t>Instructions</a:t>
            </a:r>
            <a:endParaRPr/>
          </a:p>
        </p:txBody>
      </p:sp>
      <p:sp>
        <p:nvSpPr>
          <p:cNvPr id="108" name="Google Shape;108;g84d7870085_0_6"/>
          <p:cNvSpPr txBox="1"/>
          <p:nvPr>
            <p:ph idx="1" type="body"/>
          </p:nvPr>
        </p:nvSpPr>
        <p:spPr>
          <a:xfrm>
            <a:off x="390525" y="860625"/>
            <a:ext cx="6172200" cy="7708500"/>
          </a:xfrm>
          <a:prstGeom prst="rect">
            <a:avLst/>
          </a:prstGeom>
          <a:noFill/>
          <a:ln>
            <a:noFill/>
          </a:ln>
        </p:spPr>
        <p:txBody>
          <a:bodyPr anchorCtr="0" anchor="t" bIns="45700" lIns="91425" spcFirstLastPara="1" rIns="91425" wrap="square" tIns="45700">
            <a:noAutofit/>
          </a:bodyPr>
          <a:lstStyle/>
          <a:p>
            <a:pPr indent="0" lvl="0" marL="0" rtl="0" algn="l">
              <a:lnSpc>
                <a:spcPct val="107916"/>
              </a:lnSpc>
              <a:spcBef>
                <a:spcPts val="0"/>
              </a:spcBef>
              <a:spcAft>
                <a:spcPts val="0"/>
              </a:spcAft>
              <a:buSzPts val="1800"/>
              <a:buNone/>
            </a:pPr>
            <a:r>
              <a:rPr lang="en-US" sz="1500" u="sng"/>
              <a:t>The Big Picture</a:t>
            </a:r>
            <a:endParaRPr sz="1500" u="sng"/>
          </a:p>
          <a:p>
            <a:pPr indent="-323850" lvl="0" marL="457200" rtl="0" algn="l">
              <a:lnSpc>
                <a:spcPct val="107916"/>
              </a:lnSpc>
              <a:spcBef>
                <a:spcPts val="0"/>
              </a:spcBef>
              <a:spcAft>
                <a:spcPts val="0"/>
              </a:spcAft>
              <a:buSzPts val="1500"/>
              <a:buFont typeface="Calibri"/>
              <a:buChar char="●"/>
            </a:pPr>
            <a:r>
              <a:rPr lang="en-US" sz="1500"/>
              <a:t>The purpose of this Decision Support Tool is to consider health when assessing, designing, and building land use projects. </a:t>
            </a:r>
            <a:endParaRPr sz="1500"/>
          </a:p>
          <a:p>
            <a:pPr indent="-323850" lvl="0" marL="457200" rtl="0" algn="l">
              <a:lnSpc>
                <a:spcPct val="107916"/>
              </a:lnSpc>
              <a:spcBef>
                <a:spcPts val="0"/>
              </a:spcBef>
              <a:spcAft>
                <a:spcPts val="0"/>
              </a:spcAft>
              <a:buSzPts val="1500"/>
              <a:buFont typeface="Calibri"/>
              <a:buChar char="●"/>
            </a:pPr>
            <a:r>
              <a:rPr lang="en-US" sz="1500"/>
              <a:t>Step 1 of this Tool considers active transportation, equity, crashes, land use, and connectivity. Step 2 assesses existing infrastructure. Step 3 provides recommendations that take health into account. </a:t>
            </a:r>
            <a:endParaRPr sz="1500"/>
          </a:p>
          <a:p>
            <a:pPr indent="0" lvl="0" marL="0" rtl="0" algn="l">
              <a:lnSpc>
                <a:spcPct val="107916"/>
              </a:lnSpc>
              <a:spcBef>
                <a:spcPts val="0"/>
              </a:spcBef>
              <a:spcAft>
                <a:spcPts val="0"/>
              </a:spcAft>
              <a:buSzPts val="1800"/>
              <a:buNone/>
            </a:pPr>
            <a:r>
              <a:t/>
            </a:r>
            <a:endParaRPr sz="1500"/>
          </a:p>
          <a:p>
            <a:pPr indent="0" lvl="0" marL="0" rtl="0" algn="l">
              <a:lnSpc>
                <a:spcPct val="107916"/>
              </a:lnSpc>
              <a:spcBef>
                <a:spcPts val="0"/>
              </a:spcBef>
              <a:spcAft>
                <a:spcPts val="0"/>
              </a:spcAft>
              <a:buSzPts val="1800"/>
              <a:buNone/>
            </a:pPr>
            <a:r>
              <a:rPr lang="en-US" sz="1500" u="sng"/>
              <a:t>Using the Tool</a:t>
            </a:r>
            <a:endParaRPr sz="1500" u="sng"/>
          </a:p>
          <a:p>
            <a:pPr indent="-323850" lvl="0" marL="457200" rtl="0" algn="l">
              <a:lnSpc>
                <a:spcPct val="107916"/>
              </a:lnSpc>
              <a:spcBef>
                <a:spcPts val="0"/>
              </a:spcBef>
              <a:spcAft>
                <a:spcPts val="0"/>
              </a:spcAft>
              <a:buSzPts val="1500"/>
              <a:buFont typeface="Calibri"/>
              <a:buChar char="●"/>
            </a:pPr>
            <a:r>
              <a:rPr lang="en-US" sz="1500"/>
              <a:t>Before using this tool, please identify a specific geographic area for a land use project.</a:t>
            </a:r>
            <a:endParaRPr sz="1500"/>
          </a:p>
          <a:p>
            <a:pPr indent="-323850" lvl="0" marL="457200" rtl="0" algn="l">
              <a:lnSpc>
                <a:spcPct val="107916"/>
              </a:lnSpc>
              <a:spcBef>
                <a:spcPts val="0"/>
              </a:spcBef>
              <a:spcAft>
                <a:spcPts val="0"/>
              </a:spcAft>
              <a:buSzPts val="1500"/>
              <a:buFont typeface="Calibri"/>
              <a:buChar char="●"/>
            </a:pPr>
            <a:r>
              <a:rPr lang="en-US" sz="1500"/>
              <a:t>Next, complete Steps 1 and 2, which involve gathering information through a series of questions. </a:t>
            </a:r>
            <a:endParaRPr sz="1500"/>
          </a:p>
          <a:p>
            <a:pPr indent="-323850" lvl="0" marL="457200" rtl="0" algn="l">
              <a:lnSpc>
                <a:spcPct val="107916"/>
              </a:lnSpc>
              <a:spcBef>
                <a:spcPts val="0"/>
              </a:spcBef>
              <a:spcAft>
                <a:spcPts val="0"/>
              </a:spcAft>
              <a:buSzPts val="1500"/>
              <a:buFont typeface="Calibri"/>
              <a:buChar char="●"/>
            </a:pPr>
            <a:r>
              <a:rPr lang="en-US" sz="1500"/>
              <a:t>Finally, use the information collected through Steps 1 and 2 to select project recommendations in Step 3 that take health into account. </a:t>
            </a:r>
            <a:endParaRPr sz="1500"/>
          </a:p>
          <a:p>
            <a:pPr indent="0" lvl="0" marL="0" rtl="0" algn="l">
              <a:lnSpc>
                <a:spcPct val="107916"/>
              </a:lnSpc>
              <a:spcBef>
                <a:spcPts val="0"/>
              </a:spcBef>
              <a:spcAft>
                <a:spcPts val="0"/>
              </a:spcAft>
              <a:buSzPts val="1800"/>
              <a:buNone/>
            </a:pPr>
            <a:r>
              <a:t/>
            </a:r>
            <a:endParaRPr sz="1500"/>
          </a:p>
          <a:p>
            <a:pPr indent="0" lvl="0" marL="0" rtl="0" algn="l">
              <a:lnSpc>
                <a:spcPct val="107916"/>
              </a:lnSpc>
              <a:spcBef>
                <a:spcPts val="0"/>
              </a:spcBef>
              <a:spcAft>
                <a:spcPts val="0"/>
              </a:spcAft>
              <a:buSzPts val="1800"/>
              <a:buNone/>
            </a:pPr>
            <a:r>
              <a:rPr lang="en-US" sz="1500" u="sng"/>
              <a:t>User Tips</a:t>
            </a:r>
            <a:endParaRPr sz="1500"/>
          </a:p>
          <a:p>
            <a:pPr indent="-323850" lvl="0" marL="457200" rtl="0" algn="l">
              <a:lnSpc>
                <a:spcPct val="107916"/>
              </a:lnSpc>
              <a:spcBef>
                <a:spcPts val="0"/>
              </a:spcBef>
              <a:spcAft>
                <a:spcPts val="0"/>
              </a:spcAft>
              <a:buSzPts val="1500"/>
              <a:buFont typeface="Calibri"/>
              <a:buChar char="●"/>
            </a:pPr>
            <a:r>
              <a:rPr lang="en-US" sz="1500"/>
              <a:t>Steps 1 &amp; 2 use many existing data sources available online. </a:t>
            </a:r>
            <a:endParaRPr sz="1500"/>
          </a:p>
          <a:p>
            <a:pPr indent="-323850" lvl="1" marL="914400" rtl="0" algn="l">
              <a:lnSpc>
                <a:spcPct val="107916"/>
              </a:lnSpc>
              <a:spcBef>
                <a:spcPts val="0"/>
              </a:spcBef>
              <a:spcAft>
                <a:spcPts val="0"/>
              </a:spcAft>
              <a:buSzPts val="1500"/>
              <a:buFont typeface="Calibri"/>
              <a:buChar char="○"/>
            </a:pPr>
            <a:r>
              <a:rPr lang="en-US" sz="1500"/>
              <a:t>Many of these websites are easiest to use by inputting a specific address. Select an address </a:t>
            </a:r>
            <a:r>
              <a:rPr i="1" lang="en-US" sz="1500" u="sng"/>
              <a:t>within</a:t>
            </a:r>
            <a:r>
              <a:rPr lang="en-US" sz="1500"/>
              <a:t> the project area for this purpose. Selecting an address somewhere in the middle of the project area would be helpful. </a:t>
            </a:r>
            <a:endParaRPr sz="1500"/>
          </a:p>
          <a:p>
            <a:pPr indent="-323850" lvl="1" marL="914400" rtl="0" algn="l">
              <a:lnSpc>
                <a:spcPct val="107916"/>
              </a:lnSpc>
              <a:spcBef>
                <a:spcPts val="0"/>
              </a:spcBef>
              <a:spcAft>
                <a:spcPts val="0"/>
              </a:spcAft>
              <a:buSzPts val="1500"/>
              <a:buFont typeface="Calibri"/>
              <a:buChar char="○"/>
            </a:pPr>
            <a:r>
              <a:rPr lang="en-US" sz="1500"/>
              <a:t>If a project encompasses more than one geographic unit of analysis  (e.g. Census Tract or block group), answer questions for each involved unit independently. Then, average the answers to compute final points.</a:t>
            </a:r>
            <a:endParaRPr sz="1500"/>
          </a:p>
          <a:p>
            <a:pPr indent="-323850" lvl="0" marL="457200" rtl="0" algn="l">
              <a:lnSpc>
                <a:spcPct val="107916"/>
              </a:lnSpc>
              <a:spcBef>
                <a:spcPts val="0"/>
              </a:spcBef>
              <a:spcAft>
                <a:spcPts val="0"/>
              </a:spcAft>
              <a:buSzPts val="1500"/>
              <a:buFont typeface="Calibri"/>
              <a:buChar char="●"/>
            </a:pPr>
            <a:r>
              <a:rPr lang="en-US" sz="1500"/>
              <a:t>In Step 3, use the scores calculated in Steps 1 &amp; 2 to determine whether the project should be designed and implemented using recommendations that are “good,” “better,” or “best” for promoting health.</a:t>
            </a:r>
            <a:endParaRPr sz="1500"/>
          </a:p>
          <a:p>
            <a:pPr indent="-323850" lvl="0" marL="457200" rtl="0" algn="l">
              <a:lnSpc>
                <a:spcPct val="107916"/>
              </a:lnSpc>
              <a:spcBef>
                <a:spcPts val="0"/>
              </a:spcBef>
              <a:spcAft>
                <a:spcPts val="0"/>
              </a:spcAft>
              <a:buSzPts val="1500"/>
              <a:buFont typeface="Calibri"/>
              <a:buChar char="●"/>
            </a:pPr>
            <a:r>
              <a:rPr lang="en-US" sz="1500"/>
              <a:t>This tool recognizes that projects are unique. As a result, if choosing not to pursue the recommendation contained in the tool, briefly explain why.</a:t>
            </a:r>
            <a:endParaRPr sz="1500"/>
          </a:p>
          <a:p>
            <a:pPr indent="0" lvl="0" marL="0" rtl="0" algn="l">
              <a:lnSpc>
                <a:spcPct val="107916"/>
              </a:lnSpc>
              <a:spcBef>
                <a:spcPts val="0"/>
              </a:spcBef>
              <a:spcAft>
                <a:spcPts val="0"/>
              </a:spcAft>
              <a:buSzPts val="1800"/>
              <a:buNone/>
            </a:pPr>
            <a:r>
              <a:rPr lang="en-US" sz="1500"/>
              <a:t> </a:t>
            </a:r>
            <a:endParaRPr sz="1500"/>
          </a:p>
          <a:p>
            <a:pPr indent="0" lvl="0" marL="0" rtl="0" algn="l">
              <a:lnSpc>
                <a:spcPct val="107916"/>
              </a:lnSpc>
              <a:spcBef>
                <a:spcPts val="0"/>
              </a:spcBef>
              <a:spcAft>
                <a:spcPts val="0"/>
              </a:spcAft>
              <a:buSzPts val="1800"/>
              <a:buNone/>
            </a:pPr>
            <a:r>
              <a:t/>
            </a:r>
            <a:endParaRPr sz="1500"/>
          </a:p>
          <a:p>
            <a:pPr indent="0" lvl="0" marL="0" rtl="0" algn="l">
              <a:lnSpc>
                <a:spcPct val="100000"/>
              </a:lnSpc>
              <a:spcBef>
                <a:spcPts val="360"/>
              </a:spcBef>
              <a:spcAft>
                <a:spcPts val="0"/>
              </a:spcAft>
              <a:buSzPts val="1800"/>
              <a:buNone/>
            </a:pPr>
            <a:r>
              <a:t/>
            </a:r>
            <a:endParaRPr/>
          </a:p>
        </p:txBody>
      </p:sp>
      <p:sp>
        <p:nvSpPr>
          <p:cNvPr id="109" name="Google Shape;109;g84d7870085_0_6"/>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5"/>
          <p:cNvSpPr txBox="1"/>
          <p:nvPr>
            <p:ph type="title"/>
          </p:nvPr>
        </p:nvSpPr>
        <p:spPr>
          <a:xfrm>
            <a:off x="398319" y="-15091"/>
            <a:ext cx="6172200" cy="74218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sz="3200"/>
              <a:t>Substantive Changes from V8 to V9 </a:t>
            </a:r>
            <a:endParaRPr/>
          </a:p>
        </p:txBody>
      </p:sp>
      <p:graphicFrame>
        <p:nvGraphicFramePr>
          <p:cNvPr id="115" name="Google Shape;115;p25"/>
          <p:cNvGraphicFramePr/>
          <p:nvPr/>
        </p:nvGraphicFramePr>
        <p:xfrm>
          <a:off x="221673" y="768653"/>
          <a:ext cx="3000000" cy="3000000"/>
        </p:xfrm>
        <a:graphic>
          <a:graphicData uri="http://schemas.openxmlformats.org/drawingml/2006/table">
            <a:tbl>
              <a:tblPr>
                <a:gradFill>
                  <a:gsLst>
                    <a:gs pos="0">
                      <a:srgbClr val="DAFEA4"/>
                    </a:gs>
                    <a:gs pos="35000">
                      <a:srgbClr val="E3FEBF"/>
                    </a:gs>
                    <a:gs pos="100000">
                      <a:srgbClr val="F4FEE6"/>
                    </a:gs>
                  </a:gsLst>
                  <a:lin ang="16200000" scaled="0"/>
                </a:gradFill>
                <a:tableStyleId>{17B9EC08-3944-4540-AC1C-D55C9B871E89}</a:tableStyleId>
              </a:tblPr>
              <a:tblGrid>
                <a:gridCol w="765575"/>
                <a:gridCol w="5721125"/>
              </a:tblGrid>
              <a:tr h="398450">
                <a:tc>
                  <a:txBody>
                    <a:bodyPr/>
                    <a:lstStyle/>
                    <a:p>
                      <a:pPr indent="0" lvl="0" marL="0" marR="0" rtl="0" algn="ctr">
                        <a:lnSpc>
                          <a:spcPct val="100000"/>
                        </a:lnSpc>
                        <a:spcBef>
                          <a:spcPts val="0"/>
                        </a:spcBef>
                        <a:spcAft>
                          <a:spcPts val="0"/>
                        </a:spcAft>
                        <a:buNone/>
                      </a:pPr>
                      <a:r>
                        <a:rPr b="1" lang="en-US" sz="1400" u="none" cap="none" strike="noStrike"/>
                        <a:t>Topic</a:t>
                      </a:r>
                      <a:endParaRPr/>
                    </a:p>
                  </a:txBody>
                  <a:tcPr marT="18825" marB="18825" marR="28225" marL="28225" anchor="ctr"/>
                </a:tc>
                <a:tc>
                  <a:txBody>
                    <a:bodyPr/>
                    <a:lstStyle/>
                    <a:p>
                      <a:pPr indent="0" lvl="0" marL="0" marR="0" rtl="0" algn="ctr">
                        <a:lnSpc>
                          <a:spcPct val="100000"/>
                        </a:lnSpc>
                        <a:spcBef>
                          <a:spcPts val="0"/>
                        </a:spcBef>
                        <a:spcAft>
                          <a:spcPts val="0"/>
                        </a:spcAft>
                        <a:buNone/>
                      </a:pPr>
                      <a:r>
                        <a:rPr b="1" lang="en-US" sz="1400" u="none" cap="none" strike="noStrike"/>
                        <a:t>Changes</a:t>
                      </a:r>
                      <a:endParaRPr/>
                    </a:p>
                  </a:txBody>
                  <a:tcPr marT="18825" marB="18825" marR="28225" marL="28225" anchor="ctr"/>
                </a:tc>
              </a:tr>
              <a:tr h="1134375">
                <a:tc>
                  <a:txBody>
                    <a:bodyPr/>
                    <a:lstStyle/>
                    <a:p>
                      <a:pPr indent="0" lvl="0" marL="0" marR="0" rtl="0" algn="l">
                        <a:lnSpc>
                          <a:spcPct val="100000"/>
                        </a:lnSpc>
                        <a:spcBef>
                          <a:spcPts val="0"/>
                        </a:spcBef>
                        <a:spcAft>
                          <a:spcPts val="0"/>
                        </a:spcAft>
                        <a:buNone/>
                      </a:pPr>
                      <a:r>
                        <a:rPr lang="en-US" sz="1400" u="none" cap="none" strike="noStrike"/>
                        <a:t>Overall</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Added disclaimer language about sources and possible changes. </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Added a description of the DST. </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Included a spot for a test address in the header of Step 1.</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Added to instructions language: “Selecting an address somewhere in the middle of the project area would be helpful.”</a:t>
                      </a:r>
                      <a:endParaRPr/>
                    </a:p>
                  </a:txBody>
                  <a:tcPr marT="18825" marB="18825" marR="28225" marL="28225"/>
                </a:tc>
              </a:tr>
              <a:tr h="696100">
                <a:tc>
                  <a:txBody>
                    <a:bodyPr/>
                    <a:lstStyle/>
                    <a:p>
                      <a:pPr indent="0" lvl="0" marL="0" marR="0" rtl="0" algn="l">
                        <a:lnSpc>
                          <a:spcPct val="100000"/>
                        </a:lnSpc>
                        <a:spcBef>
                          <a:spcPts val="0"/>
                        </a:spcBef>
                        <a:spcAft>
                          <a:spcPts val="0"/>
                        </a:spcAft>
                        <a:buNone/>
                      </a:pPr>
                      <a:r>
                        <a:rPr lang="en-US" sz="1400" u="none" cap="none" strike="noStrike"/>
                        <a:t>S1Q1</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Explained in the instructions that If the result is a decimals of .5 or over, the user should round up and if it’s smaller than .5 the user should round down.</a:t>
                      </a:r>
                      <a:endParaRPr/>
                    </a:p>
                  </a:txBody>
                  <a:tcPr marT="18825" marB="18825" marR="28225" marL="28225"/>
                </a:tc>
              </a:tr>
              <a:tr h="257800">
                <a:tc>
                  <a:txBody>
                    <a:bodyPr/>
                    <a:lstStyle/>
                    <a:p>
                      <a:pPr indent="0" lvl="0" marL="0" marR="0" rtl="0" algn="l">
                        <a:lnSpc>
                          <a:spcPct val="100000"/>
                        </a:lnSpc>
                        <a:spcBef>
                          <a:spcPts val="0"/>
                        </a:spcBef>
                        <a:spcAft>
                          <a:spcPts val="0"/>
                        </a:spcAft>
                        <a:buNone/>
                      </a:pPr>
                      <a:r>
                        <a:rPr lang="en-US" sz="1400" u="none" cap="none" strike="noStrike"/>
                        <a:t>S1Q2</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Changed “key” to “legend” for clarify.</a:t>
                      </a:r>
                      <a:endParaRPr/>
                    </a:p>
                  </a:txBody>
                  <a:tcPr marT="18825" marB="18825" marR="28225" marL="28225"/>
                </a:tc>
              </a:tr>
              <a:tr h="257800">
                <a:tc>
                  <a:txBody>
                    <a:bodyPr/>
                    <a:lstStyle/>
                    <a:p>
                      <a:pPr indent="0" lvl="0" marL="0" marR="0" rtl="0" algn="l">
                        <a:lnSpc>
                          <a:spcPct val="100000"/>
                        </a:lnSpc>
                        <a:spcBef>
                          <a:spcPts val="0"/>
                        </a:spcBef>
                        <a:spcAft>
                          <a:spcPts val="0"/>
                        </a:spcAft>
                        <a:buNone/>
                      </a:pPr>
                      <a:r>
                        <a:rPr lang="en-US" sz="1400" u="none" cap="none" strike="noStrike"/>
                        <a:t>S1Q3</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Changed “key” to “legend” for clarify.</a:t>
                      </a:r>
                      <a:endParaRPr/>
                    </a:p>
                  </a:txBody>
                  <a:tcPr marT="18825" marB="18825" marR="28225" marL="28225"/>
                </a:tc>
              </a:tr>
              <a:tr h="476950">
                <a:tc>
                  <a:txBody>
                    <a:bodyPr/>
                    <a:lstStyle/>
                    <a:p>
                      <a:pPr indent="0" lvl="0" marL="0" marR="0" rtl="0" algn="l">
                        <a:lnSpc>
                          <a:spcPct val="100000"/>
                        </a:lnSpc>
                        <a:spcBef>
                          <a:spcPts val="0"/>
                        </a:spcBef>
                        <a:spcAft>
                          <a:spcPts val="0"/>
                        </a:spcAft>
                        <a:buNone/>
                      </a:pPr>
                      <a:r>
                        <a:rPr lang="en-US" sz="1400" u="none" cap="none" strike="noStrike"/>
                        <a:t>S1Q4</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Moved the arrow to the last icon.</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Moved each image under the corresponding description.</a:t>
                      </a:r>
                      <a:endParaRPr/>
                    </a:p>
                  </a:txBody>
                  <a:tcPr marT="18825" marB="18825" marR="28225" marL="28225"/>
                </a:tc>
              </a:tr>
              <a:tr h="1134375">
                <a:tc>
                  <a:txBody>
                    <a:bodyPr/>
                    <a:lstStyle/>
                    <a:p>
                      <a:pPr indent="0" lvl="0" marL="0" marR="0" rtl="0" algn="l">
                        <a:lnSpc>
                          <a:spcPct val="100000"/>
                        </a:lnSpc>
                        <a:spcBef>
                          <a:spcPts val="0"/>
                        </a:spcBef>
                        <a:spcAft>
                          <a:spcPts val="0"/>
                        </a:spcAft>
                        <a:buNone/>
                      </a:pPr>
                      <a:r>
                        <a:rPr lang="en-US" sz="1400" u="none" cap="none" strike="noStrike"/>
                        <a:t>S1Q6</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Replaced “ArcGIS Online map” with “ArcGIS Online Map Viewer.” </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Changed language to clarify that if the project area straddles multiple color-coded zones, calculate the average. If this average is a whole number, the points assigned should be the average of the two values associated with that whole number.</a:t>
                      </a:r>
                      <a:endParaRPr/>
                    </a:p>
                  </a:txBody>
                  <a:tcPr marT="18825" marB="18825" marR="28225" marL="28225"/>
                </a:tc>
              </a:tr>
              <a:tr h="519750">
                <a:tc>
                  <a:txBody>
                    <a:bodyPr/>
                    <a:lstStyle/>
                    <a:p>
                      <a:pPr indent="0" lvl="0" marL="0" marR="0" rtl="0" algn="l">
                        <a:lnSpc>
                          <a:spcPct val="100000"/>
                        </a:lnSpc>
                        <a:spcBef>
                          <a:spcPts val="0"/>
                        </a:spcBef>
                        <a:spcAft>
                          <a:spcPts val="0"/>
                        </a:spcAft>
                        <a:buNone/>
                      </a:pPr>
                      <a:r>
                        <a:rPr lang="en-US" sz="1400" u="none" cap="none" strike="noStrike"/>
                        <a:t>S1Q8</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Corrected language to indicate that the address for the project area should be input into the “left” corner rather than “right” corner.</a:t>
                      </a:r>
                      <a:endParaRPr/>
                    </a:p>
                  </a:txBody>
                  <a:tcPr marT="18825" marB="18825" marR="28225" marL="28225"/>
                </a:tc>
              </a:tr>
              <a:tr h="1134375">
                <a:tc>
                  <a:txBody>
                    <a:bodyPr/>
                    <a:lstStyle/>
                    <a:p>
                      <a:pPr indent="0" lvl="0" marL="0" marR="0" rtl="0" algn="l">
                        <a:lnSpc>
                          <a:spcPct val="100000"/>
                        </a:lnSpc>
                        <a:spcBef>
                          <a:spcPts val="0"/>
                        </a:spcBef>
                        <a:spcAft>
                          <a:spcPts val="0"/>
                        </a:spcAft>
                        <a:buNone/>
                      </a:pPr>
                      <a:r>
                        <a:rPr lang="en-US" sz="1400" u="none" cap="none" strike="noStrike"/>
                        <a:t>S1Q11 &amp; S1Q12</a:t>
                      </a:r>
                      <a:endParaRPr/>
                    </a:p>
                  </a:txBody>
                  <a:tcPr marT="18825" marB="18825" marR="28225" marL="28225"/>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Replaced use of “Transportation Trails” and ”RTC Bike Trails on Streets” with ”Bike Streets” and changed data source to access ”Bike Streets” map.   </a:t>
                      </a:r>
                      <a:endParaRPr/>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Deleted S1Q12 based on feedback. </a:t>
                      </a:r>
                      <a:endParaRPr/>
                    </a:p>
                    <a:p>
                      <a:pPr indent="-285750" lvl="0" marL="285750" marR="0" rtl="0" algn="l">
                        <a:lnSpc>
                          <a:spcPct val="100000"/>
                        </a:lnSpc>
                        <a:spcBef>
                          <a:spcPts val="0"/>
                        </a:spcBef>
                        <a:spcAft>
                          <a:spcPts val="0"/>
                        </a:spcAft>
                        <a:buClr>
                          <a:srgbClr val="000000"/>
                        </a:buClr>
                        <a:buSzPts val="1400"/>
                        <a:buFont typeface="Arial"/>
                        <a:buChar char="•"/>
                      </a:pPr>
                      <a:r>
                        <a:rPr b="0" lang="en-US" sz="1400" u="none" cap="none" strike="noStrike">
                          <a:solidFill>
                            <a:srgbClr val="000000"/>
                          </a:solidFill>
                        </a:rPr>
                        <a:t>Doubled the point-value of S1Q11. </a:t>
                      </a:r>
                      <a:endParaRPr/>
                    </a:p>
                  </a:txBody>
                  <a:tcPr marT="18825" marB="18825" marR="28225" marL="28225"/>
                </a:tc>
              </a:tr>
              <a:tr h="696100">
                <a:tc>
                  <a:txBody>
                    <a:bodyPr/>
                    <a:lstStyle/>
                    <a:p>
                      <a:pPr indent="0" lvl="0" marL="0" marR="0" rtl="0" algn="l">
                        <a:lnSpc>
                          <a:spcPct val="100000"/>
                        </a:lnSpc>
                        <a:spcBef>
                          <a:spcPts val="0"/>
                        </a:spcBef>
                        <a:spcAft>
                          <a:spcPts val="0"/>
                        </a:spcAft>
                        <a:buNone/>
                      </a:pPr>
                      <a:r>
                        <a:rPr lang="en-US" sz="1400" u="none" cap="none" strike="noStrike"/>
                        <a:t>S2Q1</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Replaced “under” with “next to” in instructions.</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Replaced “ArcGIS Online map” with “ArcGIS Online Map Viewer” in instructions.</a:t>
                      </a:r>
                      <a:endParaRPr/>
                    </a:p>
                  </a:txBody>
                  <a:tcPr marT="18825" marB="18825" marR="28225" marL="28225"/>
                </a:tc>
              </a:tr>
              <a:tr h="476950">
                <a:tc>
                  <a:txBody>
                    <a:bodyPr/>
                    <a:lstStyle/>
                    <a:p>
                      <a:pPr indent="0" lvl="0" marL="0" marR="0" rtl="0" algn="l">
                        <a:lnSpc>
                          <a:spcPct val="100000"/>
                        </a:lnSpc>
                        <a:spcBef>
                          <a:spcPts val="0"/>
                        </a:spcBef>
                        <a:spcAft>
                          <a:spcPts val="0"/>
                        </a:spcAft>
                        <a:buNone/>
                      </a:pPr>
                      <a:r>
                        <a:rPr lang="en-US" sz="1400" u="none" cap="none" strike="noStrike"/>
                        <a:t>S2Q2</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Updated link with new mapping tool created by RTC. </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Updated question wording and instructions to explain use of RTC mapping tool. </a:t>
                      </a:r>
                      <a:endParaRPr/>
                    </a:p>
                  </a:txBody>
                  <a:tcPr marT="18825" marB="18825" marR="28225" marL="28225"/>
                </a:tc>
              </a:tr>
              <a:tr h="915225">
                <a:tc>
                  <a:txBody>
                    <a:bodyPr/>
                    <a:lstStyle/>
                    <a:p>
                      <a:pPr indent="0" lvl="0" marL="0" marR="0" rtl="0" algn="l">
                        <a:lnSpc>
                          <a:spcPct val="100000"/>
                        </a:lnSpc>
                        <a:spcBef>
                          <a:spcPts val="0"/>
                        </a:spcBef>
                        <a:spcAft>
                          <a:spcPts val="0"/>
                        </a:spcAft>
                        <a:buNone/>
                      </a:pPr>
                      <a:r>
                        <a:rPr lang="en-US" sz="1400" u="none" cap="none" strike="noStrike"/>
                        <a:t>S2Q3</a:t>
                      </a:r>
                      <a:endParaRPr/>
                    </a:p>
                  </a:txBody>
                  <a:tcPr marT="18825" marB="18825" marR="28225" marL="28225"/>
                </a:tc>
                <a:tc>
                  <a:txBody>
                    <a:bodyPr/>
                    <a:lstStyle/>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Clarified that “MAPS Mini Score” used should be points rather than percentage. </a:t>
                      </a:r>
                      <a:endParaRPr/>
                    </a:p>
                    <a:p>
                      <a:pPr indent="-171450" lvl="0" marL="171450" marR="0" rtl="0" algn="l">
                        <a:lnSpc>
                          <a:spcPct val="100000"/>
                        </a:lnSpc>
                        <a:spcBef>
                          <a:spcPts val="0"/>
                        </a:spcBef>
                        <a:spcAft>
                          <a:spcPts val="0"/>
                        </a:spcAft>
                        <a:buClr>
                          <a:srgbClr val="000000"/>
                        </a:buClr>
                        <a:buSzPts val="1400"/>
                        <a:buFont typeface="Arial"/>
                        <a:buChar char="•"/>
                      </a:pPr>
                      <a:r>
                        <a:rPr lang="en-US" sz="1400" u="none" cap="none" strike="noStrike">
                          <a:solidFill>
                            <a:srgbClr val="000000"/>
                          </a:solidFill>
                        </a:rPr>
                        <a:t>Clarified that the MAPS assessment should be conducted at the block-level.</a:t>
                      </a:r>
                      <a:endParaRPr/>
                    </a:p>
                  </a:txBody>
                  <a:tcPr marT="18825" marB="18825" marR="28225" marL="282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graphicFrame>
        <p:nvGraphicFramePr>
          <p:cNvPr id="120" name="Google Shape;120;p26"/>
          <p:cNvGraphicFramePr/>
          <p:nvPr/>
        </p:nvGraphicFramePr>
        <p:xfrm>
          <a:off x="342900" y="1108363"/>
          <a:ext cx="3000000" cy="3000000"/>
        </p:xfrm>
        <a:graphic>
          <a:graphicData uri="http://schemas.openxmlformats.org/drawingml/2006/table">
            <a:tbl>
              <a:tblPr>
                <a:noFill/>
                <a:tableStyleId>{17B9EC08-3944-4540-AC1C-D55C9B871E89}</a:tableStyleId>
              </a:tblPr>
              <a:tblGrid>
                <a:gridCol w="1348250"/>
                <a:gridCol w="4823950"/>
              </a:tblGrid>
              <a:tr h="456200">
                <a:tc>
                  <a:txBody>
                    <a:bodyPr/>
                    <a:lstStyle/>
                    <a:p>
                      <a:pPr indent="0" lvl="0" marL="0" marR="0" rtl="0" algn="ctr">
                        <a:lnSpc>
                          <a:spcPct val="100000"/>
                        </a:lnSpc>
                        <a:spcBef>
                          <a:spcPts val="0"/>
                        </a:spcBef>
                        <a:spcAft>
                          <a:spcPts val="0"/>
                        </a:spcAft>
                        <a:buNone/>
                      </a:pPr>
                      <a:r>
                        <a:rPr b="1" lang="en-US" sz="1600" u="none" cap="none" strike="noStrike">
                          <a:solidFill>
                            <a:srgbClr val="000000"/>
                          </a:solidFill>
                        </a:rPr>
                        <a:t>Topic</a:t>
                      </a:r>
                      <a:endParaRPr/>
                    </a:p>
                  </a:txBody>
                  <a:tcPr marT="17350" marB="17350" marR="26050" marL="26050"/>
                </a:tc>
                <a:tc>
                  <a:txBody>
                    <a:bodyPr/>
                    <a:lstStyle/>
                    <a:p>
                      <a:pPr indent="0" lvl="0" marL="0" marR="0" rtl="0" algn="ctr">
                        <a:lnSpc>
                          <a:spcPct val="100000"/>
                        </a:lnSpc>
                        <a:spcBef>
                          <a:spcPts val="0"/>
                        </a:spcBef>
                        <a:spcAft>
                          <a:spcPts val="0"/>
                        </a:spcAft>
                        <a:buNone/>
                      </a:pPr>
                      <a:r>
                        <a:rPr b="1" lang="en-US" sz="1600" u="none" cap="none" strike="noStrike">
                          <a:solidFill>
                            <a:srgbClr val="000000"/>
                          </a:solidFill>
                        </a:rPr>
                        <a:t>Changes</a:t>
                      </a:r>
                      <a:endParaRPr/>
                    </a:p>
                  </a:txBody>
                  <a:tcPr marT="17350" marB="17350" marR="26050" marL="26050"/>
                </a:tc>
              </a:tr>
              <a:tr h="1167975">
                <a:tc>
                  <a:txBody>
                    <a:bodyPr/>
                    <a:lstStyle/>
                    <a:p>
                      <a:pPr indent="0" lvl="0" marL="0" marR="0" rtl="0" algn="l">
                        <a:lnSpc>
                          <a:spcPct val="100000"/>
                        </a:lnSpc>
                        <a:spcBef>
                          <a:spcPts val="0"/>
                        </a:spcBef>
                        <a:spcAft>
                          <a:spcPts val="0"/>
                        </a:spcAft>
                        <a:buNone/>
                      </a:pPr>
                      <a:r>
                        <a:rPr i="1" lang="en-US" sz="1600" u="none" cap="none" strike="noStrike">
                          <a:solidFill>
                            <a:srgbClr val="000000"/>
                          </a:solidFill>
                        </a:rPr>
                        <a:t>Overall</a:t>
                      </a:r>
                      <a:endParaRPr/>
                    </a:p>
                  </a:txBody>
                  <a:tcPr marT="17350" marB="17350" marR="26050" marL="26050"/>
                </a:tc>
                <a:tc>
                  <a:txBody>
                    <a:bodyPr/>
                    <a:lstStyle/>
                    <a:p>
                      <a:pPr indent="-171450" lvl="0" marL="171450" marR="0" rtl="0" algn="l">
                        <a:lnSpc>
                          <a:spcPct val="100000"/>
                        </a:lnSpc>
                        <a:spcBef>
                          <a:spcPts val="0"/>
                        </a:spcBef>
                        <a:spcAft>
                          <a:spcPts val="0"/>
                        </a:spcAft>
                        <a:buClr>
                          <a:srgbClr val="000000"/>
                        </a:buClr>
                        <a:buSzPts val="1600"/>
                        <a:buFont typeface="Arial"/>
                        <a:buChar char="•"/>
                      </a:pPr>
                      <a:r>
                        <a:rPr lang="en-US" sz="1600" u="none" cap="none" strike="noStrike">
                          <a:solidFill>
                            <a:srgbClr val="000000"/>
                          </a:solidFill>
                        </a:rPr>
                        <a:t>Clarified that if a recommendation is not pursued, the user should explain and document why the recommendation is not appropriate.</a:t>
                      </a:r>
                      <a:endParaRPr/>
                    </a:p>
                  </a:txBody>
                  <a:tcPr marT="17350" marB="17350" marR="26050" marL="26050"/>
                </a:tc>
              </a:tr>
              <a:tr h="710675">
                <a:tc>
                  <a:txBody>
                    <a:bodyPr/>
                    <a:lstStyle/>
                    <a:p>
                      <a:pPr indent="0" lvl="0" marL="0" marR="0" rtl="0" algn="l">
                        <a:lnSpc>
                          <a:spcPct val="100000"/>
                        </a:lnSpc>
                        <a:spcBef>
                          <a:spcPts val="0"/>
                        </a:spcBef>
                        <a:spcAft>
                          <a:spcPts val="0"/>
                        </a:spcAft>
                        <a:buNone/>
                      </a:pPr>
                      <a:r>
                        <a:rPr i="1" lang="en-US" sz="1600" u="none" cap="none" strike="noStrike">
                          <a:solidFill>
                            <a:srgbClr val="000000"/>
                          </a:solidFill>
                        </a:rPr>
                        <a:t>Traffic Calming</a:t>
                      </a:r>
                      <a:endParaRPr/>
                    </a:p>
                  </a:txBody>
                  <a:tcPr marT="17350" marB="17350" marR="26050" marL="26050"/>
                </a:tc>
                <a:tc>
                  <a:txBody>
                    <a:bodyPr/>
                    <a:lstStyle/>
                    <a:p>
                      <a:pPr indent="-171450" lvl="0" marL="171450" marR="0" rtl="0" algn="l">
                        <a:lnSpc>
                          <a:spcPct val="100000"/>
                        </a:lnSpc>
                        <a:spcBef>
                          <a:spcPts val="0"/>
                        </a:spcBef>
                        <a:spcAft>
                          <a:spcPts val="0"/>
                        </a:spcAft>
                        <a:buClr>
                          <a:srgbClr val="000000"/>
                        </a:buClr>
                        <a:buSzPts val="1600"/>
                        <a:buFont typeface="Arial"/>
                        <a:buChar char="•"/>
                      </a:pPr>
                      <a:r>
                        <a:rPr lang="en-US" sz="1600" u="none" cap="none" strike="noStrike">
                          <a:solidFill>
                            <a:srgbClr val="000000"/>
                          </a:solidFill>
                        </a:rPr>
                        <a:t>Replaced “chokers” with “curb extensions” under “Best”</a:t>
                      </a:r>
                      <a:endParaRPr/>
                    </a:p>
                  </a:txBody>
                  <a:tcPr marT="17350" marB="17350" marR="26050" marL="26050"/>
                </a:tc>
              </a:tr>
              <a:tr h="2266400">
                <a:tc>
                  <a:txBody>
                    <a:bodyPr/>
                    <a:lstStyle/>
                    <a:p>
                      <a:pPr indent="0" lvl="0" marL="0" marR="0" rtl="0" algn="l">
                        <a:lnSpc>
                          <a:spcPct val="100000"/>
                        </a:lnSpc>
                        <a:spcBef>
                          <a:spcPts val="0"/>
                        </a:spcBef>
                        <a:spcAft>
                          <a:spcPts val="0"/>
                        </a:spcAft>
                        <a:buNone/>
                      </a:pPr>
                      <a:r>
                        <a:rPr i="1" lang="en-US" sz="1600" u="none" cap="none" strike="noStrike">
                          <a:solidFill>
                            <a:srgbClr val="000000"/>
                          </a:solidFill>
                        </a:rPr>
                        <a:t>Crosswalk and signalized intersections</a:t>
                      </a:r>
                      <a:endParaRPr/>
                    </a:p>
                  </a:txBody>
                  <a:tcPr marT="17350" marB="17350" marR="26050" marL="26050"/>
                </a:tc>
                <a:tc>
                  <a:txBody>
                    <a:bodyPr/>
                    <a:lstStyle/>
                    <a:p>
                      <a:pPr indent="-171450" lvl="0" marL="171450" marR="0" rtl="0" algn="l">
                        <a:lnSpc>
                          <a:spcPct val="100000"/>
                        </a:lnSpc>
                        <a:spcBef>
                          <a:spcPts val="0"/>
                        </a:spcBef>
                        <a:spcAft>
                          <a:spcPts val="0"/>
                        </a:spcAft>
                        <a:buClr>
                          <a:srgbClr val="000000"/>
                        </a:buClr>
                        <a:buSzPts val="1600"/>
                        <a:buFont typeface="Arial"/>
                        <a:buChar char="•"/>
                      </a:pPr>
                      <a:r>
                        <a:rPr lang="en-US" sz="1600" u="none" cap="none" strike="noStrike">
                          <a:solidFill>
                            <a:srgbClr val="000000"/>
                          </a:solidFill>
                        </a:rPr>
                        <a:t>Changed “Install overhead pedestrian activated (sensors) flashers or signals” to “Install pedestrian activated (sensors) flashers or signals” under ”Best.”</a:t>
                      </a:r>
                      <a:endParaRPr/>
                    </a:p>
                    <a:p>
                      <a:pPr indent="-171450" lvl="0" marL="171450" marR="0" rtl="0" algn="l">
                        <a:lnSpc>
                          <a:spcPct val="100000"/>
                        </a:lnSpc>
                        <a:spcBef>
                          <a:spcPts val="0"/>
                        </a:spcBef>
                        <a:spcAft>
                          <a:spcPts val="0"/>
                        </a:spcAft>
                        <a:buClr>
                          <a:srgbClr val="000000"/>
                        </a:buClr>
                        <a:buSzPts val="1600"/>
                        <a:buFont typeface="Arial"/>
                        <a:buChar char="•"/>
                      </a:pPr>
                      <a:r>
                        <a:rPr lang="en-US" sz="1600" u="none" cap="none" strike="noStrike">
                          <a:solidFill>
                            <a:srgbClr val="000000"/>
                          </a:solidFill>
                        </a:rPr>
                        <a:t>Changed “Install signal timing to utilize exclusive pedestrian phase and/or pedestrian scramble” to “Install signal timing to utilize exclusive pedestrian phase” under “Best.”</a:t>
                      </a:r>
                      <a:endParaRPr/>
                    </a:p>
                  </a:txBody>
                  <a:tcPr marT="17350" marB="17350" marR="26050" marL="26050"/>
                </a:tc>
              </a:tr>
              <a:tr h="1900250">
                <a:tc>
                  <a:txBody>
                    <a:bodyPr/>
                    <a:lstStyle/>
                    <a:p>
                      <a:pPr indent="0" lvl="0" marL="0" marR="0" rtl="0" algn="l">
                        <a:lnSpc>
                          <a:spcPct val="100000"/>
                        </a:lnSpc>
                        <a:spcBef>
                          <a:spcPts val="0"/>
                        </a:spcBef>
                        <a:spcAft>
                          <a:spcPts val="0"/>
                        </a:spcAft>
                        <a:buNone/>
                      </a:pPr>
                      <a:r>
                        <a:rPr i="1" lang="en-US" sz="1600" u="none" cap="none" strike="noStrike">
                          <a:solidFill>
                            <a:srgbClr val="000000"/>
                          </a:solidFill>
                        </a:rPr>
                        <a:t>Bicycle Improvements</a:t>
                      </a:r>
                      <a:endParaRPr/>
                    </a:p>
                  </a:txBody>
                  <a:tcPr marT="17350" marB="17350" marR="26050" marL="26050"/>
                </a:tc>
                <a:tc>
                  <a:txBody>
                    <a:bodyPr/>
                    <a:lstStyle/>
                    <a:p>
                      <a:pPr indent="-171450" lvl="0" marL="171450" marR="0" rtl="0" algn="l">
                        <a:lnSpc>
                          <a:spcPct val="100000"/>
                        </a:lnSpc>
                        <a:spcBef>
                          <a:spcPts val="0"/>
                        </a:spcBef>
                        <a:spcAft>
                          <a:spcPts val="0"/>
                        </a:spcAft>
                        <a:buClr>
                          <a:srgbClr val="000000"/>
                        </a:buClr>
                        <a:buSzPts val="1600"/>
                        <a:buFont typeface="Arial"/>
                        <a:buChar char="•"/>
                      </a:pPr>
                      <a:r>
                        <a:rPr lang="en-US" sz="1600" u="none" cap="none" strike="noStrike">
                          <a:solidFill>
                            <a:srgbClr val="000000"/>
                          </a:solidFill>
                        </a:rPr>
                        <a:t>Changed “Install painted bike boxes at intersections” to “Install bike boxes at intersections using paint or other materials” under “Better.”</a:t>
                      </a:r>
                      <a:endParaRPr/>
                    </a:p>
                    <a:p>
                      <a:pPr indent="-171450" lvl="0" marL="171450" marR="0" rtl="0" algn="l">
                        <a:lnSpc>
                          <a:spcPct val="100000"/>
                        </a:lnSpc>
                        <a:spcBef>
                          <a:spcPts val="0"/>
                        </a:spcBef>
                        <a:spcAft>
                          <a:spcPts val="0"/>
                        </a:spcAft>
                        <a:buClr>
                          <a:srgbClr val="000000"/>
                        </a:buClr>
                        <a:buSzPts val="1600"/>
                        <a:buFont typeface="Arial"/>
                        <a:buChar char="•"/>
                      </a:pPr>
                      <a:r>
                        <a:rPr lang="en-US" sz="1600" u="none" cap="none" strike="noStrike">
                          <a:solidFill>
                            <a:srgbClr val="000000"/>
                          </a:solidFill>
                        </a:rPr>
                        <a:t>Changed “Add occasional green bike symbols” to “Add green bike legend panels” under “Better.”</a:t>
                      </a:r>
                      <a:endParaRPr/>
                    </a:p>
                  </a:txBody>
                  <a:tcPr marT="17350" marB="17350" marR="26050" marL="26050"/>
                </a:tc>
              </a:tr>
              <a:tr h="1167975">
                <a:tc>
                  <a:txBody>
                    <a:bodyPr/>
                    <a:lstStyle/>
                    <a:p>
                      <a:pPr indent="0" lvl="0" marL="0" marR="0" rtl="0" algn="l">
                        <a:lnSpc>
                          <a:spcPct val="100000"/>
                        </a:lnSpc>
                        <a:spcBef>
                          <a:spcPts val="0"/>
                        </a:spcBef>
                        <a:spcAft>
                          <a:spcPts val="0"/>
                        </a:spcAft>
                        <a:buNone/>
                      </a:pPr>
                      <a:r>
                        <a:rPr i="1" lang="en-US" sz="1600" u="none" cap="none" strike="noStrike">
                          <a:solidFill>
                            <a:srgbClr val="000000"/>
                          </a:solidFill>
                        </a:rPr>
                        <a:t>Visibility</a:t>
                      </a:r>
                      <a:endParaRPr/>
                    </a:p>
                  </a:txBody>
                  <a:tcPr marT="17350" marB="17350" marR="26050" marL="26050"/>
                </a:tc>
                <a:tc>
                  <a:txBody>
                    <a:bodyPr/>
                    <a:lstStyle/>
                    <a:p>
                      <a:pPr indent="-171450" lvl="0" marL="171450" marR="0" rtl="0" algn="l">
                        <a:lnSpc>
                          <a:spcPct val="100000"/>
                        </a:lnSpc>
                        <a:spcBef>
                          <a:spcPts val="0"/>
                        </a:spcBef>
                        <a:spcAft>
                          <a:spcPts val="0"/>
                        </a:spcAft>
                        <a:buClr>
                          <a:srgbClr val="000000"/>
                        </a:buClr>
                        <a:buSzPts val="1600"/>
                        <a:buFont typeface="Arial"/>
                        <a:buChar char="•"/>
                      </a:pPr>
                      <a:r>
                        <a:rPr b="0" lang="en-US" sz="1600" u="none" cap="none" strike="noStrike">
                          <a:solidFill>
                            <a:srgbClr val="000000"/>
                          </a:solidFill>
                        </a:rPr>
                        <a:t>Changed “Remove all utility boxes out of sight lines” to ”Ensure that all utilities are out of sight lines” under “Better” and “Best.”</a:t>
                      </a:r>
                      <a:endParaRPr/>
                    </a:p>
                  </a:txBody>
                  <a:tcPr marT="17350" marB="17350" marR="26050" marL="26050"/>
                </a:tc>
              </a:tr>
            </a:tbl>
          </a:graphicData>
        </a:graphic>
      </p:graphicFrame>
      <p:sp>
        <p:nvSpPr>
          <p:cNvPr id="121" name="Google Shape;121;p26"/>
          <p:cNvSpPr txBox="1"/>
          <p:nvPr>
            <p:ph type="title"/>
          </p:nvPr>
        </p:nvSpPr>
        <p:spPr>
          <a:xfrm>
            <a:off x="342900" y="366184"/>
            <a:ext cx="6172200" cy="54821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62500"/>
              <a:buNone/>
            </a:pPr>
            <a:r>
              <a:rPr lang="en-US" sz="3200"/>
              <a:t>Substantive Changes from V8 to V9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
          <p:cNvSpPr txBox="1"/>
          <p:nvPr/>
        </p:nvSpPr>
        <p:spPr>
          <a:xfrm>
            <a:off x="486833" y="948267"/>
            <a:ext cx="5935200" cy="1292700"/>
          </a:xfrm>
          <a:prstGeom prst="rect">
            <a:avLst/>
          </a:prstGeom>
          <a:solidFill>
            <a:srgbClr val="FFC000"/>
          </a:solid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7030A0"/>
              </a:buClr>
              <a:buSzPts val="2600"/>
              <a:buFont typeface="Arial"/>
              <a:buChar char="•"/>
            </a:pPr>
            <a:r>
              <a:rPr b="0" i="0" lang="en-US" sz="2600" u="none" cap="none" strike="noStrike">
                <a:solidFill>
                  <a:srgbClr val="7030A0"/>
                </a:solidFill>
                <a:latin typeface="Calibri"/>
                <a:ea typeface="Calibri"/>
                <a:cs typeface="Calibri"/>
                <a:sym typeface="Calibri"/>
              </a:rPr>
              <a:t>Step 1: Assess area’s existing need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9051"/>
              </a:buClr>
              <a:buSzPts val="2600"/>
              <a:buFont typeface="Arial"/>
              <a:buChar char="•"/>
            </a:pPr>
            <a:r>
              <a:rPr b="0" i="0" lang="en-US" sz="2600" u="none" cap="none" strike="noStrike">
                <a:solidFill>
                  <a:srgbClr val="009051"/>
                </a:solidFill>
                <a:latin typeface="Calibri"/>
                <a:ea typeface="Calibri"/>
                <a:cs typeface="Calibri"/>
                <a:sym typeface="Calibri"/>
              </a:rPr>
              <a:t>Step 2: Assess existing infrastructure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C00000"/>
              </a:buClr>
              <a:buSzPts val="2600"/>
              <a:buFont typeface="Arial"/>
              <a:buChar char="•"/>
            </a:pPr>
            <a:r>
              <a:rPr b="0" i="0" lang="en-US" sz="26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3221566" y="2324482"/>
            <a:ext cx="414900" cy="666900"/>
          </a:xfrm>
          <a:prstGeom prst="downArrow">
            <a:avLst>
              <a:gd fmla="val 50000" name="adj1"/>
              <a:gd fmla="val 50000" name="adj2"/>
            </a:avLst>
          </a:prstGeom>
          <a:solidFill>
            <a:srgbClr val="A5A5A5"/>
          </a:solidFill>
          <a:ln cap="flat" cmpd="sng" w="9525">
            <a:solidFill>
              <a:srgbClr val="4A7DBA"/>
            </a:solidFill>
            <a:prstDash val="solid"/>
            <a:round/>
            <a:headEnd len="sm" w="sm" type="none"/>
            <a:tailEnd len="sm" w="sm" type="none"/>
          </a:ln>
          <a:effectLst>
            <a:outerShdw blurRad="40000" rotWithShape="0" dir="5400000" dist="23000">
              <a:srgbClr val="000000">
                <a:alpha val="3215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128" name="Google Shape;128;p2"/>
          <p:cNvGraphicFramePr/>
          <p:nvPr/>
        </p:nvGraphicFramePr>
        <p:xfrm>
          <a:off x="555604" y="3472437"/>
          <a:ext cx="3000000" cy="3000000"/>
        </p:xfrm>
        <a:graphic>
          <a:graphicData uri="http://schemas.openxmlformats.org/drawingml/2006/table">
            <a:tbl>
              <a:tblPr bandRow="1" firstRow="1">
                <a:noFill/>
                <a:tableStyleId>{DA7E6E65-D877-46FA-B78E-C062FE7EB15C}</a:tableStyleId>
              </a:tblPr>
              <a:tblGrid>
                <a:gridCol w="1290125"/>
                <a:gridCol w="1513725"/>
                <a:gridCol w="1629525"/>
                <a:gridCol w="1725100"/>
              </a:tblGrid>
              <a:tr h="569500">
                <a:tc>
                  <a:txBody>
                    <a:bodyPr/>
                    <a:lstStyle/>
                    <a:p>
                      <a:pPr indent="0" lvl="0" marL="0" marR="0" rtl="0" algn="ctr">
                        <a:lnSpc>
                          <a:spcPct val="100000"/>
                        </a:lnSpc>
                        <a:spcBef>
                          <a:spcPts val="0"/>
                        </a:spcBef>
                        <a:spcAft>
                          <a:spcPts val="0"/>
                        </a:spcAft>
                        <a:buClr>
                          <a:srgbClr val="000000"/>
                        </a:buClr>
                        <a:buSzPts val="2400"/>
                        <a:buFont typeface="Arial"/>
                        <a:buNone/>
                      </a:pPr>
                      <a:r>
                        <a:t/>
                      </a:r>
                      <a:endParaRPr sz="2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Below 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Above Average</a:t>
                      </a:r>
                      <a:endParaRPr b="0" sz="2400" u="none" cap="none" strike="noStrike">
                        <a:solidFill>
                          <a:srgbClr val="00B050"/>
                        </a:solidFill>
                      </a:endParaRPr>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High</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Medium</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Low</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Minimal potential for benefit</a:t>
                      </a:r>
                      <a:endParaRPr sz="1400" u="none" cap="none" strike="noStrike"/>
                    </a:p>
                  </a:txBody>
                  <a:tcPr marT="42400" marB="42400" marR="84800" marL="84800"/>
                </a:tc>
              </a:tr>
            </a:tbl>
          </a:graphicData>
        </a:graphic>
      </p:graphicFrame>
      <p:sp>
        <p:nvSpPr>
          <p:cNvPr id="129" name="Google Shape;129;p2"/>
          <p:cNvSpPr txBox="1"/>
          <p:nvPr/>
        </p:nvSpPr>
        <p:spPr>
          <a:xfrm>
            <a:off x="1861498" y="2883601"/>
            <a:ext cx="354667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9051"/>
                </a:solidFill>
                <a:latin typeface="Calibri"/>
                <a:ea typeface="Calibri"/>
                <a:cs typeface="Calibri"/>
                <a:sym typeface="Calibri"/>
              </a:rPr>
              <a:t>Existing Infrastructure </a:t>
            </a:r>
            <a:endParaRPr b="0" i="0" sz="1400" u="none" cap="none" strike="noStrike">
              <a:solidFill>
                <a:srgbClr val="000000"/>
              </a:solidFill>
              <a:latin typeface="Arial"/>
              <a:ea typeface="Arial"/>
              <a:cs typeface="Arial"/>
              <a:sym typeface="Arial"/>
            </a:endParaRPr>
          </a:p>
        </p:txBody>
      </p:sp>
      <p:sp>
        <p:nvSpPr>
          <p:cNvPr id="130" name="Google Shape;130;p2"/>
          <p:cNvSpPr txBox="1"/>
          <p:nvPr/>
        </p:nvSpPr>
        <p:spPr>
          <a:xfrm rot="-5400000">
            <a:off x="-1959704" y="5516070"/>
            <a:ext cx="4610487"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7030A0"/>
                </a:solidFill>
                <a:latin typeface="Calibri"/>
                <a:ea typeface="Calibri"/>
                <a:cs typeface="Calibri"/>
                <a:sym typeface="Calibri"/>
              </a:rPr>
              <a:t>Area Existing Need</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0" y="0"/>
            <a:ext cx="6858000" cy="71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Calibri"/>
                <a:ea typeface="Calibri"/>
                <a:cs typeface="Calibri"/>
                <a:sym typeface="Calibri"/>
              </a:rPr>
              <a:t>Roadmap</a:t>
            </a:r>
            <a:endParaRPr b="0" i="0" sz="44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chemeClr val="dk1"/>
              </a:solidFill>
              <a:latin typeface="Calibri"/>
              <a:ea typeface="Calibri"/>
              <a:cs typeface="Calibri"/>
              <a:sym typeface="Calibri"/>
            </a:endParaRPr>
          </a:p>
        </p:txBody>
      </p:sp>
      <p:sp>
        <p:nvSpPr>
          <p:cNvPr id="132" name="Google Shape;132;p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p:nvPr/>
        </p:nvSpPr>
        <p:spPr>
          <a:xfrm>
            <a:off x="1157416" y="120134"/>
            <a:ext cx="454316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138" name="Google Shape;138;p3"/>
          <p:cNvGraphicFramePr/>
          <p:nvPr/>
        </p:nvGraphicFramePr>
        <p:xfrm>
          <a:off x="135658" y="1273581"/>
          <a:ext cx="3000000" cy="3000000"/>
        </p:xfrm>
        <a:graphic>
          <a:graphicData uri="http://schemas.openxmlformats.org/drawingml/2006/table">
            <a:tbl>
              <a:tblPr bandRow="1" firstRow="1">
                <a:noFill/>
                <a:tableStyleId>{DA7E6E65-D877-46FA-B78E-C062FE7EB15C}</a:tableStyleId>
              </a:tblPr>
              <a:tblGrid>
                <a:gridCol w="5461000"/>
                <a:gridCol w="711200"/>
                <a:gridCol w="482600"/>
              </a:tblGrid>
              <a:tr h="491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1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088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S1Q1: How underserved is the geographic area where the project will be built?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use U. of Wisconsin Area Deprivation Index (state deciles), available </a:t>
                      </a:r>
                      <a:r>
                        <a:rPr lang="en-US" sz="1100" u="sng" cap="none" strike="noStrike">
                          <a:solidFill>
                            <a:srgbClr val="0000FF"/>
                          </a:solidFill>
                          <a:hlinkClick r:id="rId3">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https://www.neighborhoodatlas.medicine.wisc.edu/mapping</a:t>
                      </a:r>
                      <a:endParaRPr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ADI (least disadvantaged)                                                                 (most disadvantaged)</a:t>
                      </a:r>
                      <a:endParaRPr b="1" sz="1100" u="none" cap="none" strike="noStrike">
                        <a:solidFill>
                          <a:srgbClr val="FF0000"/>
                        </a:solidFill>
                      </a:endParaRPr>
                    </a:p>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0000"/>
                          </a:solidFill>
                        </a:rPr>
                        <a:t>ADI &amp; Points: 1           2          3         4          5            6             7           8             9            10</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Equity</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/10</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solidFill>
                      <a:srgbClr val="00FF00"/>
                    </a:solidFill>
                  </a:tcPr>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S1Q2: </a:t>
                      </a:r>
                      <a:r>
                        <a:rPr b="0" i="0" lang="en-US" sz="1100" u="none" cap="none" strike="noStrike"/>
                        <a:t>What is the current rate of biking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4">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0-.3%                   .4-1.2%                 1.3-2.5%                 2.6-4.3%            4.9-7.1%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S1Q3: </a:t>
                      </a:r>
                      <a:r>
                        <a:rPr b="0" i="0" lang="en-US" sz="1100" u="none" cap="none" strike="noStrike"/>
                        <a:t>What is the current rate of walking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5">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0-1.7%               1.8-5%                 5.4-11%           13.6-22.5%          45.3-57.6%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1458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S1Q4: </a:t>
                      </a:r>
                      <a:r>
                        <a:rPr b="0" i="0" lang="en-US" sz="1100" u="none" cap="none" strike="noStrike"/>
                        <a:t>What is the pedestrian crash density in the area?  (pedestrian crashes/sq. mile)</a:t>
                      </a:r>
                      <a:endParaRPr sz="1400" u="none" cap="none" strike="noStrike"/>
                    </a:p>
                    <a:p>
                      <a:pPr indent="0" lvl="0" marL="0" marR="0" rtl="0" algn="l">
                        <a:lnSpc>
                          <a:spcPct val="100000"/>
                        </a:lnSpc>
                        <a:spcBef>
                          <a:spcPts val="0"/>
                        </a:spcBef>
                        <a:spcAft>
                          <a:spcPts val="0"/>
                        </a:spcAft>
                        <a:buClr>
                          <a:schemeClr val="hlink"/>
                        </a:buClr>
                        <a:buSzPts val="1100"/>
                        <a:buFont typeface="Calibri"/>
                        <a:buNone/>
                      </a:pPr>
                      <a:r>
                        <a:rPr lang="en-US" sz="1100" u="none" cap="none" strike="noStrike">
                          <a:solidFill>
                            <a:schemeClr val="hlink"/>
                          </a:solidFill>
                        </a:rPr>
                        <a:t>(use NDOT map, available </a:t>
                      </a:r>
                      <a:r>
                        <a:rPr lang="en-US" sz="1100" u="sng" cap="none" strike="noStrike">
                          <a:solidFill>
                            <a:schemeClr val="hlink"/>
                          </a:solidFill>
                          <a:hlinkClick r:id="rId6"/>
                        </a:rPr>
                        <a:t>here</a:t>
                      </a:r>
                      <a:r>
                        <a:rPr lang="en-US" sz="1100" u="none" cap="none" strike="noStrike">
                          <a:solidFill>
                            <a:schemeClr val="hlink"/>
                          </a:solidFill>
                        </a:rPr>
                        <a:t>)</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0-8                        9-16                        17-27                     28-47                   48+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2384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S1Q5: </a:t>
                      </a:r>
                      <a:r>
                        <a:rPr b="0" i="0" lang="en-US" sz="1100" u="none" cap="none" strike="noStrike"/>
                        <a:t>What is the bicycle crash density in the area?  (bicycle crashes/sq. mile)</a:t>
                      </a:r>
                      <a:endParaRPr sz="1400" u="none" cap="none" strike="noStrike"/>
                    </a:p>
                    <a:p>
                      <a:pPr indent="0" lvl="0" marL="0" marR="0" rtl="0" algn="l">
                        <a:lnSpc>
                          <a:spcPct val="100000"/>
                        </a:lnSpc>
                        <a:spcBef>
                          <a:spcPts val="0"/>
                        </a:spcBef>
                        <a:spcAft>
                          <a:spcPts val="0"/>
                        </a:spcAft>
                        <a:buClr>
                          <a:schemeClr val="hlink"/>
                        </a:buClr>
                        <a:buSzPts val="1100"/>
                        <a:buFont typeface="Calibri"/>
                        <a:buNone/>
                      </a:pPr>
                      <a:r>
                        <a:rPr lang="en-US" sz="1100" u="none" cap="none" strike="noStrike">
                          <a:solidFill>
                            <a:schemeClr val="hlink"/>
                          </a:solidFill>
                        </a:rPr>
                        <a:t>(use NDOT map, available </a:t>
                      </a:r>
                      <a:r>
                        <a:rPr lang="en-US" sz="1100" u="sng" cap="none" strike="noStrike">
                          <a:solidFill>
                            <a:schemeClr val="hlink"/>
                          </a:solidFill>
                          <a:hlinkClick r:id="rId7"/>
                        </a:rPr>
                        <a:t>here</a:t>
                      </a:r>
                      <a:r>
                        <a:rPr lang="en-US" sz="1100" u="none" cap="none" strike="noStrike">
                          <a:solidFill>
                            <a:schemeClr val="hlink"/>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0-4                        5-7                        8-10                     11-15                    15+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S1Q6</a:t>
                      </a:r>
                      <a:r>
                        <a:rPr b="1" lang="en-US" sz="1100" u="none" cap="none" strike="noStrike">
                          <a:solidFill>
                            <a:srgbClr val="000000"/>
                          </a:solidFill>
                        </a:rPr>
                        <a:t>: </a:t>
                      </a:r>
                      <a:r>
                        <a:rPr lang="en-US" sz="1100" u="none" cap="none" strike="noStrike">
                          <a:solidFill>
                            <a:srgbClr val="000000"/>
                          </a:solidFill>
                        </a:rPr>
                        <a:t>What is the land use diversity index? (jobs to housing)</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8">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Diversity:    0-2         2-3        3-4      4-5       5-6          6-7        7-8        8-9         9-10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1.5          2        2.5         3            3.5         4          4.5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bl>
          </a:graphicData>
        </a:graphic>
      </p:graphicFrame>
      <p:sp>
        <p:nvSpPr>
          <p:cNvPr id="139" name="Google Shape;139;p3"/>
          <p:cNvSpPr txBox="1"/>
          <p:nvPr>
            <p:ph idx="11" type="ftr"/>
          </p:nvPr>
        </p:nvSpPr>
        <p:spPr>
          <a:xfrm>
            <a:off x="2343149" y="8647431"/>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
        <p:nvSpPr>
          <p:cNvPr id="140" name="Google Shape;140;p3"/>
          <p:cNvSpPr txBox="1"/>
          <p:nvPr/>
        </p:nvSpPr>
        <p:spPr>
          <a:xfrm>
            <a:off x="121803" y="842168"/>
            <a:ext cx="665480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Test Address: _________________________________________________________________</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7787bb92c3_0_4"/>
          <p:cNvSpPr txBox="1"/>
          <p:nvPr>
            <p:ph type="title"/>
          </p:nvPr>
        </p:nvSpPr>
        <p:spPr>
          <a:xfrm>
            <a:off x="342900" y="312335"/>
            <a:ext cx="6172200" cy="7335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500"/>
              <a:t>S1Q1 Instructions</a:t>
            </a:r>
            <a:endParaRPr sz="4500"/>
          </a:p>
        </p:txBody>
      </p:sp>
      <p:sp>
        <p:nvSpPr>
          <p:cNvPr id="147" name="Google Shape;147;g7787bb92c3_0_4"/>
          <p:cNvSpPr txBox="1"/>
          <p:nvPr>
            <p:ph idx="1" type="body"/>
          </p:nvPr>
        </p:nvSpPr>
        <p:spPr>
          <a:xfrm>
            <a:off x="342900" y="1045835"/>
            <a:ext cx="6013200" cy="7525570"/>
          </a:xfrm>
          <a:prstGeom prst="rect">
            <a:avLst/>
          </a:prstGeom>
          <a:noFill/>
          <a:ln>
            <a:noFill/>
          </a:ln>
        </p:spPr>
        <p:txBody>
          <a:bodyPr anchorCtr="0" anchor="t" bIns="45700" lIns="91425" spcFirstLastPara="1" rIns="91425" wrap="square" tIns="45700">
            <a:noAutofit/>
          </a:bodyPr>
          <a:lstStyle/>
          <a:p>
            <a:pPr indent="-374650" lvl="0" marL="457200" rtl="0" algn="l">
              <a:lnSpc>
                <a:spcPct val="100000"/>
              </a:lnSpc>
              <a:spcBef>
                <a:spcPts val="360"/>
              </a:spcBef>
              <a:spcAft>
                <a:spcPts val="0"/>
              </a:spcAft>
              <a:buSzPts val="2300"/>
              <a:buChar char="•"/>
            </a:pPr>
            <a:r>
              <a:rPr lang="en-US" sz="2300"/>
              <a:t>Click the link provided for the U. of Wisconsin Area Deprivation Index (ADI), available </a:t>
            </a:r>
            <a:r>
              <a:rPr lang="en-US" sz="2300" u="sng">
                <a:solidFill>
                  <a:schemeClr val="hlink"/>
                </a:solidFill>
                <a:hlinkClick r:id="rId3"/>
              </a:rPr>
              <a:t>here</a:t>
            </a:r>
            <a:r>
              <a:rPr lang="en-US" sz="2300"/>
              <a:t>. </a:t>
            </a:r>
            <a:endParaRPr sz="2300"/>
          </a:p>
          <a:p>
            <a:pPr indent="-374650" lvl="0" marL="457200" rtl="0" algn="l">
              <a:lnSpc>
                <a:spcPct val="100000"/>
              </a:lnSpc>
              <a:spcBef>
                <a:spcPts val="1000"/>
              </a:spcBef>
              <a:spcAft>
                <a:spcPts val="0"/>
              </a:spcAft>
              <a:buSzPts val="2300"/>
              <a:buChar char="•"/>
            </a:pPr>
            <a:r>
              <a:rPr lang="en-US" sz="2300"/>
              <a:t>Select Nevada</a:t>
            </a:r>
            <a:endParaRPr sz="2300"/>
          </a:p>
          <a:p>
            <a:pPr indent="-374650" lvl="0" marL="457200" rtl="0" algn="l">
              <a:lnSpc>
                <a:spcPct val="100000"/>
              </a:lnSpc>
              <a:spcBef>
                <a:spcPts val="1000"/>
              </a:spcBef>
              <a:spcAft>
                <a:spcPts val="0"/>
              </a:spcAft>
              <a:buSzPts val="2300"/>
              <a:buChar char="•"/>
            </a:pPr>
            <a:r>
              <a:rPr lang="en-US" sz="2300"/>
              <a:t>Ensure “State-Only Deciles” is selected (this is the default)</a:t>
            </a:r>
            <a:endParaRPr sz="2300"/>
          </a:p>
          <a:p>
            <a:pPr indent="-374650" lvl="0" marL="457200" rtl="0" algn="l">
              <a:lnSpc>
                <a:spcPct val="100000"/>
              </a:lnSpc>
              <a:spcBef>
                <a:spcPts val="1000"/>
              </a:spcBef>
              <a:spcAft>
                <a:spcPts val="0"/>
              </a:spcAft>
              <a:buSzPts val="2300"/>
              <a:buChar char="•"/>
            </a:pPr>
            <a:r>
              <a:rPr lang="en-US" sz="2300">
                <a:extLst>
                  <a:ext uri="http://customooxmlschemas.google.com/">
                    <go:slidesCustomData xmlns:go="http://customooxmlschemas.google.com/" textRoundtripDataId="0"/>
                  </a:ext>
                </a:extLst>
              </a:rPr>
              <a:t>Enter the test address located within the project area</a:t>
            </a:r>
            <a:r>
              <a:rPr lang="en-US" sz="2300"/>
              <a:t>.</a:t>
            </a:r>
            <a:endParaRPr sz="2300"/>
          </a:p>
          <a:p>
            <a:pPr indent="-374650" lvl="0" marL="457200" rtl="0" algn="l">
              <a:lnSpc>
                <a:spcPct val="100000"/>
              </a:lnSpc>
              <a:spcBef>
                <a:spcPts val="1000"/>
              </a:spcBef>
              <a:spcAft>
                <a:spcPts val="0"/>
              </a:spcAft>
              <a:buSzPts val="2300"/>
              <a:buChar char="•"/>
            </a:pPr>
            <a:r>
              <a:rPr lang="en-US" sz="2300"/>
              <a:t>Select “Search”</a:t>
            </a:r>
            <a:endParaRPr sz="2300"/>
          </a:p>
          <a:p>
            <a:pPr indent="-374650" lvl="0" marL="457200" rtl="0" algn="l">
              <a:lnSpc>
                <a:spcPct val="100000"/>
              </a:lnSpc>
              <a:spcBef>
                <a:spcPts val="1000"/>
              </a:spcBef>
              <a:spcAft>
                <a:spcPts val="0"/>
              </a:spcAft>
              <a:buSzPts val="2300"/>
              <a:buChar char="•"/>
            </a:pPr>
            <a:r>
              <a:rPr lang="en-US" sz="2300"/>
              <a:t>A State Decile Information box will appear. Use this for the ADI value AND the point value.</a:t>
            </a:r>
            <a:endParaRPr sz="2300"/>
          </a:p>
          <a:p>
            <a:pPr indent="-342900" lvl="1" marL="914400" rtl="0" algn="l">
              <a:lnSpc>
                <a:spcPct val="115000"/>
              </a:lnSpc>
              <a:spcBef>
                <a:spcPts val="1000"/>
              </a:spcBef>
              <a:spcAft>
                <a:spcPts val="0"/>
              </a:spcAft>
              <a:buSzPts val="1800"/>
              <a:buChar char="–"/>
            </a:pPr>
            <a:r>
              <a:rPr lang="en-US" sz="2300"/>
              <a:t>I</a:t>
            </a:r>
            <a:r>
              <a:rPr lang="en-US" sz="2100"/>
              <a:t>f the project area straddles multiple state decile values, average them.</a:t>
            </a:r>
            <a:endParaRPr/>
          </a:p>
          <a:p>
            <a:pPr indent="-342900" lvl="1" marL="914400" rtl="0" algn="l">
              <a:lnSpc>
                <a:spcPct val="115000"/>
              </a:lnSpc>
              <a:spcBef>
                <a:spcPts val="1000"/>
              </a:spcBef>
              <a:spcAft>
                <a:spcPts val="0"/>
              </a:spcAft>
              <a:buSzPts val="1800"/>
              <a:buChar char="–"/>
            </a:pPr>
            <a:r>
              <a:rPr lang="en-US" sz="2100"/>
              <a:t>Round decimal of .5 or more up to the next whole number and decimals under .5 down.</a:t>
            </a:r>
            <a:endParaRPr sz="2100"/>
          </a:p>
          <a:p>
            <a:pPr indent="-387350" lvl="0" marL="457200" rtl="0" algn="l">
              <a:lnSpc>
                <a:spcPct val="115000"/>
              </a:lnSpc>
              <a:spcBef>
                <a:spcPts val="1000"/>
              </a:spcBef>
              <a:spcAft>
                <a:spcPts val="0"/>
              </a:spcAft>
              <a:buSzPts val="2500"/>
              <a:buChar char="•"/>
            </a:pPr>
            <a:r>
              <a:rPr lang="en-US" sz="2300"/>
              <a:t>Place the value, between 1 and 10 in the “Pts” column</a:t>
            </a:r>
            <a:endParaRPr sz="500">
              <a:latin typeface="Arial"/>
              <a:ea typeface="Arial"/>
              <a:cs typeface="Arial"/>
              <a:sym typeface="Arial"/>
            </a:endParaRPr>
          </a:p>
          <a:p>
            <a:pPr indent="0" lvl="0" marL="457200" rtl="0" algn="l">
              <a:lnSpc>
                <a:spcPct val="100000"/>
              </a:lnSpc>
              <a:spcBef>
                <a:spcPts val="1000"/>
              </a:spcBef>
              <a:spcAft>
                <a:spcPts val="0"/>
              </a:spcAft>
              <a:buSzPts val="1800"/>
              <a:buNone/>
            </a:pPr>
            <a:r>
              <a:t/>
            </a:r>
            <a:endParaRPr/>
          </a:p>
        </p:txBody>
      </p:sp>
      <p:sp>
        <p:nvSpPr>
          <p:cNvPr id="148" name="Google Shape;148;g7787bb92c3_0_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77d70e11da_0_2"/>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154" name="Google Shape;154;g77d70e11da_0_2"/>
          <p:cNvGraphicFramePr/>
          <p:nvPr/>
        </p:nvGraphicFramePr>
        <p:xfrm>
          <a:off x="110067" y="643355"/>
          <a:ext cx="3000000" cy="3000000"/>
        </p:xfrm>
        <a:graphic>
          <a:graphicData uri="http://schemas.openxmlformats.org/drawingml/2006/table">
            <a:tbl>
              <a:tblPr bandRow="1" firstRow="1">
                <a:noFill/>
                <a:tableStyleId>{DA7E6E65-D877-46FA-B78E-C062FE7EB15C}</a:tableStyleId>
              </a:tblPr>
              <a:tblGrid>
                <a:gridCol w="5461000"/>
                <a:gridCol w="711200"/>
                <a:gridCol w="482600"/>
              </a:tblGrid>
              <a:tr h="2809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08880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S1Q1: How underserved is the geographic area where the project will be built?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use U. of Wisconsin Area Deprivation Index (state deciles), available </a:t>
                      </a:r>
                      <a:r>
                        <a:rPr lang="en-US" sz="1100" u="sng" cap="none" strike="noStrike">
                          <a:solidFill>
                            <a:srgbClr val="0000FF"/>
                          </a:solidFill>
                          <a:hlinkClick r:id="rId3">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https://www.neighborhoodatlas.medicine.wisc.edu/mapping</a:t>
                      </a:r>
                      <a:endParaRPr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ADI (least disadvantaged)                                                                 (most disadvantaged)</a:t>
                      </a:r>
                      <a:endParaRPr b="1" sz="1100" u="none" cap="none" strike="noStrike">
                        <a:solidFill>
                          <a:srgbClr val="FF0000"/>
                        </a:solidFill>
                      </a:endParaRPr>
                    </a:p>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0000"/>
                          </a:solidFill>
                        </a:rPr>
                        <a:t>ADI &amp; Points: 1           2          3         4          5            6             7           8             9            10</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Equity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/10</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S1Q2: </a:t>
                      </a:r>
                      <a:r>
                        <a:rPr b="0" i="0" lang="en-US" sz="1100" u="none" cap="none" strike="noStrike"/>
                        <a:t>What is the current rate of biking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4">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0-.3%                   .4-1.2%                 1.3-2.5%                 2.6-4.3%            4.9-7.1%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solidFill>
                      <a:srgbClr val="00FF00"/>
                    </a:solidFill>
                  </a:tcPr>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S1Q3: </a:t>
                      </a:r>
                      <a:r>
                        <a:rPr b="0" i="0" lang="en-US" sz="1100" u="none" cap="none" strike="noStrike"/>
                        <a:t>What is the current rate of walking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5">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0-1.7%               1.8-5%                 5.4-11%           13.6-22.5%          45.3-57.6%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250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S1Q4: </a:t>
                      </a:r>
                      <a:r>
                        <a:rPr b="0" i="0" lang="en-US" sz="1100" u="none" cap="none" strike="noStrike"/>
                        <a:t>What is the pedestrian crash density in the area?  (pedestrian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6">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0-8                        9-16                        17-27                     28-47                   48+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S1Q5: </a:t>
                      </a:r>
                      <a:r>
                        <a:rPr b="0" i="0" lang="en-US" sz="1100" u="none" cap="none" strike="noStrike"/>
                        <a:t>What is the bicycle crash density in the area?  (bicycle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7">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0-4                        5-7                        8-10                     11-15                    15+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S1Q6</a:t>
                      </a:r>
                      <a:r>
                        <a:rPr b="1" lang="en-US" sz="1100" u="none" cap="none" strike="noStrike">
                          <a:solidFill>
                            <a:srgbClr val="000000"/>
                          </a:solidFill>
                        </a:rPr>
                        <a:t>: </a:t>
                      </a:r>
                      <a:r>
                        <a:rPr lang="en-US" sz="1100" u="none" cap="none" strike="noStrike">
                          <a:solidFill>
                            <a:srgbClr val="000000"/>
                          </a:solidFill>
                        </a:rPr>
                        <a:t>What is the land use diversity index? (jobs to housing)</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8">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Diversity:    0-2         2-3        3-4      4-5       5-6          6-7        7-8        8-9         9-10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1.5          2        2.5         3            3.5         4          4.5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bl>
          </a:graphicData>
        </a:graphic>
      </p:graphicFrame>
      <p:sp>
        <p:nvSpPr>
          <p:cNvPr id="155" name="Google Shape;155;g77d70e11da_0_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77d70e11da_0_9"/>
          <p:cNvSpPr txBox="1"/>
          <p:nvPr>
            <p:ph type="title"/>
          </p:nvPr>
        </p:nvSpPr>
        <p:spPr>
          <a:xfrm>
            <a:off x="342900" y="89425"/>
            <a:ext cx="6172200" cy="885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500"/>
              <a:t>S1Q2 Instructions</a:t>
            </a:r>
            <a:endParaRPr sz="4500"/>
          </a:p>
        </p:txBody>
      </p:sp>
      <p:sp>
        <p:nvSpPr>
          <p:cNvPr id="162" name="Google Shape;162;g77d70e11da_0_9"/>
          <p:cNvSpPr txBox="1"/>
          <p:nvPr>
            <p:ph idx="1" type="body"/>
          </p:nvPr>
        </p:nvSpPr>
        <p:spPr>
          <a:xfrm>
            <a:off x="280998" y="975325"/>
            <a:ext cx="6172200" cy="7892100"/>
          </a:xfrm>
          <a:prstGeom prst="rect">
            <a:avLst/>
          </a:prstGeom>
          <a:noFill/>
          <a:ln>
            <a:noFill/>
          </a:ln>
        </p:spPr>
        <p:txBody>
          <a:bodyPr anchorCtr="0" anchor="t" bIns="45700" lIns="91425" spcFirstLastPara="1" rIns="91425" wrap="square" tIns="45700">
            <a:noAutofit/>
          </a:bodyPr>
          <a:lstStyle/>
          <a:p>
            <a:pPr indent="-387350" lvl="0" marL="457200" rtl="0" algn="l">
              <a:lnSpc>
                <a:spcPct val="100000"/>
              </a:lnSpc>
              <a:spcBef>
                <a:spcPts val="0"/>
              </a:spcBef>
              <a:spcAft>
                <a:spcPts val="0"/>
              </a:spcAft>
              <a:buSzPts val="2500"/>
              <a:buChar char="●"/>
            </a:pPr>
            <a:r>
              <a:rPr lang="en-US" sz="2000"/>
              <a:t>Click the link for U.S. Census Data on biking to work, available </a:t>
            </a:r>
            <a:r>
              <a:rPr lang="en-US" sz="2000" u="sng">
                <a:solidFill>
                  <a:schemeClr val="hlink"/>
                </a:solidFill>
                <a:hlinkClick r:id="rId3"/>
              </a:rPr>
              <a:t>here</a:t>
            </a:r>
            <a:r>
              <a:rPr lang="en-US" sz="2000"/>
              <a:t>. </a:t>
            </a:r>
            <a:endParaRPr sz="2000"/>
          </a:p>
          <a:p>
            <a:pPr indent="-387350" lvl="0" marL="457200" rtl="0" algn="l">
              <a:lnSpc>
                <a:spcPct val="100000"/>
              </a:lnSpc>
              <a:spcBef>
                <a:spcPts val="1000"/>
              </a:spcBef>
              <a:spcAft>
                <a:spcPts val="0"/>
              </a:spcAft>
              <a:buSzPts val="2500"/>
              <a:buChar char="●"/>
            </a:pPr>
            <a:r>
              <a:rPr lang="en-US" sz="2000"/>
              <a:t>Select “Table” and on the left-hand panel under “Selection Map” select “Commuting Characteristics by Sex” and then select “Table” once more</a:t>
            </a:r>
            <a:endParaRPr sz="2000"/>
          </a:p>
          <a:p>
            <a:pPr indent="-387350" lvl="1" marL="914400" rtl="0" algn="l">
              <a:lnSpc>
                <a:spcPct val="100000"/>
              </a:lnSpc>
              <a:spcBef>
                <a:spcPts val="1000"/>
              </a:spcBef>
              <a:spcAft>
                <a:spcPts val="0"/>
              </a:spcAft>
              <a:buSzPts val="2500"/>
              <a:buChar char="○"/>
            </a:pPr>
            <a:r>
              <a:rPr lang="en-US" sz="2000"/>
              <a:t>Use “Geographies” and select “Tract”, “Nevada”, “Clark County, NV”, “All Census Tracts in Clark County” and close.</a:t>
            </a:r>
            <a:endParaRPr sz="2000"/>
          </a:p>
          <a:p>
            <a:pPr indent="-387350" lvl="1" marL="914400" rtl="0" algn="l">
              <a:lnSpc>
                <a:spcPct val="100000"/>
              </a:lnSpc>
              <a:spcBef>
                <a:spcPts val="1000"/>
              </a:spcBef>
              <a:spcAft>
                <a:spcPts val="0"/>
              </a:spcAft>
              <a:buSzPts val="2500"/>
              <a:buChar char="○"/>
            </a:pPr>
            <a:r>
              <a:rPr lang="en-US" sz="2000"/>
              <a:t>Select “Map”</a:t>
            </a:r>
            <a:endParaRPr/>
          </a:p>
          <a:p>
            <a:pPr indent="-387350" lvl="1" marL="914400" rtl="0" algn="l">
              <a:lnSpc>
                <a:spcPct val="100000"/>
              </a:lnSpc>
              <a:spcBef>
                <a:spcPts val="1000"/>
              </a:spcBef>
              <a:spcAft>
                <a:spcPts val="0"/>
              </a:spcAft>
              <a:buSzPts val="2500"/>
              <a:buChar char="○"/>
            </a:pPr>
            <a:r>
              <a:rPr lang="en-US" sz="2000"/>
              <a:t>Be sure to use the most current time period for which data is available</a:t>
            </a:r>
            <a:endParaRPr sz="2000"/>
          </a:p>
          <a:p>
            <a:pPr indent="0" lvl="0" marL="0" marR="209550" rtl="0" algn="l">
              <a:lnSpc>
                <a:spcPct val="100000"/>
              </a:lnSpc>
              <a:spcBef>
                <a:spcPts val="0"/>
              </a:spcBef>
              <a:spcAft>
                <a:spcPts val="0"/>
              </a:spcAft>
              <a:buSzPts val="1800"/>
              <a:buNone/>
            </a:pPr>
            <a:r>
              <a:t/>
            </a:r>
            <a:endParaRPr sz="1100"/>
          </a:p>
          <a:p>
            <a:pPr indent="-387350" lvl="0" marL="457200" rtl="0" algn="l">
              <a:lnSpc>
                <a:spcPct val="100000"/>
              </a:lnSpc>
              <a:spcBef>
                <a:spcPts val="0"/>
              </a:spcBef>
              <a:spcAft>
                <a:spcPts val="0"/>
              </a:spcAft>
              <a:buSzPts val="2500"/>
              <a:buChar char="●"/>
            </a:pPr>
            <a:r>
              <a:rPr lang="en-US" sz="2000"/>
              <a:t>Zoom in to approximate the project area</a:t>
            </a:r>
            <a:endParaRPr sz="2000"/>
          </a:p>
          <a:p>
            <a:pPr indent="-387350" lvl="0" marL="457200" rtl="0" algn="l">
              <a:lnSpc>
                <a:spcPct val="100000"/>
              </a:lnSpc>
              <a:spcBef>
                <a:spcPts val="1000"/>
              </a:spcBef>
              <a:spcAft>
                <a:spcPts val="0"/>
              </a:spcAft>
              <a:buSzPts val="2500"/>
              <a:buChar char="●"/>
            </a:pPr>
            <a:r>
              <a:rPr lang="en-US" sz="2000"/>
              <a:t>Use the legend to identify the rate percentile of biking to work</a:t>
            </a:r>
            <a:endParaRPr sz="2000"/>
          </a:p>
          <a:p>
            <a:pPr indent="-387350" lvl="1" marL="914400" rtl="0" algn="l">
              <a:lnSpc>
                <a:spcPct val="100000"/>
              </a:lnSpc>
              <a:spcBef>
                <a:spcPts val="1000"/>
              </a:spcBef>
              <a:spcAft>
                <a:spcPts val="0"/>
              </a:spcAft>
              <a:buSzPts val="2500"/>
              <a:buChar char="○"/>
            </a:pPr>
            <a:r>
              <a:rPr lang="en-US" sz="2000"/>
              <a:t>Be sure to identify the rate percentile, not the Census Tract</a:t>
            </a:r>
            <a:endParaRPr/>
          </a:p>
          <a:p>
            <a:pPr indent="-387350" lvl="1" marL="914400" rtl="0" algn="l">
              <a:lnSpc>
                <a:spcPct val="100000"/>
              </a:lnSpc>
              <a:spcBef>
                <a:spcPts val="1000"/>
              </a:spcBef>
              <a:spcAft>
                <a:spcPts val="0"/>
              </a:spcAft>
              <a:buSzPts val="2500"/>
              <a:buChar char="○"/>
            </a:pPr>
            <a:r>
              <a:rPr lang="en-US" sz="2000"/>
              <a:t>If project area straddles multiple percentile groups (i.e. is in multiple Tracts), take the average</a:t>
            </a:r>
            <a:endParaRPr sz="2000"/>
          </a:p>
          <a:p>
            <a:pPr indent="-387350" lvl="0" marL="457200" rtl="0" algn="l">
              <a:lnSpc>
                <a:spcPct val="100000"/>
              </a:lnSpc>
              <a:spcBef>
                <a:spcPts val="1000"/>
              </a:spcBef>
              <a:spcAft>
                <a:spcPts val="0"/>
              </a:spcAft>
              <a:buSzPts val="2500"/>
              <a:buChar char="●"/>
            </a:pPr>
            <a:r>
              <a:rPr lang="en-US" sz="2000"/>
              <a:t>Assign and record the corresponding points</a:t>
            </a:r>
            <a:endParaRPr sz="2000"/>
          </a:p>
        </p:txBody>
      </p:sp>
      <p:sp>
        <p:nvSpPr>
          <p:cNvPr id="163" name="Google Shape;163;g77d70e11da_0_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77d70e11da_0_15"/>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169" name="Google Shape;169;g77d70e11da_0_15"/>
          <p:cNvGraphicFramePr/>
          <p:nvPr/>
        </p:nvGraphicFramePr>
        <p:xfrm>
          <a:off x="110067" y="643355"/>
          <a:ext cx="3000000" cy="3000000"/>
        </p:xfrm>
        <a:graphic>
          <a:graphicData uri="http://schemas.openxmlformats.org/drawingml/2006/table">
            <a:tbl>
              <a:tblPr bandRow="1" firstRow="1">
                <a:noFill/>
                <a:tableStyleId>{DA7E6E65-D877-46FA-B78E-C062FE7EB15C}</a:tableStyleId>
              </a:tblPr>
              <a:tblGrid>
                <a:gridCol w="5461000"/>
                <a:gridCol w="711200"/>
                <a:gridCol w="482600"/>
              </a:tblGrid>
              <a:tr h="2809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08880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S1Q1: How underserved is the geographic area where the project will be built?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use U. of Wisconsin Area Deprivation Index (state deciles), available </a:t>
                      </a:r>
                      <a:r>
                        <a:rPr lang="en-US" sz="1100" u="sng" cap="none" strike="noStrike">
                          <a:solidFill>
                            <a:srgbClr val="0000FF"/>
                          </a:solidFill>
                          <a:hlinkClick r:id="rId3">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https://www.neighborhoodatlas.medicine.wisc.edu/mapping</a:t>
                      </a:r>
                      <a:endParaRPr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ADI (least disadvantaged)                                                                 (most disadvantaged)</a:t>
                      </a:r>
                      <a:endParaRPr b="1" sz="1100" u="none" cap="none" strike="noStrike">
                        <a:solidFill>
                          <a:srgbClr val="FF0000"/>
                        </a:solidFill>
                      </a:endParaRPr>
                    </a:p>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0000"/>
                          </a:solidFill>
                        </a:rPr>
                        <a:t>ADI &amp; Points: 1           2          3         4          5            6             7           8             9            10</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Equity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/10</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S1Q2: </a:t>
                      </a:r>
                      <a:r>
                        <a:rPr b="0" i="0" lang="en-US" sz="1100" u="none" cap="none" strike="noStrike"/>
                        <a:t>What is the current rate of biking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4">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0-.3%                   .4-1.2%                 1.3-2.5%                 2.6-4.3%            4.9-7.1%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S1Q3: </a:t>
                      </a:r>
                      <a:r>
                        <a:rPr b="0" i="0" lang="en-US" sz="1100" u="none" cap="none" strike="noStrike"/>
                        <a:t>What is the current rate of walking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5">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0-1.7%               1.8-5%                 5.4-11%           13.6-22.5%          45.3-57.6%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solidFill>
                      <a:srgbClr val="00FF00"/>
                    </a:solidFill>
                  </a:tcPr>
                </a:tc>
              </a:tr>
              <a:tr h="1250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S1Q4: </a:t>
                      </a:r>
                      <a:r>
                        <a:rPr b="0" i="0" lang="en-US" sz="1100" u="none" cap="none" strike="noStrike"/>
                        <a:t>What is the pedestrian crash density in the area?  (pedestrian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6">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0-8                        9-16                        17-27                     28-47                   48+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S1Q5: </a:t>
                      </a:r>
                      <a:r>
                        <a:rPr b="0" i="0" lang="en-US" sz="1100" u="none" cap="none" strike="noStrike"/>
                        <a:t>What is the bicycle crash density in the area?  (bicycle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7">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0-4                        5-7                        8-10                     11-15                    15+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S1Q6: What is the land use diversity index? (jobs to housing)</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8">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Diversity:    0-2         2-3        3-4      4-5       5-6          6-7        7-8        8-9         9-10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1.5          2        2.5         3            3.5         4          4.5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bl>
          </a:graphicData>
        </a:graphic>
      </p:graphicFrame>
      <p:sp>
        <p:nvSpPr>
          <p:cNvPr id="170" name="Google Shape;170;g77d70e11da_0_1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782f7d498b_0_14"/>
          <p:cNvSpPr txBox="1"/>
          <p:nvPr>
            <p:ph type="title"/>
          </p:nvPr>
        </p:nvSpPr>
        <p:spPr>
          <a:xfrm>
            <a:off x="342900" y="133350"/>
            <a:ext cx="6172200" cy="885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500"/>
              <a:t>S1Q3 Instructions</a:t>
            </a:r>
            <a:endParaRPr sz="4500"/>
          </a:p>
        </p:txBody>
      </p:sp>
      <p:sp>
        <p:nvSpPr>
          <p:cNvPr id="177" name="Google Shape;177;g782f7d498b_0_14"/>
          <p:cNvSpPr txBox="1"/>
          <p:nvPr>
            <p:ph idx="1" type="body"/>
          </p:nvPr>
        </p:nvSpPr>
        <p:spPr>
          <a:xfrm>
            <a:off x="174900" y="1123800"/>
            <a:ext cx="6508200" cy="7494600"/>
          </a:xfrm>
          <a:prstGeom prst="rect">
            <a:avLst/>
          </a:prstGeom>
          <a:noFill/>
          <a:ln>
            <a:noFill/>
          </a:ln>
        </p:spPr>
        <p:txBody>
          <a:bodyPr anchorCtr="0" anchor="t" bIns="45700" lIns="91425" spcFirstLastPara="1" rIns="91425" wrap="square" tIns="45700">
            <a:noAutofit/>
          </a:bodyPr>
          <a:lstStyle/>
          <a:p>
            <a:pPr indent="-387350" lvl="0" marL="457200" rtl="0" algn="l">
              <a:lnSpc>
                <a:spcPct val="100000"/>
              </a:lnSpc>
              <a:spcBef>
                <a:spcPts val="0"/>
              </a:spcBef>
              <a:spcAft>
                <a:spcPts val="0"/>
              </a:spcAft>
              <a:buSzPts val="2500"/>
              <a:buChar char="●"/>
            </a:pPr>
            <a:r>
              <a:rPr lang="en-US" sz="2500"/>
              <a:t>Click the link for U.S. Census Data on biking to work, available </a:t>
            </a:r>
            <a:r>
              <a:rPr lang="en-US" sz="2500" u="sng">
                <a:solidFill>
                  <a:schemeClr val="hlink"/>
                </a:solidFill>
                <a:hlinkClick r:id="rId3"/>
              </a:rPr>
              <a:t>here</a:t>
            </a:r>
            <a:r>
              <a:rPr lang="en-US" sz="2500"/>
              <a:t>. </a:t>
            </a:r>
            <a:endParaRPr sz="2500"/>
          </a:p>
          <a:p>
            <a:pPr indent="-387350" lvl="0" marL="457200" rtl="0" algn="l">
              <a:lnSpc>
                <a:spcPct val="100000"/>
              </a:lnSpc>
              <a:spcBef>
                <a:spcPts val="1000"/>
              </a:spcBef>
              <a:spcAft>
                <a:spcPts val="0"/>
              </a:spcAft>
              <a:buSzPts val="2500"/>
              <a:buChar char="●"/>
            </a:pPr>
            <a:r>
              <a:rPr lang="en-US" sz="2500"/>
              <a:t>Select “Table” and on the left-hand panel under “Selection Map” select “Commuting Characteristics by Sex” and then select “Table” once more</a:t>
            </a:r>
            <a:endParaRPr sz="2500"/>
          </a:p>
          <a:p>
            <a:pPr indent="-387350" lvl="1" marL="914400" rtl="0" algn="l">
              <a:lnSpc>
                <a:spcPct val="100000"/>
              </a:lnSpc>
              <a:spcBef>
                <a:spcPts val="1000"/>
              </a:spcBef>
              <a:spcAft>
                <a:spcPts val="0"/>
              </a:spcAft>
              <a:buSzPts val="2500"/>
              <a:buChar char="○"/>
            </a:pPr>
            <a:r>
              <a:rPr lang="en-US" sz="2500"/>
              <a:t>Use “Geographies” and select “Tract”, “Nevada”, “Clark County, NV”, “All Census Tracts in Clark County” and close.</a:t>
            </a:r>
            <a:endParaRPr sz="2500"/>
          </a:p>
          <a:p>
            <a:pPr indent="-387350" lvl="1" marL="914400" rtl="0" algn="l">
              <a:lnSpc>
                <a:spcPct val="100000"/>
              </a:lnSpc>
              <a:spcBef>
                <a:spcPts val="1000"/>
              </a:spcBef>
              <a:spcAft>
                <a:spcPts val="0"/>
              </a:spcAft>
              <a:buSzPts val="2500"/>
              <a:buChar char="○"/>
            </a:pPr>
            <a:r>
              <a:rPr lang="en-US" sz="2500"/>
              <a:t>Select “Map”</a:t>
            </a:r>
            <a:endParaRPr sz="2500"/>
          </a:p>
          <a:p>
            <a:pPr indent="0" lvl="0" marL="0" marR="209550" rtl="0" algn="l">
              <a:lnSpc>
                <a:spcPct val="100000"/>
              </a:lnSpc>
              <a:spcBef>
                <a:spcPts val="0"/>
              </a:spcBef>
              <a:spcAft>
                <a:spcPts val="0"/>
              </a:spcAft>
              <a:buSzPts val="1800"/>
              <a:buNone/>
            </a:pPr>
            <a:r>
              <a:t/>
            </a:r>
            <a:endParaRPr sz="1400"/>
          </a:p>
          <a:p>
            <a:pPr indent="-387350" lvl="0" marL="457200" rtl="0" algn="l">
              <a:lnSpc>
                <a:spcPct val="100000"/>
              </a:lnSpc>
              <a:spcBef>
                <a:spcPts val="0"/>
              </a:spcBef>
              <a:spcAft>
                <a:spcPts val="0"/>
              </a:spcAft>
              <a:buSzPts val="2500"/>
              <a:buChar char="●"/>
            </a:pPr>
            <a:r>
              <a:rPr lang="en-US" sz="2500"/>
              <a:t>Zoom in to approximate the project area</a:t>
            </a:r>
            <a:endParaRPr sz="2500"/>
          </a:p>
          <a:p>
            <a:pPr indent="-387350" lvl="0" marL="457200" rtl="0" algn="l">
              <a:lnSpc>
                <a:spcPct val="100000"/>
              </a:lnSpc>
              <a:spcBef>
                <a:spcPts val="1000"/>
              </a:spcBef>
              <a:spcAft>
                <a:spcPts val="0"/>
              </a:spcAft>
              <a:buSzPts val="2500"/>
              <a:buChar char="●"/>
            </a:pPr>
            <a:r>
              <a:rPr lang="en-US" sz="2500"/>
              <a:t>Use the legend to identify the rate percentile of walking to work</a:t>
            </a:r>
            <a:endParaRPr sz="2500"/>
          </a:p>
          <a:p>
            <a:pPr indent="-387350" lvl="1" marL="914400" rtl="0" algn="l">
              <a:lnSpc>
                <a:spcPct val="100000"/>
              </a:lnSpc>
              <a:spcBef>
                <a:spcPts val="1000"/>
              </a:spcBef>
              <a:spcAft>
                <a:spcPts val="0"/>
              </a:spcAft>
              <a:buSzPts val="2500"/>
              <a:buChar char="○"/>
            </a:pPr>
            <a:r>
              <a:rPr lang="en-US" sz="2500"/>
              <a:t>If project area straddles multiple percentile groups, take the average</a:t>
            </a:r>
            <a:endParaRPr sz="2500"/>
          </a:p>
          <a:p>
            <a:pPr indent="-387350" lvl="0" marL="457200" rtl="0" algn="l">
              <a:lnSpc>
                <a:spcPct val="100000"/>
              </a:lnSpc>
              <a:spcBef>
                <a:spcPts val="1000"/>
              </a:spcBef>
              <a:spcAft>
                <a:spcPts val="0"/>
              </a:spcAft>
              <a:buSzPts val="2500"/>
              <a:buChar char="●"/>
            </a:pPr>
            <a:r>
              <a:rPr lang="en-US" sz="2500"/>
              <a:t>Assign and record the corresponding points</a:t>
            </a:r>
            <a:endParaRPr sz="2700"/>
          </a:p>
        </p:txBody>
      </p:sp>
      <p:sp>
        <p:nvSpPr>
          <p:cNvPr id="178" name="Google Shape;178;g782f7d498b_0_1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782f7d498b_0_27"/>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184" name="Google Shape;184;g782f7d498b_0_27"/>
          <p:cNvGraphicFramePr/>
          <p:nvPr/>
        </p:nvGraphicFramePr>
        <p:xfrm>
          <a:off x="110067" y="643355"/>
          <a:ext cx="3000000" cy="3000000"/>
        </p:xfrm>
        <a:graphic>
          <a:graphicData uri="http://schemas.openxmlformats.org/drawingml/2006/table">
            <a:tbl>
              <a:tblPr bandRow="1" firstRow="1">
                <a:noFill/>
                <a:tableStyleId>{DA7E6E65-D877-46FA-B78E-C062FE7EB15C}</a:tableStyleId>
              </a:tblPr>
              <a:tblGrid>
                <a:gridCol w="5461000"/>
                <a:gridCol w="711200"/>
                <a:gridCol w="482600"/>
              </a:tblGrid>
              <a:tr h="2809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08880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S1Q1: How underserved is the geographic area where the project will be built?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use U. of Wisconsin Area Deprivation Index (state deciles), available </a:t>
                      </a:r>
                      <a:r>
                        <a:rPr lang="en-US" sz="1100" u="sng" cap="none" strike="noStrike">
                          <a:solidFill>
                            <a:srgbClr val="0000FF"/>
                          </a:solidFill>
                          <a:hlinkClick r:id="rId3">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https://www.neighborhoodatlas.medicine.wisc.edu/mapping</a:t>
                      </a:r>
                      <a:endParaRPr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ADI (least disadvantaged)                                                                 (most disadvantaged)</a:t>
                      </a:r>
                      <a:endParaRPr b="1" sz="1100" u="none" cap="none" strike="noStrike">
                        <a:solidFill>
                          <a:srgbClr val="FF0000"/>
                        </a:solidFill>
                      </a:endParaRPr>
                    </a:p>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0000"/>
                          </a:solidFill>
                        </a:rPr>
                        <a:t>ADI &amp; Points: 1           2          3         4          5            6             7           8             9            10</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Equity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/10</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S1Q2: </a:t>
                      </a:r>
                      <a:r>
                        <a:rPr b="0" i="0" lang="en-US" sz="1100" u="none" cap="none" strike="noStrike"/>
                        <a:t>What is the current rate of biking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4">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0-.3%                   .4-1.2%                 1.3-2.5%                 2.6-4.3%            4.9-7.1%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S1Q3: </a:t>
                      </a:r>
                      <a:r>
                        <a:rPr b="0" i="0" lang="en-US" sz="1100" u="none" cap="none" strike="noStrike"/>
                        <a:t>What is the current rate of walking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5">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0-1.7%               1.8-5%                 5.4-11%           13.6-22.5%          45.3-57.6%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250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S1Q4: </a:t>
                      </a:r>
                      <a:r>
                        <a:rPr b="0" i="0" lang="en-US" sz="1100" u="none" cap="none" strike="noStrike"/>
                        <a:t>What is the pedestrian crash density in the area?  (pedestrian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6">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0-8                        9-16                        17-27                     28-47                   48+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solidFill>
                      <a:srgbClr val="00FF00"/>
                    </a:solidFill>
                  </a:tcPr>
                </a:tc>
              </a:tr>
              <a:tr h="13527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S1Q5: </a:t>
                      </a:r>
                      <a:r>
                        <a:rPr b="0" i="0" lang="en-US" sz="1100" u="none" cap="none" strike="noStrike"/>
                        <a:t>What is the bicycle crash density in the area?  (bicycle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7">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0-4                        5-7                        8-10                     11-15                    15+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S1Q6: What is the land use diversity index? (jobs to housing)</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8">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Diversity:    0-2         2-3        3-4      4-5       5-6          6-7        7-8        8-9         9-10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1.5          2        2.5         3            3.5         4          4.5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bl>
          </a:graphicData>
        </a:graphic>
      </p:graphicFrame>
      <p:sp>
        <p:nvSpPr>
          <p:cNvPr id="185" name="Google Shape;185;g782f7d498b_0_2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782f7d498b_0_34"/>
          <p:cNvSpPr txBox="1"/>
          <p:nvPr>
            <p:ph type="title"/>
          </p:nvPr>
        </p:nvSpPr>
        <p:spPr>
          <a:xfrm>
            <a:off x="342900" y="959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S1Q4 Instructions</a:t>
            </a:r>
            <a:endParaRPr sz="4000"/>
          </a:p>
        </p:txBody>
      </p:sp>
      <p:sp>
        <p:nvSpPr>
          <p:cNvPr id="192" name="Google Shape;192;g782f7d498b_0_34"/>
          <p:cNvSpPr txBox="1"/>
          <p:nvPr>
            <p:ph idx="1" type="body"/>
          </p:nvPr>
        </p:nvSpPr>
        <p:spPr>
          <a:xfrm>
            <a:off x="197069" y="819850"/>
            <a:ext cx="6318031" cy="82578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SzPts val="1600"/>
              <a:buChar char="•"/>
            </a:pPr>
            <a:r>
              <a:rPr lang="en-US" sz="1350"/>
              <a:t>Click on the link for the Nevada Department of Transportation Crash Data 2015-2017 map, available</a:t>
            </a:r>
            <a:r>
              <a:rPr lang="en-US" sz="1350">
                <a:latin typeface="Arial"/>
                <a:ea typeface="Arial"/>
                <a:cs typeface="Arial"/>
                <a:sym typeface="Arial"/>
              </a:rPr>
              <a:t> </a:t>
            </a:r>
            <a:r>
              <a:rPr lang="en-US" sz="1350" u="sng">
                <a:solidFill>
                  <a:schemeClr val="hlink"/>
                </a:solidFill>
                <a:hlinkClick r:id="rId3"/>
              </a:rPr>
              <a:t>here</a:t>
            </a:r>
            <a:r>
              <a:rPr lang="en-US" sz="1350">
                <a:latin typeface="Arial"/>
                <a:ea typeface="Arial"/>
                <a:cs typeface="Arial"/>
                <a:sym typeface="Arial"/>
              </a:rPr>
              <a:t>.</a:t>
            </a:r>
            <a:endParaRPr sz="1350">
              <a:latin typeface="Arial"/>
              <a:ea typeface="Arial"/>
              <a:cs typeface="Arial"/>
              <a:sym typeface="Arial"/>
            </a:endParaRPr>
          </a:p>
          <a:p>
            <a:pPr indent="-330200" lvl="0" marL="457200" rtl="0" algn="l">
              <a:lnSpc>
                <a:spcPct val="100000"/>
              </a:lnSpc>
              <a:spcBef>
                <a:spcPts val="0"/>
              </a:spcBef>
              <a:spcAft>
                <a:spcPts val="0"/>
              </a:spcAft>
              <a:buSzPts val="1600"/>
              <a:buChar char="•"/>
            </a:pPr>
            <a:r>
              <a:rPr lang="en-US" sz="1350"/>
              <a:t>Enter an address within the project area and click “Search.”</a:t>
            </a:r>
            <a:endParaRPr sz="1350"/>
          </a:p>
          <a:p>
            <a:pPr indent="-330200" lvl="0" marL="457200" rtl="0" algn="l">
              <a:lnSpc>
                <a:spcPct val="100000"/>
              </a:lnSpc>
              <a:spcBef>
                <a:spcPts val="0"/>
              </a:spcBef>
              <a:spcAft>
                <a:spcPts val="0"/>
              </a:spcAft>
              <a:buSzPts val="1600"/>
              <a:buChar char="•"/>
            </a:pPr>
            <a:r>
              <a:rPr lang="en-US" sz="1350"/>
              <a:t>Select the “Screening” tool icon.  </a:t>
            </a:r>
            <a:endParaRPr sz="1350"/>
          </a:p>
          <a:p>
            <a:pPr indent="0" lvl="0" marL="0" rtl="0" algn="l">
              <a:lnSpc>
                <a:spcPct val="100000"/>
              </a:lnSpc>
              <a:spcBef>
                <a:spcPts val="0"/>
              </a:spcBef>
              <a:spcAft>
                <a:spcPts val="0"/>
              </a:spcAft>
              <a:buSzPts val="1800"/>
              <a:buNone/>
            </a:pPr>
            <a:r>
              <a:t/>
            </a:r>
            <a:endParaRPr sz="1400"/>
          </a:p>
          <a:p>
            <a:pPr indent="0" lvl="0" marL="0" rtl="0" algn="l">
              <a:lnSpc>
                <a:spcPct val="100000"/>
              </a:lnSpc>
              <a:spcBef>
                <a:spcPts val="0"/>
              </a:spcBef>
              <a:spcAft>
                <a:spcPts val="0"/>
              </a:spcAft>
              <a:buSzPts val="1800"/>
              <a:buNone/>
            </a:pPr>
            <a:r>
              <a:t/>
            </a:r>
            <a:endParaRPr sz="1900"/>
          </a:p>
          <a:p>
            <a:pPr indent="0" lvl="0" marL="0" rtl="0" algn="l">
              <a:lnSpc>
                <a:spcPct val="100000"/>
              </a:lnSpc>
              <a:spcBef>
                <a:spcPts val="0"/>
              </a:spcBef>
              <a:spcAft>
                <a:spcPts val="0"/>
              </a:spcAft>
              <a:buSzPts val="1800"/>
              <a:buNone/>
            </a:pPr>
            <a:r>
              <a:t/>
            </a:r>
            <a:endParaRPr sz="1900"/>
          </a:p>
          <a:p>
            <a:pPr indent="0" lvl="0" marL="0" rtl="0" algn="l">
              <a:lnSpc>
                <a:spcPct val="100000"/>
              </a:lnSpc>
              <a:spcBef>
                <a:spcPts val="0"/>
              </a:spcBef>
              <a:spcAft>
                <a:spcPts val="0"/>
              </a:spcAft>
              <a:buSzPts val="1800"/>
              <a:buNone/>
            </a:pPr>
            <a:r>
              <a:t/>
            </a:r>
            <a:endParaRPr sz="1900"/>
          </a:p>
          <a:p>
            <a:pPr indent="0" lvl="0" marL="228600" rtl="0" algn="l">
              <a:lnSpc>
                <a:spcPct val="115000"/>
              </a:lnSpc>
              <a:spcBef>
                <a:spcPts val="0"/>
              </a:spcBef>
              <a:spcAft>
                <a:spcPts val="0"/>
              </a:spcAft>
              <a:buSzPts val="1800"/>
              <a:buNone/>
            </a:pPr>
            <a:r>
              <a:t/>
            </a:r>
            <a:endParaRPr b="1" sz="800">
              <a:solidFill>
                <a:srgbClr val="000000"/>
              </a:solidFill>
            </a:endParaRPr>
          </a:p>
          <a:p>
            <a:pPr indent="0" lvl="0" marL="0" rtl="0" algn="l">
              <a:lnSpc>
                <a:spcPct val="115000"/>
              </a:lnSpc>
              <a:spcBef>
                <a:spcPts val="0"/>
              </a:spcBef>
              <a:spcAft>
                <a:spcPts val="0"/>
              </a:spcAft>
              <a:buSzPts val="1800"/>
              <a:buNone/>
            </a:pPr>
            <a:r>
              <a:t/>
            </a:r>
            <a:endParaRPr b="1" sz="800">
              <a:solidFill>
                <a:srgbClr val="000000"/>
              </a:solidFill>
            </a:endParaRPr>
          </a:p>
          <a:p>
            <a:pPr indent="-285750" lvl="0" marL="412750" rtl="0" algn="l">
              <a:lnSpc>
                <a:spcPct val="115000"/>
              </a:lnSpc>
              <a:spcBef>
                <a:spcPts val="0"/>
              </a:spcBef>
              <a:spcAft>
                <a:spcPts val="0"/>
              </a:spcAft>
              <a:buSzPts val="1600"/>
              <a:buChar char="•"/>
            </a:pPr>
            <a:r>
              <a:rPr lang="en-US" sz="1350"/>
              <a:t>Under “Search Address,” re-enter the address in “Search for a Location.”  </a:t>
            </a:r>
            <a:endParaRPr sz="1350"/>
          </a:p>
          <a:p>
            <a:pPr indent="-330200" lvl="0" marL="457200" rtl="0" algn="l">
              <a:lnSpc>
                <a:spcPct val="115000"/>
              </a:lnSpc>
              <a:spcBef>
                <a:spcPts val="0"/>
              </a:spcBef>
              <a:spcAft>
                <a:spcPts val="0"/>
              </a:spcAft>
              <a:buSzPts val="1600"/>
              <a:buChar char="•"/>
            </a:pPr>
            <a:r>
              <a:rPr lang="en-US" sz="1350"/>
              <a:t>Under “Show Results Within,” enter 0.25 miles for Buffer distance; a red circle with a .25 mile radius will appear around the address.  </a:t>
            </a:r>
            <a:endParaRPr/>
          </a:p>
          <a:p>
            <a:pPr indent="0" lvl="0" marL="127000" rtl="0" algn="l">
              <a:lnSpc>
                <a:spcPct val="115000"/>
              </a:lnSpc>
              <a:spcBef>
                <a:spcPts val="0"/>
              </a:spcBef>
              <a:spcAft>
                <a:spcPts val="0"/>
              </a:spcAft>
              <a:buSzPts val="1600"/>
              <a:buNone/>
            </a:pPr>
            <a:r>
              <a:t/>
            </a:r>
            <a:endParaRPr sz="1600"/>
          </a:p>
          <a:p>
            <a:pPr indent="-228600" lvl="0" marL="457200" rtl="0" algn="l">
              <a:lnSpc>
                <a:spcPct val="115000"/>
              </a:lnSpc>
              <a:spcBef>
                <a:spcPts val="0"/>
              </a:spcBef>
              <a:spcAft>
                <a:spcPts val="0"/>
              </a:spcAft>
              <a:buSzPts val="1600"/>
              <a:buNone/>
            </a:pPr>
            <a:r>
              <a:t/>
            </a:r>
            <a:endParaRPr sz="1600"/>
          </a:p>
          <a:p>
            <a:pPr indent="0" lvl="0" marL="127000" rtl="0" algn="l">
              <a:lnSpc>
                <a:spcPct val="115000"/>
              </a:lnSpc>
              <a:spcBef>
                <a:spcPts val="0"/>
              </a:spcBef>
              <a:spcAft>
                <a:spcPts val="0"/>
              </a:spcAft>
              <a:buSzPts val="1600"/>
              <a:buNone/>
            </a:pPr>
            <a:r>
              <a:t/>
            </a:r>
            <a:endParaRPr sz="1600"/>
          </a:p>
          <a:p>
            <a:pPr indent="-228600" lvl="0" marL="457200" rtl="0" algn="l">
              <a:lnSpc>
                <a:spcPct val="115000"/>
              </a:lnSpc>
              <a:spcBef>
                <a:spcPts val="0"/>
              </a:spcBef>
              <a:spcAft>
                <a:spcPts val="0"/>
              </a:spcAft>
              <a:buSzPts val="1600"/>
              <a:buNone/>
            </a:pPr>
            <a:r>
              <a:t/>
            </a:r>
            <a:endParaRPr sz="1600"/>
          </a:p>
          <a:p>
            <a:pPr indent="-330200" lvl="0" marL="457200" rtl="0" algn="l">
              <a:lnSpc>
                <a:spcPct val="115000"/>
              </a:lnSpc>
              <a:spcBef>
                <a:spcPts val="0"/>
              </a:spcBef>
              <a:spcAft>
                <a:spcPts val="0"/>
              </a:spcAft>
              <a:buSzPts val="1600"/>
              <a:buChar char="•"/>
            </a:pPr>
            <a:r>
              <a:rPr lang="en-US" sz="1350"/>
              <a:t>Click “Draw an Area” and select draw mode “POLYLINE.”</a:t>
            </a:r>
            <a:endParaRPr sz="135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330200" lvl="0" marL="457200" rtl="0" algn="l">
              <a:lnSpc>
                <a:spcPct val="115000"/>
              </a:lnSpc>
              <a:spcBef>
                <a:spcPts val="0"/>
              </a:spcBef>
              <a:spcAft>
                <a:spcPts val="0"/>
              </a:spcAft>
              <a:buSzPts val="1600"/>
              <a:buChar char="•"/>
            </a:pPr>
            <a:r>
              <a:rPr lang="en-US" sz="1350"/>
              <a:t>Use the POLYLINE</a:t>
            </a:r>
            <a:r>
              <a:rPr b="1" lang="en-US" sz="1350"/>
              <a:t> </a:t>
            </a:r>
            <a:r>
              <a:rPr lang="en-US" sz="1350"/>
              <a:t>tool to draw a line along the project area.  Right click an area on the map to begin drawing. Right click at the end of each segment to continue drawing. Double-click to complete drawing. </a:t>
            </a:r>
            <a:endParaRPr sz="1350"/>
          </a:p>
        </p:txBody>
      </p:sp>
      <p:pic>
        <p:nvPicPr>
          <p:cNvPr id="193" name="Google Shape;193;g782f7d498b_0_34"/>
          <p:cNvPicPr preferRelativeResize="0"/>
          <p:nvPr/>
        </p:nvPicPr>
        <p:blipFill rotWithShape="1">
          <a:blip r:embed="rId4">
            <a:alphaModFix/>
          </a:blip>
          <a:srcRect b="0" l="0" r="0" t="0"/>
          <a:stretch/>
        </p:blipFill>
        <p:spPr>
          <a:xfrm>
            <a:off x="699620" y="1717581"/>
            <a:ext cx="4788750" cy="1329075"/>
          </a:xfrm>
          <a:prstGeom prst="rect">
            <a:avLst/>
          </a:prstGeom>
          <a:noFill/>
          <a:ln>
            <a:noFill/>
          </a:ln>
        </p:spPr>
      </p:pic>
      <p:sp>
        <p:nvSpPr>
          <p:cNvPr id="194" name="Google Shape;194;g782f7d498b_0_34"/>
          <p:cNvSpPr/>
          <p:nvPr/>
        </p:nvSpPr>
        <p:spPr>
          <a:xfrm rot="5400000">
            <a:off x="1436540" y="2246368"/>
            <a:ext cx="320400" cy="271500"/>
          </a:xfrm>
          <a:prstGeom prst="lef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 name="Google Shape;195;g782f7d498b_0_34"/>
          <p:cNvPicPr preferRelativeResize="0"/>
          <p:nvPr/>
        </p:nvPicPr>
        <p:blipFill rotWithShape="1">
          <a:blip r:embed="rId5">
            <a:alphaModFix/>
          </a:blip>
          <a:srcRect b="3671" l="56779" r="1712" t="0"/>
          <a:stretch/>
        </p:blipFill>
        <p:spPr>
          <a:xfrm>
            <a:off x="2488364" y="5172601"/>
            <a:ext cx="1527778" cy="1237205"/>
          </a:xfrm>
          <a:prstGeom prst="rect">
            <a:avLst/>
          </a:prstGeom>
          <a:noFill/>
          <a:ln>
            <a:noFill/>
          </a:ln>
        </p:spPr>
      </p:pic>
      <p:pic>
        <p:nvPicPr>
          <p:cNvPr id="196" name="Google Shape;196;g782f7d498b_0_34"/>
          <p:cNvPicPr preferRelativeResize="0"/>
          <p:nvPr/>
        </p:nvPicPr>
        <p:blipFill rotWithShape="1">
          <a:blip r:embed="rId6">
            <a:alphaModFix/>
          </a:blip>
          <a:srcRect b="0" l="0" r="0" t="0"/>
          <a:stretch/>
        </p:blipFill>
        <p:spPr>
          <a:xfrm>
            <a:off x="1176715" y="7278923"/>
            <a:ext cx="4151075" cy="1439628"/>
          </a:xfrm>
          <a:prstGeom prst="rect">
            <a:avLst/>
          </a:prstGeom>
          <a:noFill/>
          <a:ln>
            <a:noFill/>
          </a:ln>
        </p:spPr>
      </p:pic>
      <p:sp>
        <p:nvSpPr>
          <p:cNvPr id="197" name="Google Shape;197;g782f7d498b_0_3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pic>
        <p:nvPicPr>
          <p:cNvPr id="198" name="Google Shape;198;g782f7d498b_0_34"/>
          <p:cNvPicPr preferRelativeResize="0"/>
          <p:nvPr/>
        </p:nvPicPr>
        <p:blipFill rotWithShape="1">
          <a:blip r:embed="rId5">
            <a:alphaModFix/>
          </a:blip>
          <a:srcRect b="0" l="504" r="53343" t="0"/>
          <a:stretch/>
        </p:blipFill>
        <p:spPr>
          <a:xfrm>
            <a:off x="4625621" y="3564398"/>
            <a:ext cx="1757832" cy="1329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783ce67ac1_0_5"/>
          <p:cNvSpPr txBox="1"/>
          <p:nvPr>
            <p:ph type="title"/>
          </p:nvPr>
        </p:nvSpPr>
        <p:spPr>
          <a:xfrm>
            <a:off x="438250" y="228600"/>
            <a:ext cx="6299400" cy="885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3500"/>
              <a:t>S1Q4 Instructions - Continued</a:t>
            </a:r>
            <a:endParaRPr sz="3500"/>
          </a:p>
        </p:txBody>
      </p:sp>
      <p:sp>
        <p:nvSpPr>
          <p:cNvPr id="205" name="Google Shape;205;g783ce67ac1_0_5"/>
          <p:cNvSpPr txBox="1"/>
          <p:nvPr>
            <p:ph idx="1" type="body"/>
          </p:nvPr>
        </p:nvSpPr>
        <p:spPr>
          <a:xfrm>
            <a:off x="438250" y="2796334"/>
            <a:ext cx="6112500" cy="428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sz="1600"/>
          </a:p>
          <a:p>
            <a:pPr indent="-342900" lvl="0" marL="457200" rtl="0" algn="l">
              <a:lnSpc>
                <a:spcPct val="100000"/>
              </a:lnSpc>
              <a:spcBef>
                <a:spcPts val="360"/>
              </a:spcBef>
              <a:spcAft>
                <a:spcPts val="0"/>
              </a:spcAft>
              <a:buSzPts val="1800"/>
              <a:buChar char="●"/>
            </a:pPr>
            <a:r>
              <a:rPr lang="en-US" sz="1800"/>
              <a:t>Click “Report”</a:t>
            </a:r>
            <a:r>
              <a:rPr b="1" lang="en-US" sz="1800"/>
              <a:t> </a:t>
            </a:r>
            <a:r>
              <a:rPr lang="en-US" sz="1800"/>
              <a:t>inside the “Screening” toolbox.</a:t>
            </a:r>
            <a:endParaRPr sz="1600"/>
          </a:p>
          <a:p>
            <a:pPr indent="-355600" lvl="0" marL="457200" rtl="0" algn="l">
              <a:lnSpc>
                <a:spcPct val="100000"/>
              </a:lnSpc>
              <a:spcBef>
                <a:spcPts val="1000"/>
              </a:spcBef>
              <a:spcAft>
                <a:spcPts val="0"/>
              </a:spcAft>
              <a:buSzPts val="2000"/>
              <a:buChar char="●"/>
            </a:pPr>
            <a:r>
              <a:rPr lang="en-US" sz="1800"/>
              <a:t>Under “Choose units of analysis,” select “Square Miles” and “Miles.”</a:t>
            </a:r>
            <a:endParaRPr sz="1600"/>
          </a:p>
          <a:p>
            <a:pPr indent="-342900" lvl="0" marL="457200" rtl="0" algn="l">
              <a:lnSpc>
                <a:spcPct val="115000"/>
              </a:lnSpc>
              <a:spcBef>
                <a:spcPts val="1000"/>
              </a:spcBef>
              <a:spcAft>
                <a:spcPts val="0"/>
              </a:spcAft>
              <a:buSzPts val="1800"/>
              <a:buChar char="●"/>
            </a:pPr>
            <a:r>
              <a:rPr lang="en-US" sz="1800"/>
              <a:t>In the “Filter” section, select “Pedestrian.”</a:t>
            </a:r>
            <a:endParaRPr sz="1800"/>
          </a:p>
          <a:p>
            <a:pPr indent="-330200" lvl="1" marL="914400" rtl="0" algn="l">
              <a:lnSpc>
                <a:spcPct val="115000"/>
              </a:lnSpc>
              <a:spcBef>
                <a:spcPts val="1000"/>
              </a:spcBef>
              <a:spcAft>
                <a:spcPts val="0"/>
              </a:spcAft>
              <a:buSzPts val="1600"/>
              <a:buChar char="○"/>
            </a:pPr>
            <a:r>
              <a:rPr lang="en-US" sz="1600"/>
              <a:t>In the “Crash Count” section beneath the title, note the “Number of Crashes in Current Extent.”</a:t>
            </a:r>
            <a:endParaRPr sz="1600"/>
          </a:p>
          <a:p>
            <a:pPr indent="-228600" lvl="1" marL="914400" rtl="0" algn="l">
              <a:lnSpc>
                <a:spcPct val="115000"/>
              </a:lnSpc>
              <a:spcBef>
                <a:spcPts val="1000"/>
              </a:spcBef>
              <a:spcAft>
                <a:spcPts val="0"/>
              </a:spcAft>
              <a:buSzPts val="1600"/>
              <a:buFont typeface="Calibri"/>
              <a:buNone/>
            </a:pPr>
            <a:r>
              <a:t/>
            </a:r>
            <a:endParaRPr sz="1600"/>
          </a:p>
          <a:p>
            <a:pPr indent="-228600" lvl="1" marL="914400" rtl="0" algn="l">
              <a:lnSpc>
                <a:spcPct val="115000"/>
              </a:lnSpc>
              <a:spcBef>
                <a:spcPts val="1000"/>
              </a:spcBef>
              <a:spcAft>
                <a:spcPts val="0"/>
              </a:spcAft>
              <a:buSzPts val="1600"/>
              <a:buFont typeface="Calibri"/>
              <a:buNone/>
            </a:pPr>
            <a:r>
              <a:t/>
            </a:r>
            <a:endParaRPr sz="1600"/>
          </a:p>
          <a:p>
            <a:pPr indent="-330200" lvl="1" marL="914400" rtl="0" algn="l">
              <a:lnSpc>
                <a:spcPct val="115000"/>
              </a:lnSpc>
              <a:spcBef>
                <a:spcPts val="1000"/>
              </a:spcBef>
              <a:spcAft>
                <a:spcPts val="0"/>
              </a:spcAft>
              <a:buSzPts val="1600"/>
              <a:buFont typeface="Calibri"/>
              <a:buChar char="○"/>
            </a:pPr>
            <a:r>
              <a:rPr lang="en-US" sz="1600"/>
              <a:t>Divide this number of crashes by the Area in mi² for the buffer zone.</a:t>
            </a:r>
            <a:endParaRPr sz="1600"/>
          </a:p>
          <a:p>
            <a:pPr indent="-330200" lvl="1" marL="914400" rtl="0" algn="l">
              <a:lnSpc>
                <a:spcPct val="115000"/>
              </a:lnSpc>
              <a:spcBef>
                <a:spcPts val="1000"/>
              </a:spcBef>
              <a:spcAft>
                <a:spcPts val="0"/>
              </a:spcAft>
              <a:buSzPts val="1600"/>
              <a:buFont typeface="Calibri"/>
              <a:buChar char="○"/>
            </a:pPr>
            <a:r>
              <a:rPr lang="en-US" sz="1600"/>
              <a:t>Round to the nearest whole number </a:t>
            </a:r>
            <a:endParaRPr sz="1800"/>
          </a:p>
          <a:p>
            <a:pPr indent="-342900" lvl="0" marL="457200" rtl="0" algn="l">
              <a:lnSpc>
                <a:spcPct val="115000"/>
              </a:lnSpc>
              <a:spcBef>
                <a:spcPts val="1000"/>
              </a:spcBef>
              <a:spcAft>
                <a:spcPts val="0"/>
              </a:spcAft>
              <a:buSzPts val="1800"/>
              <a:buFont typeface="Calibri"/>
              <a:buChar char="●"/>
            </a:pPr>
            <a:r>
              <a:rPr lang="en-US" sz="1800"/>
              <a:t>Record the calculated points</a:t>
            </a:r>
            <a:endParaRPr sz="1800"/>
          </a:p>
          <a:p>
            <a:pPr indent="0" lvl="0" marL="0" rtl="0" algn="l">
              <a:lnSpc>
                <a:spcPct val="100000"/>
              </a:lnSpc>
              <a:spcBef>
                <a:spcPts val="100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900"/>
          </a:p>
        </p:txBody>
      </p:sp>
      <p:pic>
        <p:nvPicPr>
          <p:cNvPr id="206" name="Google Shape;206;g783ce67ac1_0_5"/>
          <p:cNvPicPr preferRelativeResize="0"/>
          <p:nvPr/>
        </p:nvPicPr>
        <p:blipFill rotWithShape="1">
          <a:blip r:embed="rId3">
            <a:alphaModFix/>
          </a:blip>
          <a:srcRect b="46525" l="0" r="0" t="1"/>
          <a:stretch/>
        </p:blipFill>
        <p:spPr>
          <a:xfrm>
            <a:off x="817975" y="1377325"/>
            <a:ext cx="5295900" cy="1670675"/>
          </a:xfrm>
          <a:prstGeom prst="rect">
            <a:avLst/>
          </a:prstGeom>
          <a:noFill/>
          <a:ln>
            <a:noFill/>
          </a:ln>
        </p:spPr>
      </p:pic>
      <p:sp>
        <p:nvSpPr>
          <p:cNvPr id="207" name="Google Shape;207;g783ce67ac1_0_5"/>
          <p:cNvSpPr/>
          <p:nvPr/>
        </p:nvSpPr>
        <p:spPr>
          <a:xfrm>
            <a:off x="4202700" y="1495500"/>
            <a:ext cx="406200" cy="288600"/>
          </a:xfrm>
          <a:prstGeom prst="bentArrow">
            <a:avLst>
              <a:gd fmla="val 25000" name="adj1"/>
              <a:gd fmla="val 25000" name="adj2"/>
              <a:gd fmla="val 25000" name="adj3"/>
              <a:gd fmla="val 43750" name="adj4"/>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783ce67ac1_0_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pic>
        <p:nvPicPr>
          <p:cNvPr id="209" name="Google Shape;209;g783ce67ac1_0_5"/>
          <p:cNvPicPr preferRelativeResize="0"/>
          <p:nvPr/>
        </p:nvPicPr>
        <p:blipFill rotWithShape="1">
          <a:blip r:embed="rId3">
            <a:alphaModFix/>
          </a:blip>
          <a:srcRect b="24967" l="4633" r="13672" t="56334"/>
          <a:stretch/>
        </p:blipFill>
        <p:spPr>
          <a:xfrm>
            <a:off x="1185332" y="5378401"/>
            <a:ext cx="4326467" cy="584201"/>
          </a:xfrm>
          <a:prstGeom prst="rect">
            <a:avLst/>
          </a:prstGeom>
          <a:noFill/>
          <a:ln>
            <a:noFill/>
          </a:ln>
        </p:spPr>
      </p:pic>
      <p:sp>
        <p:nvSpPr>
          <p:cNvPr id="210" name="Google Shape;210;g783ce67ac1_0_5"/>
          <p:cNvSpPr/>
          <p:nvPr/>
        </p:nvSpPr>
        <p:spPr>
          <a:xfrm>
            <a:off x="2700868" y="5460769"/>
            <a:ext cx="321736" cy="2436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783ce67ac1_0_21"/>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216" name="Google Shape;216;g783ce67ac1_0_21"/>
          <p:cNvGraphicFramePr/>
          <p:nvPr/>
        </p:nvGraphicFramePr>
        <p:xfrm>
          <a:off x="110067" y="643355"/>
          <a:ext cx="3000000" cy="3000000"/>
        </p:xfrm>
        <a:graphic>
          <a:graphicData uri="http://schemas.openxmlformats.org/drawingml/2006/table">
            <a:tbl>
              <a:tblPr bandRow="1" firstRow="1">
                <a:noFill/>
                <a:tableStyleId>{DA7E6E65-D877-46FA-B78E-C062FE7EB15C}</a:tableStyleId>
              </a:tblPr>
              <a:tblGrid>
                <a:gridCol w="5461000"/>
                <a:gridCol w="711200"/>
                <a:gridCol w="482600"/>
              </a:tblGrid>
              <a:tr h="2809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08880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S1Q1: How underserved is the geographic area where the project will be built?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use U. of Wisconsin Area Deprivation Index (state deciles), available </a:t>
                      </a:r>
                      <a:r>
                        <a:rPr lang="en-US" sz="1100" u="sng" cap="none" strike="noStrike">
                          <a:solidFill>
                            <a:srgbClr val="0000FF"/>
                          </a:solidFill>
                          <a:hlinkClick r:id="rId3">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https://www.neighborhoodatlas.medicine.wisc.edu/mapping</a:t>
                      </a:r>
                      <a:endParaRPr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ADI (least disadvantaged)                                                                 (most disadvantaged)</a:t>
                      </a:r>
                      <a:endParaRPr b="1" sz="1100" u="none" cap="none" strike="noStrike">
                        <a:solidFill>
                          <a:srgbClr val="FF0000"/>
                        </a:solidFill>
                      </a:endParaRPr>
                    </a:p>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0000"/>
                          </a:solidFill>
                        </a:rPr>
                        <a:t>ADI &amp; Points: 1           2          3         4          5            6             7           8             9            10</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Equity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/10</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S1Q2: </a:t>
                      </a:r>
                      <a:r>
                        <a:rPr b="0" i="0" lang="en-US" sz="1100" u="none" cap="none" strike="noStrike"/>
                        <a:t>What is the current rate of biking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4">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0-.3%                   .4-1.2%                 1.3-2.5%                 2.6-4.3%            4.9-7.1%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S1Q3: </a:t>
                      </a:r>
                      <a:r>
                        <a:rPr b="0" i="0" lang="en-US" sz="1100" u="none" cap="none" strike="noStrike"/>
                        <a:t>What is the current rate of walking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5">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0-1.7%               1.8-5%                 5.4-11%           13.6-22.5%          45.3-57.6%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250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S1Q4: </a:t>
                      </a:r>
                      <a:r>
                        <a:rPr b="0" i="0" lang="en-US" sz="1100" u="none" cap="none" strike="noStrike"/>
                        <a:t>What is the pedestrian crash density in the area?  (pedestrian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6">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0-8                        9-16                        17-27                     28-47                   48+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S1Q5: </a:t>
                      </a:r>
                      <a:r>
                        <a:rPr b="0" i="0" lang="en-US" sz="1100" u="none" cap="none" strike="noStrike"/>
                        <a:t>What is the bicycle crash density in the area?  (bicycle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7">
                            <a:extLst>
                              <a:ext uri="{A12FA001-AC4F-418D-AE19-62706E023703}">
                                <ahyp:hlinkClr val="tx"/>
                              </a:ext>
                            </a:extLst>
                          </a:hlinkClick>
                        </a:rPr>
                        <a:t>here</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0-4                        5-7                        8-10                     11-15                    15+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solidFill>
                      <a:srgbClr val="00FF00"/>
                    </a:solidFill>
                  </a:tcPr>
                </a:tc>
              </a:tr>
              <a:tr h="13527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S1Q6: What is the land use diversity index? (jobs to housing)</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8">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Diversity:    0-2         2-3        3-4      4-5       5-6          6-7        7-8        8-9         9-10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1.5          2        2.5         3            3.5         4          4.5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bl>
          </a:graphicData>
        </a:graphic>
      </p:graphicFrame>
      <p:sp>
        <p:nvSpPr>
          <p:cNvPr id="217" name="Google Shape;217;g783ce67ac1_0_21"/>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8701af7b45_0_59"/>
          <p:cNvSpPr txBox="1"/>
          <p:nvPr>
            <p:ph type="title"/>
          </p:nvPr>
        </p:nvSpPr>
        <p:spPr>
          <a:xfrm>
            <a:off x="416625" y="959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100"/>
              <a:t>S1Q5 Instructions</a:t>
            </a:r>
            <a:endParaRPr sz="4100"/>
          </a:p>
        </p:txBody>
      </p:sp>
      <p:sp>
        <p:nvSpPr>
          <p:cNvPr id="224" name="Google Shape;224;g8701af7b45_0_59"/>
          <p:cNvSpPr txBox="1"/>
          <p:nvPr>
            <p:ph idx="1" type="body"/>
          </p:nvPr>
        </p:nvSpPr>
        <p:spPr>
          <a:xfrm>
            <a:off x="323850" y="819850"/>
            <a:ext cx="6172200" cy="82578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0"/>
              </a:spcBef>
              <a:spcAft>
                <a:spcPts val="0"/>
              </a:spcAft>
              <a:buSzPts val="1600"/>
              <a:buChar char="•"/>
            </a:pPr>
            <a:r>
              <a:rPr lang="en-US" sz="1350"/>
              <a:t>Click on the link for the Nevada Department of Transportation Crash Data 2015-2017 map, available</a:t>
            </a:r>
            <a:r>
              <a:rPr lang="en-US" sz="1350">
                <a:latin typeface="Arial"/>
                <a:ea typeface="Arial"/>
                <a:cs typeface="Arial"/>
                <a:sym typeface="Arial"/>
              </a:rPr>
              <a:t> </a:t>
            </a:r>
            <a:r>
              <a:rPr lang="en-US" sz="1350" u="sng">
                <a:solidFill>
                  <a:schemeClr val="hlink"/>
                </a:solidFill>
                <a:hlinkClick r:id="rId3"/>
              </a:rPr>
              <a:t>here</a:t>
            </a:r>
            <a:r>
              <a:rPr lang="en-US" sz="1350">
                <a:latin typeface="Arial"/>
                <a:ea typeface="Arial"/>
                <a:cs typeface="Arial"/>
                <a:sym typeface="Arial"/>
              </a:rPr>
              <a:t>.</a:t>
            </a:r>
            <a:endParaRPr sz="1350">
              <a:latin typeface="Arial"/>
              <a:ea typeface="Arial"/>
              <a:cs typeface="Arial"/>
              <a:sym typeface="Arial"/>
            </a:endParaRPr>
          </a:p>
          <a:p>
            <a:pPr indent="-330200" lvl="0" marL="457200" rtl="0" algn="l">
              <a:lnSpc>
                <a:spcPct val="100000"/>
              </a:lnSpc>
              <a:spcBef>
                <a:spcPts val="0"/>
              </a:spcBef>
              <a:spcAft>
                <a:spcPts val="0"/>
              </a:spcAft>
              <a:buSzPts val="1600"/>
              <a:buChar char="•"/>
            </a:pPr>
            <a:r>
              <a:rPr lang="en-US" sz="1350"/>
              <a:t>Enter an address within the project area and click “Search.”</a:t>
            </a:r>
            <a:endParaRPr sz="1350"/>
          </a:p>
          <a:p>
            <a:pPr indent="-330200" lvl="0" marL="457200" rtl="0" algn="l">
              <a:lnSpc>
                <a:spcPct val="100000"/>
              </a:lnSpc>
              <a:spcBef>
                <a:spcPts val="0"/>
              </a:spcBef>
              <a:spcAft>
                <a:spcPts val="0"/>
              </a:spcAft>
              <a:buSzPts val="1600"/>
              <a:buChar char="•"/>
            </a:pPr>
            <a:r>
              <a:rPr lang="en-US" sz="1350"/>
              <a:t>Select the “Screening” tool icon.  </a:t>
            </a:r>
            <a:endParaRPr sz="1350"/>
          </a:p>
          <a:p>
            <a:pPr indent="0" lvl="0" marL="0" rtl="0" algn="l">
              <a:lnSpc>
                <a:spcPct val="100000"/>
              </a:lnSpc>
              <a:spcBef>
                <a:spcPts val="0"/>
              </a:spcBef>
              <a:spcAft>
                <a:spcPts val="0"/>
              </a:spcAft>
              <a:buSzPts val="1800"/>
              <a:buNone/>
            </a:pPr>
            <a:r>
              <a:t/>
            </a:r>
            <a:endParaRPr sz="1900"/>
          </a:p>
          <a:p>
            <a:pPr indent="0" lvl="0" marL="0" rtl="0" algn="l">
              <a:lnSpc>
                <a:spcPct val="100000"/>
              </a:lnSpc>
              <a:spcBef>
                <a:spcPts val="0"/>
              </a:spcBef>
              <a:spcAft>
                <a:spcPts val="0"/>
              </a:spcAft>
              <a:buSzPts val="1800"/>
              <a:buNone/>
            </a:pPr>
            <a:r>
              <a:t/>
            </a:r>
            <a:endParaRPr sz="1900"/>
          </a:p>
          <a:p>
            <a:pPr indent="0" lvl="0" marL="0" rtl="0" algn="l">
              <a:lnSpc>
                <a:spcPct val="100000"/>
              </a:lnSpc>
              <a:spcBef>
                <a:spcPts val="0"/>
              </a:spcBef>
              <a:spcAft>
                <a:spcPts val="0"/>
              </a:spcAft>
              <a:buSzPts val="1800"/>
              <a:buNone/>
            </a:pPr>
            <a:r>
              <a:t/>
            </a:r>
            <a:endParaRPr sz="1900"/>
          </a:p>
          <a:p>
            <a:pPr indent="0" lvl="0" marL="0" rtl="0" algn="l">
              <a:lnSpc>
                <a:spcPct val="100000"/>
              </a:lnSpc>
              <a:spcBef>
                <a:spcPts val="0"/>
              </a:spcBef>
              <a:spcAft>
                <a:spcPts val="0"/>
              </a:spcAft>
              <a:buSzPts val="1800"/>
              <a:buNone/>
            </a:pPr>
            <a:r>
              <a:t/>
            </a:r>
            <a:endParaRPr sz="1900"/>
          </a:p>
          <a:p>
            <a:pPr indent="0" lvl="0" marL="228600" rtl="0" algn="l">
              <a:lnSpc>
                <a:spcPct val="115000"/>
              </a:lnSpc>
              <a:spcBef>
                <a:spcPts val="0"/>
              </a:spcBef>
              <a:spcAft>
                <a:spcPts val="0"/>
              </a:spcAft>
              <a:buSzPts val="1800"/>
              <a:buNone/>
            </a:pPr>
            <a:r>
              <a:t/>
            </a:r>
            <a:endParaRPr b="1" sz="800">
              <a:solidFill>
                <a:srgbClr val="000000"/>
              </a:solidFill>
            </a:endParaRPr>
          </a:p>
          <a:p>
            <a:pPr indent="0" lvl="0" marL="0" rtl="0" algn="l">
              <a:lnSpc>
                <a:spcPct val="115000"/>
              </a:lnSpc>
              <a:spcBef>
                <a:spcPts val="0"/>
              </a:spcBef>
              <a:spcAft>
                <a:spcPts val="0"/>
              </a:spcAft>
              <a:buSzPts val="1800"/>
              <a:buNone/>
            </a:pPr>
            <a:r>
              <a:t/>
            </a:r>
            <a:endParaRPr b="1" sz="800">
              <a:solidFill>
                <a:srgbClr val="000000"/>
              </a:solidFill>
            </a:endParaRPr>
          </a:p>
          <a:p>
            <a:pPr indent="-330200" lvl="0" marL="457200" rtl="0" algn="l">
              <a:lnSpc>
                <a:spcPct val="115000"/>
              </a:lnSpc>
              <a:spcBef>
                <a:spcPts val="0"/>
              </a:spcBef>
              <a:spcAft>
                <a:spcPts val="0"/>
              </a:spcAft>
              <a:buSzPts val="1600"/>
              <a:buChar char="•"/>
            </a:pPr>
            <a:r>
              <a:rPr lang="en-US" sz="1350"/>
              <a:t>Under “Search Address,” re-enter the address in “Search for a Location.”  </a:t>
            </a:r>
            <a:endParaRPr sz="1350"/>
          </a:p>
          <a:p>
            <a:pPr indent="-330200" lvl="0" marL="457200" rtl="0" algn="l">
              <a:lnSpc>
                <a:spcPct val="115000"/>
              </a:lnSpc>
              <a:spcBef>
                <a:spcPts val="0"/>
              </a:spcBef>
              <a:spcAft>
                <a:spcPts val="0"/>
              </a:spcAft>
              <a:buSzPts val="1600"/>
              <a:buChar char="•"/>
            </a:pPr>
            <a:r>
              <a:rPr lang="en-US" sz="1350"/>
              <a:t>Under “Show Results Within,” enter 0.25 miles for Buffer distance; a red circle with a .25 mile radius will appear around the address.  </a:t>
            </a:r>
            <a:endParaRPr sz="1350"/>
          </a:p>
          <a:p>
            <a:pPr indent="-228600" lvl="0" marL="457200" rtl="0" algn="l">
              <a:lnSpc>
                <a:spcPct val="115000"/>
              </a:lnSpc>
              <a:spcBef>
                <a:spcPts val="0"/>
              </a:spcBef>
              <a:spcAft>
                <a:spcPts val="0"/>
              </a:spcAft>
              <a:buSzPts val="1600"/>
              <a:buNone/>
            </a:pPr>
            <a:r>
              <a:t/>
            </a:r>
            <a:endParaRPr sz="1350"/>
          </a:p>
          <a:p>
            <a:pPr indent="-228600" lvl="0" marL="457200" rtl="0" algn="l">
              <a:lnSpc>
                <a:spcPct val="115000"/>
              </a:lnSpc>
              <a:spcBef>
                <a:spcPts val="0"/>
              </a:spcBef>
              <a:spcAft>
                <a:spcPts val="0"/>
              </a:spcAft>
              <a:buSzPts val="1600"/>
              <a:buNone/>
            </a:pPr>
            <a:r>
              <a:t/>
            </a:r>
            <a:endParaRPr sz="1350"/>
          </a:p>
          <a:p>
            <a:pPr indent="-228600" lvl="0" marL="457200" rtl="0" algn="l">
              <a:lnSpc>
                <a:spcPct val="115000"/>
              </a:lnSpc>
              <a:spcBef>
                <a:spcPts val="0"/>
              </a:spcBef>
              <a:spcAft>
                <a:spcPts val="0"/>
              </a:spcAft>
              <a:buSzPts val="1600"/>
              <a:buNone/>
            </a:pPr>
            <a:r>
              <a:t/>
            </a:r>
            <a:endParaRPr sz="1350"/>
          </a:p>
          <a:p>
            <a:pPr indent="0" lvl="0" marL="127000" rtl="0" algn="l">
              <a:lnSpc>
                <a:spcPct val="115000"/>
              </a:lnSpc>
              <a:spcBef>
                <a:spcPts val="0"/>
              </a:spcBef>
              <a:spcAft>
                <a:spcPts val="0"/>
              </a:spcAft>
              <a:buSzPts val="1600"/>
              <a:buNone/>
            </a:pPr>
            <a:r>
              <a:t/>
            </a:r>
            <a:endParaRPr sz="1350"/>
          </a:p>
          <a:p>
            <a:pPr indent="-228600" lvl="0" marL="457200" rtl="0" algn="l">
              <a:lnSpc>
                <a:spcPct val="115000"/>
              </a:lnSpc>
              <a:spcBef>
                <a:spcPts val="0"/>
              </a:spcBef>
              <a:spcAft>
                <a:spcPts val="0"/>
              </a:spcAft>
              <a:buSzPts val="1600"/>
              <a:buNone/>
            </a:pPr>
            <a:r>
              <a:t/>
            </a:r>
            <a:endParaRPr sz="1350"/>
          </a:p>
          <a:p>
            <a:pPr indent="-330200" lvl="0" marL="457200" rtl="0" algn="l">
              <a:lnSpc>
                <a:spcPct val="115000"/>
              </a:lnSpc>
              <a:spcBef>
                <a:spcPts val="0"/>
              </a:spcBef>
              <a:spcAft>
                <a:spcPts val="0"/>
              </a:spcAft>
              <a:buSzPts val="1600"/>
              <a:buChar char="•"/>
            </a:pPr>
            <a:r>
              <a:rPr lang="en-US" sz="1350"/>
              <a:t>Click “Draw an Area” and select draw mode “POLYLINE.”</a:t>
            </a:r>
            <a:endParaRPr sz="135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a:p>
            <a:pPr indent="-330200" lvl="0" marL="457200" rtl="0" algn="l">
              <a:lnSpc>
                <a:spcPct val="115000"/>
              </a:lnSpc>
              <a:spcBef>
                <a:spcPts val="0"/>
              </a:spcBef>
              <a:spcAft>
                <a:spcPts val="0"/>
              </a:spcAft>
              <a:buSzPts val="1600"/>
              <a:buChar char="•"/>
            </a:pPr>
            <a:r>
              <a:rPr lang="en-US" sz="1350"/>
              <a:t>Use the POLYLINE</a:t>
            </a:r>
            <a:r>
              <a:rPr b="1" lang="en-US" sz="1350"/>
              <a:t> </a:t>
            </a:r>
            <a:r>
              <a:rPr lang="en-US" sz="1350"/>
              <a:t>tool to draw a line along the project area.  Right click an area on the map to begin drawing. Right click at the end of each segment to continue drawing. Double-click to complete drawing. </a:t>
            </a:r>
            <a:endParaRPr sz="1350"/>
          </a:p>
          <a:p>
            <a:pPr indent="0" lvl="0" marL="0" rtl="0" algn="l">
              <a:lnSpc>
                <a:spcPct val="115000"/>
              </a:lnSpc>
              <a:spcBef>
                <a:spcPts val="0"/>
              </a:spcBef>
              <a:spcAft>
                <a:spcPts val="0"/>
              </a:spcAft>
              <a:buSzPts val="1800"/>
              <a:buNone/>
            </a:pPr>
            <a:r>
              <a:t/>
            </a:r>
            <a:endParaRPr sz="1600"/>
          </a:p>
        </p:txBody>
      </p:sp>
      <p:pic>
        <p:nvPicPr>
          <p:cNvPr id="225" name="Google Shape;225;g8701af7b45_0_59"/>
          <p:cNvPicPr preferRelativeResize="0"/>
          <p:nvPr/>
        </p:nvPicPr>
        <p:blipFill rotWithShape="1">
          <a:blip r:embed="rId4">
            <a:alphaModFix/>
          </a:blip>
          <a:srcRect b="0" l="0" r="0" t="0"/>
          <a:stretch/>
        </p:blipFill>
        <p:spPr>
          <a:xfrm>
            <a:off x="810624" y="1723060"/>
            <a:ext cx="4788750" cy="1329075"/>
          </a:xfrm>
          <a:prstGeom prst="rect">
            <a:avLst/>
          </a:prstGeom>
          <a:noFill/>
          <a:ln>
            <a:noFill/>
          </a:ln>
        </p:spPr>
      </p:pic>
      <p:sp>
        <p:nvSpPr>
          <p:cNvPr id="226" name="Google Shape;226;g8701af7b45_0_59"/>
          <p:cNvSpPr/>
          <p:nvPr/>
        </p:nvSpPr>
        <p:spPr>
          <a:xfrm rot="5400000">
            <a:off x="1547157" y="2277139"/>
            <a:ext cx="320400" cy="271500"/>
          </a:xfrm>
          <a:prstGeom prst="lef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 name="Google Shape;227;g8701af7b45_0_59"/>
          <p:cNvPicPr preferRelativeResize="0"/>
          <p:nvPr/>
        </p:nvPicPr>
        <p:blipFill rotWithShape="1">
          <a:blip r:embed="rId5">
            <a:alphaModFix/>
          </a:blip>
          <a:srcRect b="0" l="0" r="52926" t="0"/>
          <a:stretch/>
        </p:blipFill>
        <p:spPr>
          <a:xfrm>
            <a:off x="4726722" y="3620399"/>
            <a:ext cx="1815716" cy="1345941"/>
          </a:xfrm>
          <a:prstGeom prst="rect">
            <a:avLst/>
          </a:prstGeom>
          <a:noFill/>
          <a:ln>
            <a:noFill/>
          </a:ln>
        </p:spPr>
      </p:pic>
      <p:pic>
        <p:nvPicPr>
          <p:cNvPr id="228" name="Google Shape;228;g8701af7b45_0_59"/>
          <p:cNvPicPr preferRelativeResize="0"/>
          <p:nvPr/>
        </p:nvPicPr>
        <p:blipFill rotWithShape="1">
          <a:blip r:embed="rId6">
            <a:alphaModFix/>
          </a:blip>
          <a:srcRect b="0" l="0" r="0" t="0"/>
          <a:stretch/>
        </p:blipFill>
        <p:spPr>
          <a:xfrm>
            <a:off x="1321622" y="7469325"/>
            <a:ext cx="4176656" cy="1448500"/>
          </a:xfrm>
          <a:prstGeom prst="rect">
            <a:avLst/>
          </a:prstGeom>
          <a:noFill/>
          <a:ln>
            <a:noFill/>
          </a:ln>
        </p:spPr>
      </p:pic>
      <p:sp>
        <p:nvSpPr>
          <p:cNvPr id="229" name="Google Shape;229;g8701af7b45_0_59"/>
          <p:cNvSpPr txBox="1"/>
          <p:nvPr>
            <p:ph idx="11" type="ftr"/>
          </p:nvPr>
        </p:nvSpPr>
        <p:spPr>
          <a:xfrm>
            <a:off x="4823236" y="8657167"/>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pic>
        <p:nvPicPr>
          <p:cNvPr id="230" name="Google Shape;230;g8701af7b45_0_59"/>
          <p:cNvPicPr preferRelativeResize="0"/>
          <p:nvPr/>
        </p:nvPicPr>
        <p:blipFill rotWithShape="1">
          <a:blip r:embed="rId5">
            <a:alphaModFix/>
          </a:blip>
          <a:srcRect b="0" l="56407" r="1901" t="0"/>
          <a:stretch/>
        </p:blipFill>
        <p:spPr>
          <a:xfrm>
            <a:off x="2400957" y="5318744"/>
            <a:ext cx="1608083" cy="134594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8701af7b45_0_69"/>
          <p:cNvSpPr txBox="1"/>
          <p:nvPr>
            <p:ph type="title"/>
          </p:nvPr>
        </p:nvSpPr>
        <p:spPr>
          <a:xfrm>
            <a:off x="316225" y="228600"/>
            <a:ext cx="6299400" cy="885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3900"/>
              <a:t>S1Q5 Instructions - Continued</a:t>
            </a:r>
            <a:endParaRPr sz="3900"/>
          </a:p>
        </p:txBody>
      </p:sp>
      <p:sp>
        <p:nvSpPr>
          <p:cNvPr id="237" name="Google Shape;237;g8701af7b45_0_69"/>
          <p:cNvSpPr txBox="1"/>
          <p:nvPr>
            <p:ph idx="1" type="body"/>
          </p:nvPr>
        </p:nvSpPr>
        <p:spPr>
          <a:xfrm>
            <a:off x="316225" y="806520"/>
            <a:ext cx="6131400" cy="445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sz="1600"/>
          </a:p>
          <a:p>
            <a:pPr indent="-342900" lvl="0" marL="457200" rtl="0" algn="l">
              <a:lnSpc>
                <a:spcPct val="100000"/>
              </a:lnSpc>
              <a:spcBef>
                <a:spcPts val="360"/>
              </a:spcBef>
              <a:spcAft>
                <a:spcPts val="0"/>
              </a:spcAft>
              <a:buSzPts val="1800"/>
              <a:buChar char="●"/>
            </a:pPr>
            <a:r>
              <a:rPr lang="en-US" sz="1800"/>
              <a:t>Click “Report”</a:t>
            </a:r>
            <a:r>
              <a:rPr b="1" lang="en-US" sz="1800"/>
              <a:t> </a:t>
            </a:r>
            <a:r>
              <a:rPr lang="en-US" sz="1800"/>
              <a:t>inside the “Screening” toolbox.</a:t>
            </a:r>
            <a:endParaRPr sz="1600"/>
          </a:p>
          <a:p>
            <a:pPr indent="-355600" lvl="0" marL="457200" rtl="0" algn="l">
              <a:lnSpc>
                <a:spcPct val="100000"/>
              </a:lnSpc>
              <a:spcBef>
                <a:spcPts val="1000"/>
              </a:spcBef>
              <a:spcAft>
                <a:spcPts val="0"/>
              </a:spcAft>
              <a:buSzPts val="2000"/>
              <a:buChar char="●"/>
            </a:pPr>
            <a:r>
              <a:rPr lang="en-US" sz="1800"/>
              <a:t>Under “Choose units of analysis,” select “Square Miles” and “Miles.”</a:t>
            </a:r>
            <a:endParaRPr sz="1600"/>
          </a:p>
          <a:p>
            <a:pPr indent="-342900" lvl="0" marL="457200" rtl="0" algn="l">
              <a:lnSpc>
                <a:spcPct val="115000"/>
              </a:lnSpc>
              <a:spcBef>
                <a:spcPts val="1000"/>
              </a:spcBef>
              <a:spcAft>
                <a:spcPts val="0"/>
              </a:spcAft>
              <a:buSzPts val="1800"/>
              <a:buChar char="●"/>
            </a:pPr>
            <a:r>
              <a:rPr lang="en-US" sz="1800"/>
              <a:t>In the “Filter” section, select “Bicycle.”</a:t>
            </a:r>
            <a:endParaRPr sz="1800"/>
          </a:p>
          <a:p>
            <a:pPr indent="-330200" lvl="1" marL="914400" rtl="0" algn="l">
              <a:lnSpc>
                <a:spcPct val="115000"/>
              </a:lnSpc>
              <a:spcBef>
                <a:spcPts val="1000"/>
              </a:spcBef>
              <a:spcAft>
                <a:spcPts val="0"/>
              </a:spcAft>
              <a:buSzPts val="1600"/>
              <a:buChar char="○"/>
            </a:pPr>
            <a:r>
              <a:rPr lang="en-US" sz="1600"/>
              <a:t>In the “Crash Count” section beneath the title, note the “Number of Crashes in Current Extent.”</a:t>
            </a:r>
            <a:endParaRPr sz="1600"/>
          </a:p>
          <a:p>
            <a:pPr indent="-330200" lvl="1" marL="914400" rtl="0" algn="l">
              <a:lnSpc>
                <a:spcPct val="115000"/>
              </a:lnSpc>
              <a:spcBef>
                <a:spcPts val="1000"/>
              </a:spcBef>
              <a:spcAft>
                <a:spcPts val="0"/>
              </a:spcAft>
              <a:buSzPts val="1600"/>
              <a:buFont typeface="Calibri"/>
              <a:buChar char="○"/>
            </a:pPr>
            <a:r>
              <a:rPr lang="en-US" sz="1600"/>
              <a:t>Divide this number of crashes by the Area in mi² for the buffer zone.</a:t>
            </a:r>
            <a:endParaRPr sz="1600"/>
          </a:p>
          <a:p>
            <a:pPr indent="-330200" lvl="1" marL="914400" rtl="0" algn="l">
              <a:lnSpc>
                <a:spcPct val="115000"/>
              </a:lnSpc>
              <a:spcBef>
                <a:spcPts val="1000"/>
              </a:spcBef>
              <a:spcAft>
                <a:spcPts val="0"/>
              </a:spcAft>
              <a:buSzPts val="1600"/>
              <a:buFont typeface="Calibri"/>
              <a:buChar char="○"/>
            </a:pPr>
            <a:r>
              <a:rPr lang="en-US" sz="1600"/>
              <a:t>Round to the nearest whole number </a:t>
            </a:r>
            <a:endParaRPr sz="1600"/>
          </a:p>
          <a:p>
            <a:pPr indent="-342900" lvl="0" marL="457200" rtl="0" algn="l">
              <a:lnSpc>
                <a:spcPct val="115000"/>
              </a:lnSpc>
              <a:spcBef>
                <a:spcPts val="1000"/>
              </a:spcBef>
              <a:spcAft>
                <a:spcPts val="0"/>
              </a:spcAft>
              <a:buSzPts val="1800"/>
              <a:buFont typeface="Calibri"/>
              <a:buChar char="●"/>
            </a:pPr>
            <a:r>
              <a:rPr lang="en-US" sz="1800"/>
              <a:t>Record the calculated points</a:t>
            </a:r>
            <a:endParaRPr sz="1800"/>
          </a:p>
          <a:p>
            <a:pPr indent="0" lvl="0" marL="0" rtl="0" algn="l">
              <a:lnSpc>
                <a:spcPct val="100000"/>
              </a:lnSpc>
              <a:spcBef>
                <a:spcPts val="100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900"/>
          </a:p>
        </p:txBody>
      </p:sp>
      <p:grpSp>
        <p:nvGrpSpPr>
          <p:cNvPr id="238" name="Google Shape;238;g8701af7b45_0_69"/>
          <p:cNvGrpSpPr/>
          <p:nvPr/>
        </p:nvGrpSpPr>
        <p:grpSpPr>
          <a:xfrm>
            <a:off x="817975" y="4988370"/>
            <a:ext cx="5295900" cy="3124200"/>
            <a:chOff x="817975" y="1190700"/>
            <a:chExt cx="5295900" cy="3124200"/>
          </a:xfrm>
        </p:grpSpPr>
        <p:grpSp>
          <p:nvGrpSpPr>
            <p:cNvPr id="239" name="Google Shape;239;g8701af7b45_0_69"/>
            <p:cNvGrpSpPr/>
            <p:nvPr/>
          </p:nvGrpSpPr>
          <p:grpSpPr>
            <a:xfrm>
              <a:off x="817975" y="1190700"/>
              <a:ext cx="5295900" cy="3124200"/>
              <a:chOff x="817975" y="1190700"/>
              <a:chExt cx="5295900" cy="3124200"/>
            </a:xfrm>
          </p:grpSpPr>
          <p:pic>
            <p:nvPicPr>
              <p:cNvPr id="240" name="Google Shape;240;g8701af7b45_0_69"/>
              <p:cNvPicPr preferRelativeResize="0"/>
              <p:nvPr/>
            </p:nvPicPr>
            <p:blipFill rotWithShape="1">
              <a:blip r:embed="rId3">
                <a:alphaModFix/>
              </a:blip>
              <a:srcRect b="0" l="0" r="0" t="0"/>
              <a:stretch/>
            </p:blipFill>
            <p:spPr>
              <a:xfrm>
                <a:off x="817975" y="1190700"/>
                <a:ext cx="5295900" cy="3124200"/>
              </a:xfrm>
              <a:prstGeom prst="rect">
                <a:avLst/>
              </a:prstGeom>
              <a:noFill/>
              <a:ln>
                <a:noFill/>
              </a:ln>
            </p:spPr>
          </p:pic>
          <p:sp>
            <p:nvSpPr>
              <p:cNvPr id="241" name="Google Shape;241;g8701af7b45_0_69"/>
              <p:cNvSpPr/>
              <p:nvPr/>
            </p:nvSpPr>
            <p:spPr>
              <a:xfrm>
                <a:off x="2460800" y="3821752"/>
                <a:ext cx="1122600" cy="2436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2" name="Google Shape;242;g8701af7b45_0_69"/>
            <p:cNvSpPr/>
            <p:nvPr/>
          </p:nvSpPr>
          <p:spPr>
            <a:xfrm>
              <a:off x="4212225" y="1324050"/>
              <a:ext cx="406200" cy="288600"/>
            </a:xfrm>
            <a:prstGeom prst="bentArrow">
              <a:avLst>
                <a:gd fmla="val 25000" name="adj1"/>
                <a:gd fmla="val 25000" name="adj2"/>
                <a:gd fmla="val 25000" name="adj3"/>
                <a:gd fmla="val 43750" name="adj4"/>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3" name="Google Shape;243;g8701af7b45_0_6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783ce67ac1_0_38"/>
          <p:cNvSpPr txBox="1"/>
          <p:nvPr>
            <p:ph type="title"/>
          </p:nvPr>
        </p:nvSpPr>
        <p:spPr>
          <a:xfrm>
            <a:off x="44250" y="102900"/>
            <a:ext cx="6769500" cy="885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3900"/>
              <a:t>S1Q5 Instructions - Continued</a:t>
            </a:r>
            <a:endParaRPr sz="3900"/>
          </a:p>
        </p:txBody>
      </p:sp>
      <p:sp>
        <p:nvSpPr>
          <p:cNvPr id="250" name="Google Shape;250;g783ce67ac1_0_38"/>
          <p:cNvSpPr txBox="1"/>
          <p:nvPr>
            <p:ph idx="1" type="body"/>
          </p:nvPr>
        </p:nvSpPr>
        <p:spPr>
          <a:xfrm>
            <a:off x="342900" y="4484400"/>
            <a:ext cx="6172200" cy="4316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SzPts val="1800"/>
              <a:buChar char="●"/>
            </a:pPr>
            <a:r>
              <a:rPr lang="en-US" sz="1800"/>
              <a:t>Select </a:t>
            </a:r>
            <a:r>
              <a:rPr b="1" lang="en-US" sz="1800"/>
              <a:t>Report </a:t>
            </a:r>
            <a:r>
              <a:rPr lang="en-US" sz="1800"/>
              <a:t>inside the </a:t>
            </a:r>
            <a:r>
              <a:rPr b="1" lang="en-US" sz="1800"/>
              <a:t>Screening</a:t>
            </a:r>
            <a:r>
              <a:rPr lang="en-US" sz="1800"/>
              <a:t> toolbox.</a:t>
            </a:r>
            <a:endParaRPr sz="1800"/>
          </a:p>
          <a:p>
            <a:pPr indent="-330200" lvl="1" marL="914400" rtl="0" algn="l">
              <a:lnSpc>
                <a:spcPct val="100000"/>
              </a:lnSpc>
              <a:spcBef>
                <a:spcPts val="0"/>
              </a:spcBef>
              <a:spcAft>
                <a:spcPts val="0"/>
              </a:spcAft>
              <a:buSzPts val="1600"/>
              <a:buChar char="○"/>
            </a:pPr>
            <a:r>
              <a:rPr lang="en-US" sz="1600"/>
              <a:t>Click on the </a:t>
            </a:r>
            <a:r>
              <a:rPr b="1" lang="en-US" sz="1600"/>
              <a:t>gear icon </a:t>
            </a:r>
            <a:r>
              <a:rPr lang="en-US" sz="1600"/>
              <a:t>(Choose units for analysis).</a:t>
            </a:r>
            <a:endParaRPr sz="1600"/>
          </a:p>
          <a:p>
            <a:pPr indent="-330200" lvl="1" marL="914400" rtl="0" algn="l">
              <a:lnSpc>
                <a:spcPct val="100000"/>
              </a:lnSpc>
              <a:spcBef>
                <a:spcPts val="0"/>
              </a:spcBef>
              <a:spcAft>
                <a:spcPts val="0"/>
              </a:spcAft>
              <a:buSzPts val="1600"/>
              <a:buChar char="○"/>
            </a:pPr>
            <a:r>
              <a:rPr lang="en-US" sz="1600"/>
              <a:t>Under </a:t>
            </a:r>
            <a:r>
              <a:rPr b="1" lang="en-US" sz="1600"/>
              <a:t>Show area results in</a:t>
            </a:r>
            <a:r>
              <a:rPr lang="en-US" sz="1600"/>
              <a:t>, use the tab down menu to select Square Miles.</a:t>
            </a:r>
            <a:endParaRPr sz="1600"/>
          </a:p>
          <a:p>
            <a:pPr indent="-330200" lvl="1" marL="914400" rtl="0" algn="l">
              <a:lnSpc>
                <a:spcPct val="100000"/>
              </a:lnSpc>
              <a:spcBef>
                <a:spcPts val="0"/>
              </a:spcBef>
              <a:spcAft>
                <a:spcPts val="0"/>
              </a:spcAft>
              <a:buSzPts val="1600"/>
              <a:buChar char="○"/>
            </a:pPr>
            <a:r>
              <a:rPr lang="en-US" sz="1600"/>
              <a:t>Ensure the tab down menu for </a:t>
            </a:r>
            <a:r>
              <a:rPr b="1" lang="en-US" sz="1600"/>
              <a:t>Show length results in</a:t>
            </a:r>
            <a:r>
              <a:rPr lang="en-US" sz="1600"/>
              <a:t> is set to Feet. </a:t>
            </a:r>
            <a:endParaRPr sz="1600"/>
          </a:p>
          <a:p>
            <a:pPr indent="-330200" lvl="1" marL="914400" rtl="0" algn="l">
              <a:lnSpc>
                <a:spcPct val="100000"/>
              </a:lnSpc>
              <a:spcBef>
                <a:spcPts val="0"/>
              </a:spcBef>
              <a:spcAft>
                <a:spcPts val="0"/>
              </a:spcAft>
              <a:buSzPts val="1600"/>
              <a:buChar char="○"/>
            </a:pPr>
            <a:r>
              <a:rPr lang="en-US" sz="1600"/>
              <a:t>Note the Area will change from square ft (ft²) to square miles (mi²); use the area in mi² for calculations.</a:t>
            </a:r>
            <a:endParaRPr sz="1600"/>
          </a:p>
          <a:p>
            <a:pPr indent="-342900" lvl="0" marL="457200" rtl="0" algn="l">
              <a:lnSpc>
                <a:spcPct val="115000"/>
              </a:lnSpc>
              <a:spcBef>
                <a:spcPts val="0"/>
              </a:spcBef>
              <a:spcAft>
                <a:spcPts val="0"/>
              </a:spcAft>
              <a:buSzPts val="1800"/>
              <a:buChar char="●"/>
            </a:pPr>
            <a:r>
              <a:rPr lang="en-US" sz="1800"/>
              <a:t>Under the </a:t>
            </a:r>
            <a:r>
              <a:rPr b="1" i="1" lang="en-US" sz="1800"/>
              <a:t>Filter</a:t>
            </a:r>
            <a:r>
              <a:rPr lang="en-US" sz="1800"/>
              <a:t> section, click on the tab to select </a:t>
            </a:r>
            <a:r>
              <a:rPr b="1" i="1" lang="en-US" sz="1800"/>
              <a:t>Bicycle</a:t>
            </a:r>
            <a:r>
              <a:rPr lang="en-US" sz="1800"/>
              <a:t>.</a:t>
            </a:r>
            <a:endParaRPr sz="1800"/>
          </a:p>
          <a:p>
            <a:pPr indent="-330200" lvl="1" marL="914400" rtl="0" algn="l">
              <a:lnSpc>
                <a:spcPct val="115000"/>
              </a:lnSpc>
              <a:spcBef>
                <a:spcPts val="0"/>
              </a:spcBef>
              <a:spcAft>
                <a:spcPts val="0"/>
              </a:spcAft>
              <a:buSzPts val="1600"/>
              <a:buChar char="○"/>
            </a:pPr>
            <a:r>
              <a:rPr lang="en-US" sz="1600"/>
              <a:t>In the </a:t>
            </a:r>
            <a:r>
              <a:rPr b="1" i="1" lang="en-US" sz="1600"/>
              <a:t>Crash Count</a:t>
            </a:r>
            <a:r>
              <a:rPr lang="en-US" sz="1600"/>
              <a:t> section beneath the title, </a:t>
            </a:r>
            <a:r>
              <a:rPr b="1" lang="en-US" sz="1600"/>
              <a:t>Number of Crashes in Current Extent</a:t>
            </a:r>
            <a:r>
              <a:rPr lang="en-US" sz="1600"/>
              <a:t>, note the number of crashes.</a:t>
            </a:r>
            <a:endParaRPr sz="1600"/>
          </a:p>
          <a:p>
            <a:pPr indent="-330200" lvl="1" marL="914400" rtl="0" algn="l">
              <a:lnSpc>
                <a:spcPct val="115000"/>
              </a:lnSpc>
              <a:spcBef>
                <a:spcPts val="0"/>
              </a:spcBef>
              <a:spcAft>
                <a:spcPts val="0"/>
              </a:spcAft>
              <a:buSzPts val="1600"/>
              <a:buFont typeface="Calibri"/>
              <a:buChar char="○"/>
            </a:pPr>
            <a:r>
              <a:rPr lang="en-US" sz="1600"/>
              <a:t>Divide the number of crashes by the Area in square miles for the buffer zone.</a:t>
            </a:r>
            <a:endParaRPr sz="1600"/>
          </a:p>
          <a:p>
            <a:pPr indent="-330200" lvl="1" marL="914400" rtl="0" algn="l">
              <a:lnSpc>
                <a:spcPct val="115000"/>
              </a:lnSpc>
              <a:spcBef>
                <a:spcPts val="0"/>
              </a:spcBef>
              <a:spcAft>
                <a:spcPts val="0"/>
              </a:spcAft>
              <a:buSzPts val="1600"/>
              <a:buFont typeface="Calibri"/>
              <a:buChar char="○"/>
            </a:pPr>
            <a:r>
              <a:rPr lang="en-US" sz="1600"/>
              <a:t>Round to the nearest whole number as necessary</a:t>
            </a:r>
            <a:endParaRPr sz="1600"/>
          </a:p>
          <a:p>
            <a:pPr indent="-330200" lvl="1" marL="914400" rtl="0" algn="l">
              <a:lnSpc>
                <a:spcPct val="115000"/>
              </a:lnSpc>
              <a:spcBef>
                <a:spcPts val="0"/>
              </a:spcBef>
              <a:spcAft>
                <a:spcPts val="0"/>
              </a:spcAft>
              <a:buSzPts val="1600"/>
              <a:buChar char="○"/>
            </a:pPr>
            <a:r>
              <a:rPr lang="en-US" sz="1600"/>
              <a:t>Place the calculated Point value in the </a:t>
            </a:r>
            <a:r>
              <a:rPr b="1" i="1" lang="en-US" sz="1600"/>
              <a:t>“Pts”</a:t>
            </a:r>
            <a:r>
              <a:rPr lang="en-US" sz="1600"/>
              <a:t> column.</a:t>
            </a:r>
            <a:endParaRPr sz="1600"/>
          </a:p>
          <a:p>
            <a:pPr indent="0" lvl="0" marL="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900"/>
          </a:p>
        </p:txBody>
      </p:sp>
      <p:pic>
        <p:nvPicPr>
          <p:cNvPr id="251" name="Google Shape;251;g783ce67ac1_0_38"/>
          <p:cNvPicPr preferRelativeResize="0"/>
          <p:nvPr/>
        </p:nvPicPr>
        <p:blipFill rotWithShape="1">
          <a:blip r:embed="rId3">
            <a:alphaModFix/>
          </a:blip>
          <a:srcRect b="0" l="0" r="0" t="0"/>
          <a:stretch/>
        </p:blipFill>
        <p:spPr>
          <a:xfrm>
            <a:off x="781050" y="1174500"/>
            <a:ext cx="5295900" cy="3124200"/>
          </a:xfrm>
          <a:prstGeom prst="rect">
            <a:avLst/>
          </a:prstGeom>
          <a:noFill/>
          <a:ln>
            <a:noFill/>
          </a:ln>
        </p:spPr>
      </p:pic>
      <p:sp>
        <p:nvSpPr>
          <p:cNvPr id="252" name="Google Shape;252;g783ce67ac1_0_38"/>
          <p:cNvSpPr/>
          <p:nvPr/>
        </p:nvSpPr>
        <p:spPr>
          <a:xfrm>
            <a:off x="634459" y="3784839"/>
            <a:ext cx="1122600" cy="243600"/>
          </a:xfrm>
          <a:prstGeom prst="rightArrow">
            <a:avLst>
              <a:gd fmla="val 50000" name="adj1"/>
              <a:gd fmla="val 50000" name="adj2"/>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g783ce67ac1_0_38"/>
          <p:cNvSpPr/>
          <p:nvPr/>
        </p:nvSpPr>
        <p:spPr>
          <a:xfrm>
            <a:off x="4145550" y="1333575"/>
            <a:ext cx="406200" cy="288600"/>
          </a:xfrm>
          <a:prstGeom prst="bentArrow">
            <a:avLst>
              <a:gd fmla="val 25000" name="adj1"/>
              <a:gd fmla="val 25000" name="adj2"/>
              <a:gd fmla="val 25000" name="adj3"/>
              <a:gd fmla="val 43750" name="adj4"/>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783ce67ac1_0_38"/>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783ce67ac1_0_47"/>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260" name="Google Shape;260;g783ce67ac1_0_47"/>
          <p:cNvGraphicFramePr/>
          <p:nvPr/>
        </p:nvGraphicFramePr>
        <p:xfrm>
          <a:off x="110067" y="643355"/>
          <a:ext cx="3000000" cy="3000000"/>
        </p:xfrm>
        <a:graphic>
          <a:graphicData uri="http://schemas.openxmlformats.org/drawingml/2006/table">
            <a:tbl>
              <a:tblPr bandRow="1" firstRow="1">
                <a:noFill/>
                <a:tableStyleId>{DA7E6E65-D877-46FA-B78E-C062FE7EB15C}</a:tableStyleId>
              </a:tblPr>
              <a:tblGrid>
                <a:gridCol w="5461000"/>
                <a:gridCol w="711200"/>
                <a:gridCol w="482600"/>
              </a:tblGrid>
              <a:tr h="2809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08880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t>S1Q1: How underserved is the geographic area where the project will be built?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use U. of Wisconsin Area Deprivation Index (state deciles), available </a:t>
                      </a:r>
                      <a:r>
                        <a:rPr lang="en-US" sz="1100" u="sng" cap="none" strike="noStrike">
                          <a:solidFill>
                            <a:srgbClr val="0000FF"/>
                          </a:solidFill>
                          <a:hlinkClick r:id="rId3">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FF"/>
                          </a:solidFill>
                        </a:rPr>
                        <a:t>https://www.neighborhoodatlas.medicine.wisc.edu/mapping</a:t>
                      </a:r>
                      <a:endParaRPr sz="1100" u="none" cap="none" strike="noStrike">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rgbClr val="FF0000"/>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ADI (least disadvantaged)                                                                 (most disadvantaged)</a:t>
                      </a:r>
                      <a:endParaRPr b="1" sz="1100" u="none" cap="none" strike="noStrike">
                        <a:solidFill>
                          <a:srgbClr val="FF0000"/>
                        </a:solidFill>
                      </a:endParaRPr>
                    </a:p>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FF0000"/>
                          </a:solidFill>
                        </a:rPr>
                        <a:t>ADI &amp; Points: 1           2          3         4          5            6             7           8             9            10</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Equity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/10</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S1Q2: </a:t>
                      </a:r>
                      <a:r>
                        <a:rPr b="0" i="0" lang="en-US" sz="1100" u="none" cap="none" strike="noStrike"/>
                        <a:t>What is the current rate of biking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4">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0-.3%                   .4-1.2%                 1.3-2.5%                 2.6-4.3%            4.9-7.1%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26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S1Q3: </a:t>
                      </a:r>
                      <a:r>
                        <a:rPr b="0" i="0" lang="en-US" sz="1100" u="none" cap="none" strike="noStrike"/>
                        <a:t>What is the current rate of walking to work in the proposed project’s Census Tract? </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U.S. Census data, available </a:t>
                      </a:r>
                      <a:r>
                        <a:rPr lang="en-US" sz="1100" u="sng" cap="none" strike="noStrike">
                          <a:solidFill>
                            <a:srgbClr val="0000FF"/>
                          </a:solidFill>
                          <a:hlinkClick r:id="rId5">
                            <a:extLst>
                              <a:ext uri="{A12FA001-AC4F-418D-AE19-62706E023703}">
                                <ahyp:hlinkClr val="tx"/>
                              </a:ext>
                            </a:extLst>
                          </a:hlinkClick>
                        </a:rPr>
                        <a:t>here</a:t>
                      </a:r>
                      <a:r>
                        <a:rPr lang="en-US" sz="1100" u="none" cap="none" strike="noStrike">
                          <a:solidFill>
                            <a:srgbClr val="0000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Rate:         0-1.7%               1.8-5%                 5.4-11%           13.6-22.5%          45.3-57.6%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Active transport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2506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S1Q4: </a:t>
                      </a:r>
                      <a:r>
                        <a:rPr b="0" i="0" lang="en-US" sz="1100" u="none" cap="none" strike="noStrike"/>
                        <a:t>What is the pedestrian crash density in the area?  (pedestrian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6">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0-8                        9-16                        17-27                     28-47                   48+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S1Q5: </a:t>
                      </a:r>
                      <a:r>
                        <a:rPr b="0" i="0" lang="en-US" sz="1100" u="none" cap="none" strike="noStrike"/>
                        <a:t>What is the bicycle crash density in the area?  (bicycle crashes/sq. mile)</a:t>
                      </a:r>
                      <a:endParaRPr sz="1400" u="none" cap="none" strike="noStrike"/>
                    </a:p>
                    <a:p>
                      <a:pPr indent="0" lvl="0" marL="0" marR="0" rtl="0" algn="l">
                        <a:lnSpc>
                          <a:spcPct val="100000"/>
                        </a:lnSpc>
                        <a:spcBef>
                          <a:spcPts val="0"/>
                        </a:spcBef>
                        <a:spcAft>
                          <a:spcPts val="0"/>
                        </a:spcAft>
                        <a:buClr>
                          <a:srgbClr val="0000FF"/>
                        </a:buClr>
                        <a:buSzPts val="1100"/>
                        <a:buFont typeface="Calibri"/>
                        <a:buNone/>
                      </a:pPr>
                      <a:r>
                        <a:rPr lang="en-US" sz="1100" u="none" cap="none" strike="noStrike">
                          <a:solidFill>
                            <a:srgbClr val="0000FF"/>
                          </a:solidFill>
                        </a:rPr>
                        <a:t>(use NDOT map, available </a:t>
                      </a:r>
                      <a:r>
                        <a:rPr lang="en-US" sz="1100" u="sng" cap="none" strike="noStrike">
                          <a:solidFill>
                            <a:srgbClr val="0000FF"/>
                          </a:solidFill>
                          <a:hlinkClick r:id="rId7">
                            <a:extLst>
                              <a:ext uri="{A12FA001-AC4F-418D-AE19-62706E023703}">
                                <ahyp:hlinkClr val="tx"/>
                              </a:ext>
                            </a:extLst>
                          </a:hlinkClick>
                        </a:rPr>
                        <a:t>here</a:t>
                      </a:r>
                      <a:r>
                        <a:rPr lang="en-US" sz="1100" u="none" cap="none" strike="noStrike">
                          <a:solidFill>
                            <a:srgbClr val="0000FF"/>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FF"/>
                        </a:solidFill>
                      </a:endParaRPr>
                    </a:p>
                    <a:p>
                      <a:pPr indent="0" lvl="0" marL="0" marR="0" rtl="0" algn="l">
                        <a:lnSpc>
                          <a:spcPct val="100000"/>
                        </a:lnSpc>
                        <a:spcBef>
                          <a:spcPts val="0"/>
                        </a:spcBef>
                        <a:spcAft>
                          <a:spcPts val="0"/>
                        </a:spcAft>
                        <a:buClr>
                          <a:schemeClr val="dk1"/>
                        </a:buClr>
                        <a:buSzPts val="1100"/>
                        <a:buFont typeface="Calibri"/>
                        <a:buNone/>
                      </a:pPr>
                      <a:r>
                        <a:rPr b="1" lang="en-US" sz="1100" u="none" cap="none" strike="noStrike">
                          <a:solidFill>
                            <a:schemeClr val="dk1"/>
                          </a:solidFill>
                        </a:rPr>
                        <a:t>Crashes:    0-4                        5-7                        8-10                     11-15                    15+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Crash</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13527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S1Q6: What is the land use diversity index? (jobs to housing)</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8">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Diversity:    0-2         2-3        3-4      4-5       5-6          6-7        7-8        8-9         9-10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1.5          2        2.5         3            3.5         4          4.5            5</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solidFill>
                      <a:srgbClr val="00FF00"/>
                    </a:solidFill>
                  </a:tcPr>
                </a:tc>
              </a:tr>
            </a:tbl>
          </a:graphicData>
        </a:graphic>
      </p:graphicFrame>
      <p:sp>
        <p:nvSpPr>
          <p:cNvPr id="261" name="Google Shape;261;g783ce67ac1_0_4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783ce67ac1_0_54"/>
          <p:cNvSpPr txBox="1"/>
          <p:nvPr>
            <p:ph type="title"/>
          </p:nvPr>
        </p:nvSpPr>
        <p:spPr>
          <a:xfrm>
            <a:off x="342900" y="571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200"/>
              <a:t>S1Q6 Instructions</a:t>
            </a:r>
            <a:endParaRPr sz="4200"/>
          </a:p>
        </p:txBody>
      </p:sp>
      <p:sp>
        <p:nvSpPr>
          <p:cNvPr id="268" name="Google Shape;268;g783ce67ac1_0_54"/>
          <p:cNvSpPr txBox="1"/>
          <p:nvPr>
            <p:ph idx="1" type="body"/>
          </p:nvPr>
        </p:nvSpPr>
        <p:spPr>
          <a:xfrm>
            <a:off x="409575" y="962725"/>
            <a:ext cx="6105600" cy="67431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US" sz="1800"/>
              <a:t>Click on the link provided for the U.S. Environmental Protection Agency (EPA) Smart Location database; available </a:t>
            </a:r>
            <a:r>
              <a:rPr lang="en-US" sz="1800" u="sng">
                <a:solidFill>
                  <a:schemeClr val="hlink"/>
                </a:solidFill>
                <a:hlinkClick r:id="rId3"/>
              </a:rPr>
              <a:t>here</a:t>
            </a:r>
            <a:r>
              <a:rPr lang="en-US" sz="1800"/>
              <a:t>.</a:t>
            </a:r>
            <a:endParaRPr sz="1800"/>
          </a:p>
          <a:p>
            <a:pPr indent="-342900" lvl="0" marL="457200" rtl="0" algn="l">
              <a:lnSpc>
                <a:spcPct val="115000"/>
              </a:lnSpc>
              <a:spcBef>
                <a:spcPts val="0"/>
              </a:spcBef>
              <a:spcAft>
                <a:spcPts val="0"/>
              </a:spcAft>
              <a:buSzPts val="1800"/>
              <a:buChar char="●"/>
            </a:pPr>
            <a:r>
              <a:rPr lang="en-US" sz="1800"/>
              <a:t>Under “View In,” select “ArcGIS Online Map Viewer” </a:t>
            </a:r>
            <a:endParaRPr b="1" i="1" sz="1800"/>
          </a:p>
          <a:p>
            <a:pPr indent="-342900" lvl="0" marL="457200" rtl="0" algn="l">
              <a:lnSpc>
                <a:spcPct val="115000"/>
              </a:lnSpc>
              <a:spcBef>
                <a:spcPts val="0"/>
              </a:spcBef>
              <a:spcAft>
                <a:spcPts val="0"/>
              </a:spcAft>
              <a:buSzPts val="1800"/>
              <a:buChar char="●"/>
            </a:pPr>
            <a:r>
              <a:rPr lang="en-US" sz="1800"/>
              <a:t>Enter the address for project area inside the text box on the top right.</a:t>
            </a:r>
            <a:endParaRPr b="1" i="1" sz="1800"/>
          </a:p>
          <a:p>
            <a:pPr indent="-342900" lvl="0" marL="457200" rtl="0" algn="l">
              <a:lnSpc>
                <a:spcPct val="115000"/>
              </a:lnSpc>
              <a:spcBef>
                <a:spcPts val="0"/>
              </a:spcBef>
              <a:spcAft>
                <a:spcPts val="0"/>
              </a:spcAft>
              <a:buSzPts val="1800"/>
              <a:buChar char="●"/>
            </a:pPr>
            <a:r>
              <a:rPr lang="en-US" sz="1800"/>
              <a:t>On the left, click on “Basemap” and select “Imagery Hybrid.”</a:t>
            </a:r>
            <a:endParaRPr sz="1800"/>
          </a:p>
          <a:p>
            <a:pPr indent="-342900" lvl="0" marL="457200" rtl="0" algn="l">
              <a:lnSpc>
                <a:spcPct val="115000"/>
              </a:lnSpc>
              <a:spcBef>
                <a:spcPts val="0"/>
              </a:spcBef>
              <a:spcAft>
                <a:spcPts val="0"/>
              </a:spcAft>
              <a:buSzPts val="1800"/>
              <a:buChar char="●"/>
            </a:pPr>
            <a:r>
              <a:rPr lang="en-US" sz="1800"/>
              <a:t>Click on “Details”</a:t>
            </a:r>
            <a:r>
              <a:rPr b="1" lang="en-US" sz="1800"/>
              <a:t> </a:t>
            </a:r>
            <a:r>
              <a:rPr lang="en-US" sz="1800"/>
              <a:t>in the top left</a:t>
            </a:r>
            <a:r>
              <a:rPr b="1" lang="en-US" sz="1800"/>
              <a:t> </a:t>
            </a:r>
            <a:r>
              <a:rPr lang="en-US" sz="1800"/>
              <a:t>and then click on “Content.” </a:t>
            </a:r>
            <a:endParaRPr sz="1800"/>
          </a:p>
          <a:p>
            <a:pPr indent="-342900" lvl="0" marL="457200" rtl="0" algn="l">
              <a:lnSpc>
                <a:spcPct val="115000"/>
              </a:lnSpc>
              <a:spcBef>
                <a:spcPts val="0"/>
              </a:spcBef>
              <a:spcAft>
                <a:spcPts val="0"/>
              </a:spcAft>
              <a:buSzPts val="1800"/>
              <a:buChar char="●"/>
            </a:pPr>
            <a:r>
              <a:rPr lang="en-US" sz="1800"/>
              <a:t>Click on the right-pointing arrow next to “Smart Location Database” to reveal the drop-down menu. </a:t>
            </a:r>
            <a:endParaRPr sz="1800"/>
          </a:p>
          <a:p>
            <a:pPr indent="-342900" lvl="0" marL="457200" rtl="0" algn="l">
              <a:lnSpc>
                <a:spcPct val="115000"/>
              </a:lnSpc>
              <a:spcBef>
                <a:spcPts val="0"/>
              </a:spcBef>
              <a:spcAft>
                <a:spcPts val="0"/>
              </a:spcAft>
              <a:buSzPts val="1800"/>
              <a:buChar char="●"/>
            </a:pPr>
            <a:r>
              <a:rPr lang="en-US" sz="1800"/>
              <a:t>Check the the “Land use diversity” tab box. The map will adjust to show a color-coded view of the data.</a:t>
            </a:r>
            <a:endParaRPr sz="1800"/>
          </a:p>
          <a:p>
            <a:pPr indent="-342900" lvl="0" marL="457200" rtl="0" algn="l">
              <a:lnSpc>
                <a:spcPct val="115000"/>
              </a:lnSpc>
              <a:spcBef>
                <a:spcPts val="0"/>
              </a:spcBef>
              <a:spcAft>
                <a:spcPts val="0"/>
              </a:spcAft>
              <a:buSzPts val="1800"/>
              <a:buChar char="●"/>
            </a:pPr>
            <a:r>
              <a:rPr lang="en-US" sz="1800"/>
              <a:t>Click on “Legend” in the top left. Cross-reference color(s) in the project area with the color/number range in the map key.</a:t>
            </a:r>
            <a:endParaRPr sz="1800"/>
          </a:p>
          <a:p>
            <a:pPr indent="-342900" lvl="1" marL="914400" rtl="0" algn="l">
              <a:lnSpc>
                <a:spcPct val="115000"/>
              </a:lnSpc>
              <a:spcBef>
                <a:spcPts val="0"/>
              </a:spcBef>
              <a:spcAft>
                <a:spcPts val="0"/>
              </a:spcAft>
              <a:buSzPts val="1800"/>
              <a:buChar char="○"/>
            </a:pPr>
            <a:r>
              <a:rPr lang="en-US" sz="1800"/>
              <a:t>If the project area straddles multiple color-coded zones, calculate the average. If this average is a whole number, the points assigned should be the average of the two values associated with that whole number.</a:t>
            </a:r>
            <a:endParaRPr sz="1800"/>
          </a:p>
          <a:p>
            <a:pPr indent="-342900" lvl="0" marL="457200" rtl="0" algn="l">
              <a:lnSpc>
                <a:spcPct val="115000"/>
              </a:lnSpc>
              <a:spcBef>
                <a:spcPts val="0"/>
              </a:spcBef>
              <a:spcAft>
                <a:spcPts val="0"/>
              </a:spcAft>
              <a:buSzPts val="1800"/>
              <a:buChar char="●"/>
            </a:pPr>
            <a:r>
              <a:rPr lang="en-US" sz="1800"/>
              <a:t>Record the corresponding points.</a:t>
            </a:r>
            <a:endParaRPr sz="1800"/>
          </a:p>
          <a:p>
            <a:pPr indent="0" lvl="0" marL="0" rtl="0" algn="l">
              <a:lnSpc>
                <a:spcPct val="115000"/>
              </a:lnSpc>
              <a:spcBef>
                <a:spcPts val="1000"/>
              </a:spcBef>
              <a:spcAft>
                <a:spcPts val="0"/>
              </a:spcAft>
              <a:buSzPts val="1800"/>
              <a:buNone/>
            </a:pPr>
            <a:r>
              <a:t/>
            </a:r>
            <a:endParaRPr sz="1400"/>
          </a:p>
          <a:p>
            <a:pPr indent="0" lvl="0" marL="45720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p:txBody>
      </p:sp>
      <p:sp>
        <p:nvSpPr>
          <p:cNvPr id="269" name="Google Shape;269;g783ce67ac1_0_5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
          <p:cNvSpPr/>
          <p:nvPr/>
        </p:nvSpPr>
        <p:spPr>
          <a:xfrm>
            <a:off x="1157416" y="120134"/>
            <a:ext cx="454316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275" name="Google Shape;275;p4"/>
          <p:cNvGraphicFramePr/>
          <p:nvPr/>
        </p:nvGraphicFramePr>
        <p:xfrm>
          <a:off x="118579" y="878883"/>
          <a:ext cx="3000000" cy="3000000"/>
        </p:xfrm>
        <a:graphic>
          <a:graphicData uri="http://schemas.openxmlformats.org/drawingml/2006/table">
            <a:tbl>
              <a:tblPr bandRow="1" firstRow="1">
                <a:noFill/>
                <a:tableStyleId>{DA7E6E65-D877-46FA-B78E-C062FE7EB15C}</a:tableStyleId>
              </a:tblPr>
              <a:tblGrid>
                <a:gridCol w="5435175"/>
                <a:gridCol w="697700"/>
                <a:gridCol w="475700"/>
              </a:tblGrid>
              <a:tr h="3882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21495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S1Q7: </a:t>
                      </a:r>
                      <a:r>
                        <a:rPr b="0" i="0" lang="en-US" sz="1100" u="none" cap="none" strike="noStrike"/>
                        <a:t>How many housing units + jobs per acre in the area?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3">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Density:    0-10                10-25                     25-50                     50-100               100+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solidFill>
                      <a:srgbClr val="00FF00"/>
                    </a:solidFill>
                  </a:tcPr>
                </a:tc>
              </a:tr>
              <a:tr h="1313600">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S1Q8: </a:t>
                      </a:r>
                      <a:r>
                        <a:rPr b="0" i="0" lang="en-US" sz="1100" u="none" cap="none" strike="noStrike"/>
                        <a:t>How many schools (CCSD, private, or charter) are in the area and within ½ mile radius?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4">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103392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S1Q9: </a:t>
                      </a:r>
                      <a:r>
                        <a:rPr b="0" i="0" lang="en-US" sz="1100" u="none" cap="none" strike="noStrike"/>
                        <a:t>How many </a:t>
                      </a:r>
                      <a:r>
                        <a:rPr lang="en-US" sz="1100" u="none" cap="none" strike="noStrike"/>
                        <a:t>public parks are</a:t>
                      </a:r>
                      <a:r>
                        <a:rPr b="0" i="0" lang="en-US" sz="1100" u="none" cap="none" strike="noStrike"/>
                        <a:t> in the project area or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5">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12025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S1Q10: </a:t>
                      </a:r>
                      <a:r>
                        <a:rPr b="0" i="0" lang="en-US" sz="1100" u="none" cap="none" strike="noStrike"/>
                        <a:t>How many bus stops are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6">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or more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14138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S1Q11: How many bike streets are in the area or within ¼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(bike streets: use City of Las Vegas data, available here:</a:t>
                      </a:r>
                      <a:endParaRPr b="0" sz="1100" u="none" cap="none" strike="noStrike">
                        <a:solidFill>
                          <a:srgbClr val="0432FF"/>
                        </a:solidFill>
                      </a:endParaRPr>
                    </a:p>
                    <a:p>
                      <a:pPr indent="0" lvl="0" marL="0" marR="0" rtl="0" algn="l">
                        <a:lnSpc>
                          <a:spcPct val="100000"/>
                        </a:lnSpc>
                        <a:spcBef>
                          <a:spcPts val="0"/>
                        </a:spcBef>
                        <a:spcAft>
                          <a:spcPts val="0"/>
                        </a:spcAft>
                        <a:buClr>
                          <a:srgbClr val="0432FF"/>
                        </a:buClr>
                        <a:buSzPts val="1100"/>
                        <a:buFont typeface="Calibri"/>
                        <a:buNone/>
                      </a:pPr>
                      <a:r>
                        <a:rPr lang="en-US" sz="1100" u="sng" cap="none" strike="noStrike">
                          <a:solidFill>
                            <a:srgbClr val="0432FF"/>
                          </a:solidFill>
                          <a:hlinkClick r:id="rId7">
                            <a:extLst>
                              <a:ext uri="{A12FA001-AC4F-418D-AE19-62706E023703}">
                                <ahyp:hlinkClr val="tx"/>
                              </a:ext>
                            </a:extLst>
                          </a:hlinkClick>
                        </a:rPr>
                        <a:t>https://geoview-lasvegasnevada-gov.appspot.com/</a:t>
                      </a:r>
                      <a:r>
                        <a:rPr lang="en-US" sz="1100" u="sng" cap="none" strike="noStrike">
                          <a:solidFill>
                            <a:srgbClr val="0432FF"/>
                          </a:solidFill>
                        </a:rPr>
                        <a:t>)</a:t>
                      </a:r>
                      <a:endParaRPr/>
                    </a:p>
                    <a:p>
                      <a:pPr indent="0" lvl="0" marL="0" marR="0" rtl="0" algn="l">
                        <a:lnSpc>
                          <a:spcPct val="100000"/>
                        </a:lnSpc>
                        <a:spcBef>
                          <a:spcPts val="0"/>
                        </a:spcBef>
                        <a:spcAft>
                          <a:spcPts val="0"/>
                        </a:spcAft>
                        <a:buClr>
                          <a:srgbClr val="0432FF"/>
                        </a:buClr>
                        <a:buSzPts val="1100"/>
                        <a:buFont typeface="Calibri"/>
                        <a:buNone/>
                      </a:pPr>
                      <a:r>
                        <a:t/>
                      </a:r>
                      <a:endParaRPr b="1" i="0" sz="11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4</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/4</a:t>
                      </a:r>
                      <a:endParaRPr sz="1400" u="none" cap="none" strike="noStrike"/>
                    </a:p>
                  </a:txBody>
                  <a:tcPr marT="60950" marB="60950" marR="68575" marL="68575"/>
                </a:tc>
              </a:tr>
              <a:tr h="852875">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1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Low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Medium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High Need</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276" name="Google Shape;276;p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8701af7b45_0_79"/>
          <p:cNvSpPr txBox="1"/>
          <p:nvPr>
            <p:ph type="title"/>
          </p:nvPr>
        </p:nvSpPr>
        <p:spPr>
          <a:xfrm>
            <a:off x="342900" y="959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S1Q7 Instructions</a:t>
            </a:r>
            <a:endParaRPr sz="4000"/>
          </a:p>
        </p:txBody>
      </p:sp>
      <p:sp>
        <p:nvSpPr>
          <p:cNvPr id="283" name="Google Shape;283;g8701af7b45_0_79"/>
          <p:cNvSpPr txBox="1"/>
          <p:nvPr>
            <p:ph idx="1" type="body"/>
          </p:nvPr>
        </p:nvSpPr>
        <p:spPr>
          <a:xfrm>
            <a:off x="342900" y="1010350"/>
            <a:ext cx="6172200" cy="82578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US" sz="1800"/>
              <a:t>Click on the link provided for the U.S. Environmental Protection Agency (EPA) Smart Location database; available </a:t>
            </a:r>
            <a:r>
              <a:rPr lang="en-US" sz="1800" u="sng">
                <a:solidFill>
                  <a:schemeClr val="hlink"/>
                </a:solidFill>
                <a:hlinkClick r:id="rId3"/>
              </a:rPr>
              <a:t>here</a:t>
            </a:r>
            <a:r>
              <a:rPr lang="en-US" sz="1800"/>
              <a:t>.</a:t>
            </a:r>
            <a:endParaRPr sz="1800"/>
          </a:p>
          <a:p>
            <a:pPr indent="-342900" lvl="0" marL="457200" rtl="0" algn="l">
              <a:lnSpc>
                <a:spcPct val="115000"/>
              </a:lnSpc>
              <a:spcBef>
                <a:spcPts val="0"/>
              </a:spcBef>
              <a:spcAft>
                <a:spcPts val="0"/>
              </a:spcAft>
              <a:buSzPts val="1800"/>
              <a:buChar char="●"/>
            </a:pPr>
            <a:r>
              <a:rPr lang="en-US" sz="1800"/>
              <a:t>Under “View In,” select “ArcGIS Online map” </a:t>
            </a:r>
            <a:endParaRPr b="1" i="1" sz="1800"/>
          </a:p>
          <a:p>
            <a:pPr indent="-342900" lvl="0" marL="457200" rtl="0" algn="l">
              <a:lnSpc>
                <a:spcPct val="115000"/>
              </a:lnSpc>
              <a:spcBef>
                <a:spcPts val="0"/>
              </a:spcBef>
              <a:spcAft>
                <a:spcPts val="0"/>
              </a:spcAft>
              <a:buSzPts val="1800"/>
              <a:buChar char="●"/>
            </a:pPr>
            <a:r>
              <a:rPr lang="en-US" sz="1800"/>
              <a:t>Enter the address for project area inside the text box on the top right.</a:t>
            </a:r>
            <a:endParaRPr b="1" i="1" sz="1800"/>
          </a:p>
          <a:p>
            <a:pPr indent="-342900" lvl="0" marL="457200" rtl="0" algn="l">
              <a:lnSpc>
                <a:spcPct val="115000"/>
              </a:lnSpc>
              <a:spcBef>
                <a:spcPts val="0"/>
              </a:spcBef>
              <a:spcAft>
                <a:spcPts val="0"/>
              </a:spcAft>
              <a:buSzPts val="1800"/>
              <a:buChar char="●"/>
            </a:pPr>
            <a:r>
              <a:rPr lang="en-US" sz="1800"/>
              <a:t>On the left, click on “Basemap” and select “Imagery Hybrid.”</a:t>
            </a:r>
            <a:endParaRPr sz="1800"/>
          </a:p>
          <a:p>
            <a:pPr indent="-342900" lvl="0" marL="457200" rtl="0" algn="l">
              <a:lnSpc>
                <a:spcPct val="115000"/>
              </a:lnSpc>
              <a:spcBef>
                <a:spcPts val="0"/>
              </a:spcBef>
              <a:spcAft>
                <a:spcPts val="0"/>
              </a:spcAft>
              <a:buSzPts val="1800"/>
              <a:buChar char="●"/>
            </a:pPr>
            <a:r>
              <a:rPr lang="en-US" sz="1800"/>
              <a:t>Click on “Details”</a:t>
            </a:r>
            <a:r>
              <a:rPr b="1" lang="en-US" sz="1800"/>
              <a:t> </a:t>
            </a:r>
            <a:r>
              <a:rPr lang="en-US" sz="1800"/>
              <a:t>in the top left</a:t>
            </a:r>
            <a:r>
              <a:rPr b="1" lang="en-US" sz="1800"/>
              <a:t> </a:t>
            </a:r>
            <a:r>
              <a:rPr lang="en-US" sz="1800"/>
              <a:t>and then click on “Content.” </a:t>
            </a:r>
            <a:endParaRPr sz="1800"/>
          </a:p>
          <a:p>
            <a:pPr indent="-342900" lvl="0" marL="457200" rtl="0" algn="l">
              <a:lnSpc>
                <a:spcPct val="115000"/>
              </a:lnSpc>
              <a:spcBef>
                <a:spcPts val="0"/>
              </a:spcBef>
              <a:spcAft>
                <a:spcPts val="0"/>
              </a:spcAft>
              <a:buSzPts val="1800"/>
              <a:buChar char="●"/>
            </a:pPr>
            <a:r>
              <a:rPr lang="en-US" sz="1800"/>
              <a:t>Click on the right-pointing arrow next to “Smart Location Database” to reveal the drop down menu. </a:t>
            </a:r>
            <a:endParaRPr sz="1800"/>
          </a:p>
          <a:p>
            <a:pPr indent="-342900" lvl="0" marL="457200" rtl="0" algn="l">
              <a:lnSpc>
                <a:spcPct val="115000"/>
              </a:lnSpc>
              <a:spcBef>
                <a:spcPts val="0"/>
              </a:spcBef>
              <a:spcAft>
                <a:spcPts val="0"/>
              </a:spcAft>
              <a:buSzPts val="1800"/>
              <a:buChar char="●"/>
            </a:pPr>
            <a:r>
              <a:rPr lang="en-US" sz="1100">
                <a:latin typeface="Times New Roman"/>
                <a:ea typeface="Times New Roman"/>
                <a:cs typeface="Times New Roman"/>
                <a:sym typeface="Times New Roman"/>
              </a:rPr>
              <a:t> </a:t>
            </a:r>
            <a:r>
              <a:rPr lang="en-US" sz="1800"/>
              <a:t>Check the the “Activity Density” tab box. The map will adjust to show a color-coded view of the data.</a:t>
            </a:r>
            <a:endParaRPr sz="1800"/>
          </a:p>
          <a:p>
            <a:pPr indent="-342900" lvl="0" marL="457200" rtl="0" algn="l">
              <a:lnSpc>
                <a:spcPct val="115000"/>
              </a:lnSpc>
              <a:spcBef>
                <a:spcPts val="0"/>
              </a:spcBef>
              <a:spcAft>
                <a:spcPts val="0"/>
              </a:spcAft>
              <a:buSzPts val="1800"/>
              <a:buChar char="●"/>
            </a:pPr>
            <a:r>
              <a:rPr lang="en-US" sz="1800"/>
              <a:t>Click on “Legend” in the top left. Cross-reference color(s) in the project area with the color/number range in the map key.</a:t>
            </a:r>
            <a:endParaRPr sz="1800"/>
          </a:p>
          <a:p>
            <a:pPr indent="-342900" lvl="1" marL="914400" rtl="0" algn="l">
              <a:lnSpc>
                <a:spcPct val="115000"/>
              </a:lnSpc>
              <a:spcBef>
                <a:spcPts val="0"/>
              </a:spcBef>
              <a:spcAft>
                <a:spcPts val="0"/>
              </a:spcAft>
              <a:buSzPts val="1800"/>
              <a:buChar char="○"/>
            </a:pPr>
            <a:r>
              <a:rPr lang="en-US" sz="1800"/>
              <a:t>If the project area straddles multiple color-coded zones, calculate the average.  </a:t>
            </a:r>
            <a:endParaRPr sz="1800"/>
          </a:p>
          <a:p>
            <a:pPr indent="-342900" lvl="0" marL="457200" rtl="0" algn="l">
              <a:lnSpc>
                <a:spcPct val="115000"/>
              </a:lnSpc>
              <a:spcBef>
                <a:spcPts val="0"/>
              </a:spcBef>
              <a:spcAft>
                <a:spcPts val="0"/>
              </a:spcAft>
              <a:buSzPts val="1800"/>
              <a:buChar char="●"/>
            </a:pPr>
            <a:r>
              <a:rPr lang="en-US" sz="1800"/>
              <a:t>Record the corresponding points.</a:t>
            </a:r>
            <a:endParaRPr sz="1800"/>
          </a:p>
          <a:p>
            <a:pPr indent="0" lvl="0" marL="0" rtl="0" algn="l">
              <a:lnSpc>
                <a:spcPct val="115000"/>
              </a:lnSpc>
              <a:spcBef>
                <a:spcPts val="1000"/>
              </a:spcBef>
              <a:spcAft>
                <a:spcPts val="0"/>
              </a:spcAft>
              <a:buSzPts val="1800"/>
              <a:buNone/>
            </a:pPr>
            <a:r>
              <a:t/>
            </a:r>
            <a:endParaRPr sz="1400"/>
          </a:p>
          <a:p>
            <a:pPr indent="0" lvl="0" marL="457200" rtl="0" algn="l">
              <a:lnSpc>
                <a:spcPct val="115000"/>
              </a:lnSpc>
              <a:spcBef>
                <a:spcPts val="0"/>
              </a:spcBef>
              <a:spcAft>
                <a:spcPts val="0"/>
              </a:spcAft>
              <a:buSzPts val="1800"/>
              <a:buNone/>
            </a:pPr>
            <a:r>
              <a:t/>
            </a:r>
            <a:endParaRPr sz="1600"/>
          </a:p>
          <a:p>
            <a:pPr indent="0" lvl="0" marL="0" rtl="0" algn="l">
              <a:lnSpc>
                <a:spcPct val="115000"/>
              </a:lnSpc>
              <a:spcBef>
                <a:spcPts val="0"/>
              </a:spcBef>
              <a:spcAft>
                <a:spcPts val="0"/>
              </a:spcAft>
              <a:buSzPts val="1800"/>
              <a:buNone/>
            </a:pPr>
            <a:r>
              <a:t/>
            </a:r>
            <a:endParaRPr sz="1600"/>
          </a:p>
        </p:txBody>
      </p:sp>
      <p:sp>
        <p:nvSpPr>
          <p:cNvPr id="284" name="Google Shape;284;g8701af7b45_0_7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783ce67ac1_0_107"/>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290" name="Google Shape;290;g783ce67ac1_0_107"/>
          <p:cNvGraphicFramePr/>
          <p:nvPr/>
        </p:nvGraphicFramePr>
        <p:xfrm>
          <a:off x="129148" y="747050"/>
          <a:ext cx="3000000" cy="3000000"/>
        </p:xfrm>
        <a:graphic>
          <a:graphicData uri="http://schemas.openxmlformats.org/drawingml/2006/table">
            <a:tbl>
              <a:tblPr bandRow="1" firstRow="1">
                <a:noFill/>
                <a:tableStyleId>{DA7E6E65-D877-46FA-B78E-C062FE7EB15C}</a:tableStyleId>
              </a:tblPr>
              <a:tblGrid>
                <a:gridCol w="5435175"/>
                <a:gridCol w="697700"/>
                <a:gridCol w="475700"/>
              </a:tblGrid>
              <a:tr h="3676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S1Q7: </a:t>
                      </a:r>
                      <a:r>
                        <a:rPr b="0" i="0" lang="en-US" sz="1100" u="none" cap="none" strike="noStrike"/>
                        <a:t>How many housing units + jobs per acre in the area?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3">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Density:    0-10                10-25                     25-50                     50-100               100+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S1Q8: </a:t>
                      </a:r>
                      <a:r>
                        <a:rPr b="0" i="0" lang="en-US" sz="1100" u="none" cap="none" strike="noStrike"/>
                        <a:t>How many schools (CCSD, private, or charter) are in the area and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4">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solidFill>
                      <a:srgbClr val="00FF00"/>
                    </a:solidFill>
                  </a:tcPr>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S1Q9: </a:t>
                      </a:r>
                      <a:r>
                        <a:rPr b="0" i="0" lang="en-US" sz="1100" u="none" cap="none" strike="noStrike"/>
                        <a:t>How many </a:t>
                      </a:r>
                      <a:r>
                        <a:rPr lang="en-US" sz="1100" u="none" cap="none" strike="noStrike"/>
                        <a:t>public parks are</a:t>
                      </a:r>
                      <a:r>
                        <a:rPr b="0" i="0" lang="en-US" sz="1100" u="none" cap="none" strike="noStrike"/>
                        <a:t> in the project area or within ½ mile radi</a:t>
                      </a:r>
                      <a:r>
                        <a:rPr lang="en-US" sz="1100" u="none" cap="none" strike="noStrike"/>
                        <a:t>us</a:t>
                      </a:r>
                      <a:r>
                        <a:rPr b="0" i="0" lang="en-US" sz="1100" u="none" cap="none" strike="noStrike"/>
                        <a:t>?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5">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S1Q10: </a:t>
                      </a:r>
                      <a:r>
                        <a:rPr b="0" i="0" lang="en-US" sz="1100" u="none" cap="none" strike="noStrike"/>
                        <a:t>How many bus stops are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6">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or more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13389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S1Q11: How many bike streets are in the area or within ¼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(bike streets: use City of Las Vegas data, available here:</a:t>
                      </a:r>
                      <a:endParaRPr b="0" sz="1100" u="none" cap="none" strike="noStrike">
                        <a:solidFill>
                          <a:srgbClr val="0432FF"/>
                        </a:solidFill>
                      </a:endParaRPr>
                    </a:p>
                    <a:p>
                      <a:pPr indent="0" lvl="0" marL="0" marR="0" rtl="0" algn="l">
                        <a:lnSpc>
                          <a:spcPct val="100000"/>
                        </a:lnSpc>
                        <a:spcBef>
                          <a:spcPts val="0"/>
                        </a:spcBef>
                        <a:spcAft>
                          <a:spcPts val="0"/>
                        </a:spcAft>
                        <a:buClr>
                          <a:srgbClr val="0432FF"/>
                        </a:buClr>
                        <a:buSzPts val="1100"/>
                        <a:buFont typeface="Calibri"/>
                        <a:buNone/>
                      </a:pPr>
                      <a:r>
                        <a:rPr lang="en-US" sz="1100" u="sng" cap="none" strike="noStrike">
                          <a:solidFill>
                            <a:srgbClr val="0432FF"/>
                          </a:solidFill>
                          <a:hlinkClick r:id="rId7">
                            <a:extLst>
                              <a:ext uri="{A12FA001-AC4F-418D-AE19-62706E023703}">
                                <ahyp:hlinkClr val="tx"/>
                              </a:ext>
                            </a:extLst>
                          </a:hlinkClick>
                        </a:rPr>
                        <a:t>https://geoview-lasvegasnevada-gov.appspot.com/</a:t>
                      </a:r>
                      <a:r>
                        <a:rPr lang="en-US" sz="1100" u="sng" cap="none" strike="noStrike">
                          <a:solidFill>
                            <a:srgbClr val="0432FF"/>
                          </a:solidFill>
                        </a:rPr>
                        <a:t>)</a:t>
                      </a:r>
                      <a:endParaRPr/>
                    </a:p>
                    <a:p>
                      <a:pPr indent="0" lvl="0" marL="0" marR="0" rtl="0" algn="l">
                        <a:lnSpc>
                          <a:spcPct val="100000"/>
                        </a:lnSpc>
                        <a:spcBef>
                          <a:spcPts val="0"/>
                        </a:spcBef>
                        <a:spcAft>
                          <a:spcPts val="0"/>
                        </a:spcAft>
                        <a:buClr>
                          <a:schemeClr val="dk1"/>
                        </a:buClr>
                        <a:buSzPts val="1100"/>
                        <a:buFont typeface="Calibri"/>
                        <a:buNone/>
                      </a:pPr>
                      <a:r>
                        <a:t/>
                      </a:r>
                      <a:endParaRPr b="1" i="0" sz="11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4</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/4</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1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Low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Medium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High Need</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291" name="Google Shape;291;g783ce67ac1_0_10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783ce67ac1_0_114"/>
          <p:cNvSpPr txBox="1"/>
          <p:nvPr>
            <p:ph type="title"/>
          </p:nvPr>
        </p:nvSpPr>
        <p:spPr>
          <a:xfrm>
            <a:off x="342900" y="959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S1Q8 Instructions</a:t>
            </a:r>
            <a:endParaRPr sz="4000"/>
          </a:p>
        </p:txBody>
      </p:sp>
      <p:sp>
        <p:nvSpPr>
          <p:cNvPr id="298" name="Google Shape;298;g783ce67ac1_0_114"/>
          <p:cNvSpPr txBox="1"/>
          <p:nvPr>
            <p:ph idx="1" type="body"/>
          </p:nvPr>
        </p:nvSpPr>
        <p:spPr>
          <a:xfrm>
            <a:off x="342900" y="953200"/>
            <a:ext cx="6172200" cy="82578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US" sz="1700"/>
              <a:t>Click on the link for the City of Las Vegas GeoView data, available</a:t>
            </a:r>
            <a:r>
              <a:rPr lang="en-US" sz="1400">
                <a:latin typeface="Arial"/>
                <a:ea typeface="Arial"/>
                <a:cs typeface="Arial"/>
                <a:sym typeface="Arial"/>
              </a:rPr>
              <a:t> </a:t>
            </a:r>
            <a:r>
              <a:rPr lang="en-US" sz="1400" u="sng">
                <a:solidFill>
                  <a:schemeClr val="hlink"/>
                </a:solidFill>
                <a:latin typeface="Arial"/>
                <a:ea typeface="Arial"/>
                <a:cs typeface="Arial"/>
                <a:sym typeface="Arial"/>
                <a:hlinkClick r:id="rId3"/>
              </a:rPr>
              <a:t>h</a:t>
            </a:r>
            <a:r>
              <a:rPr lang="en-US" sz="1700" u="sng">
                <a:solidFill>
                  <a:schemeClr val="hlink"/>
                </a:solidFill>
                <a:hlinkClick r:id="rId4"/>
              </a:rPr>
              <a:t>ere</a:t>
            </a:r>
            <a:r>
              <a:rPr lang="en-US" sz="1700"/>
              <a:t>. </a:t>
            </a:r>
            <a:endParaRPr sz="1700"/>
          </a:p>
          <a:p>
            <a:pPr indent="-336550" lvl="0" marL="457200" rtl="0" algn="l">
              <a:lnSpc>
                <a:spcPct val="115000"/>
              </a:lnSpc>
              <a:spcBef>
                <a:spcPts val="0"/>
              </a:spcBef>
              <a:spcAft>
                <a:spcPts val="0"/>
              </a:spcAft>
              <a:buSzPts val="1700"/>
              <a:buChar char="●"/>
            </a:pPr>
            <a:r>
              <a:rPr lang="en-US" sz="1700"/>
              <a:t>Enter the address for project area inside the text box in the top left corner.</a:t>
            </a:r>
            <a:endParaRPr sz="1700"/>
          </a:p>
          <a:p>
            <a:pPr indent="-336550" lvl="0" marL="457200" rtl="0" algn="l">
              <a:lnSpc>
                <a:spcPct val="115000"/>
              </a:lnSpc>
              <a:spcBef>
                <a:spcPts val="0"/>
              </a:spcBef>
              <a:spcAft>
                <a:spcPts val="0"/>
              </a:spcAft>
              <a:buSzPts val="1700"/>
              <a:buChar char="●"/>
            </a:pPr>
            <a:r>
              <a:rPr lang="en-US" sz="1700"/>
              <a:t>Click on “Layers</a:t>
            </a:r>
            <a:r>
              <a:rPr b="1" lang="en-US" sz="1700"/>
              <a:t>”</a:t>
            </a:r>
            <a:r>
              <a:rPr lang="en-US" sz="1700"/>
              <a:t> under the address bar.</a:t>
            </a:r>
            <a:endParaRPr sz="1700"/>
          </a:p>
          <a:p>
            <a:pPr indent="-336550" lvl="0" marL="457200" rtl="0" algn="l">
              <a:lnSpc>
                <a:spcPct val="115000"/>
              </a:lnSpc>
              <a:spcBef>
                <a:spcPts val="0"/>
              </a:spcBef>
              <a:spcAft>
                <a:spcPts val="0"/>
              </a:spcAft>
              <a:buSzPts val="1700"/>
              <a:buChar char="●"/>
            </a:pPr>
            <a:r>
              <a:rPr lang="en-US" sz="1700"/>
              <a:t>Click on the right-pointing arrow next to “Community Services.”</a:t>
            </a:r>
            <a:endParaRPr sz="1700"/>
          </a:p>
          <a:p>
            <a:pPr indent="-336550" lvl="0" marL="457200" rtl="0" algn="l">
              <a:lnSpc>
                <a:spcPct val="100000"/>
              </a:lnSpc>
              <a:spcBef>
                <a:spcPts val="0"/>
              </a:spcBef>
              <a:spcAft>
                <a:spcPts val="0"/>
              </a:spcAft>
              <a:buSzPts val="1700"/>
              <a:buChar char="●"/>
            </a:pPr>
            <a:r>
              <a:rPr lang="en-US" sz="1700"/>
              <a:t>Check the following boxes: “CCSD Schools,” “Charter Schools,” &amp;  “Private Schools”</a:t>
            </a:r>
            <a:endParaRPr sz="1700"/>
          </a:p>
          <a:p>
            <a:pPr indent="-336550" lvl="0" marL="457200" rtl="0" algn="l">
              <a:lnSpc>
                <a:spcPct val="100000"/>
              </a:lnSpc>
              <a:spcBef>
                <a:spcPts val="0"/>
              </a:spcBef>
              <a:spcAft>
                <a:spcPts val="0"/>
              </a:spcAft>
              <a:buSzPts val="1700"/>
              <a:buChar char="●"/>
            </a:pPr>
            <a:r>
              <a:rPr lang="en-US" sz="1700"/>
              <a:t>Click on “Legend”</a:t>
            </a:r>
            <a:endParaRPr sz="1700"/>
          </a:p>
          <a:p>
            <a:pPr indent="-336550" lvl="0" marL="457200" rtl="0" algn="l">
              <a:lnSpc>
                <a:spcPct val="100000"/>
              </a:lnSpc>
              <a:spcBef>
                <a:spcPts val="0"/>
              </a:spcBef>
              <a:spcAft>
                <a:spcPts val="0"/>
              </a:spcAft>
              <a:buSzPts val="1700"/>
              <a:buChar char="●"/>
            </a:pPr>
            <a:r>
              <a:rPr lang="en-US" sz="1700"/>
              <a:t>Review the map symbols for each selection. This key will show how each selection is displayed on the interactive web map.</a:t>
            </a:r>
            <a:endParaRPr sz="1700"/>
          </a:p>
          <a:p>
            <a:pPr indent="-336550" lvl="0" marL="457200" rtl="0" algn="l">
              <a:lnSpc>
                <a:spcPct val="100000"/>
              </a:lnSpc>
              <a:spcBef>
                <a:spcPts val="0"/>
              </a:spcBef>
              <a:spcAft>
                <a:spcPts val="0"/>
              </a:spcAft>
              <a:buSzPts val="1700"/>
              <a:buChar char="●"/>
            </a:pPr>
            <a:r>
              <a:rPr lang="en-US" sz="1700"/>
              <a:t>Zoom in and out as needed to see all schools within ½ mile.</a:t>
            </a:r>
            <a:endParaRPr sz="1700"/>
          </a:p>
          <a:p>
            <a:pPr indent="-336550" lvl="0" marL="457200" rtl="0" algn="l">
              <a:lnSpc>
                <a:spcPct val="100000"/>
              </a:lnSpc>
              <a:spcBef>
                <a:spcPts val="0"/>
              </a:spcBef>
              <a:spcAft>
                <a:spcPts val="0"/>
              </a:spcAft>
              <a:buSzPts val="1700"/>
              <a:buChar char="●"/>
            </a:pPr>
            <a:r>
              <a:rPr lang="en-US" sz="1700"/>
              <a:t>Measurement Steps:</a:t>
            </a:r>
            <a:endParaRPr sz="1700"/>
          </a:p>
          <a:p>
            <a:pPr indent="-336550" lvl="1" marL="914400" rtl="0" algn="l">
              <a:lnSpc>
                <a:spcPct val="100000"/>
              </a:lnSpc>
              <a:spcBef>
                <a:spcPts val="0"/>
              </a:spcBef>
              <a:spcAft>
                <a:spcPts val="0"/>
              </a:spcAft>
              <a:buSzPts val="1700"/>
              <a:buChar char="○"/>
            </a:pPr>
            <a:r>
              <a:rPr lang="en-US" sz="1700"/>
              <a:t>Select the ruler icon for the “Measure Tool” in the top right corner. A window will pop-up with instructions for using it.  </a:t>
            </a:r>
            <a:endParaRPr b="1" sz="1700"/>
          </a:p>
          <a:p>
            <a:pPr indent="-336550" lvl="1" marL="914400" rtl="0" algn="l">
              <a:lnSpc>
                <a:spcPct val="100000"/>
              </a:lnSpc>
              <a:spcBef>
                <a:spcPts val="0"/>
              </a:spcBef>
              <a:spcAft>
                <a:spcPts val="0"/>
              </a:spcAft>
              <a:buSzPts val="1700"/>
              <a:buChar char="○"/>
            </a:pPr>
            <a:r>
              <a:rPr lang="en-US" sz="1700"/>
              <a:t>Change the unit of measurement in the text box that says “Length” to “Miles.” </a:t>
            </a:r>
            <a:endParaRPr sz="1700"/>
          </a:p>
          <a:p>
            <a:pPr indent="-336550" lvl="1" marL="914400" rtl="0" algn="l">
              <a:lnSpc>
                <a:spcPct val="100000"/>
              </a:lnSpc>
              <a:spcBef>
                <a:spcPts val="0"/>
              </a:spcBef>
              <a:spcAft>
                <a:spcPts val="0"/>
              </a:spcAft>
              <a:buSzPts val="1700"/>
              <a:buChar char="○"/>
            </a:pPr>
            <a:r>
              <a:rPr lang="en-US" sz="1700"/>
              <a:t>For each CCSD, charter, and private school use the “Measure tool” to see how far the school is from the closest edge of the project. </a:t>
            </a:r>
            <a:endParaRPr sz="1700"/>
          </a:p>
          <a:p>
            <a:pPr indent="-336550" lvl="1" marL="914400" rtl="0" algn="l">
              <a:lnSpc>
                <a:spcPct val="100000"/>
              </a:lnSpc>
              <a:spcBef>
                <a:spcPts val="0"/>
              </a:spcBef>
              <a:spcAft>
                <a:spcPts val="0"/>
              </a:spcAft>
              <a:buSzPts val="1700"/>
              <a:buChar char="○"/>
            </a:pPr>
            <a:r>
              <a:rPr lang="en-US" sz="1700"/>
              <a:t>Note the total number of CCSD, charter, and private schools within ½ mile.</a:t>
            </a:r>
            <a:endParaRPr sz="1700"/>
          </a:p>
          <a:p>
            <a:pPr indent="-336550" lvl="1" marL="914400" rtl="0" algn="l">
              <a:lnSpc>
                <a:spcPct val="100000"/>
              </a:lnSpc>
              <a:spcBef>
                <a:spcPts val="0"/>
              </a:spcBef>
              <a:spcAft>
                <a:spcPts val="0"/>
              </a:spcAft>
              <a:buSzPts val="1700"/>
              <a:buChar char="○"/>
            </a:pPr>
            <a:r>
              <a:rPr lang="en-US" sz="1700"/>
              <a:t>Record the associated points.</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t>Click on the ‘X’ icon (above), select the Toggle Sidebar and the “Layers/Legend” menu will re-appear.</a:t>
            </a:r>
            <a:endParaRPr sz="1700"/>
          </a:p>
          <a:p>
            <a:pPr indent="0" lvl="0" marL="0" rtl="0" algn="l">
              <a:lnSpc>
                <a:spcPct val="100000"/>
              </a:lnSpc>
              <a:spcBef>
                <a:spcPts val="100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600"/>
          </a:p>
        </p:txBody>
      </p:sp>
      <p:sp>
        <p:nvSpPr>
          <p:cNvPr id="299" name="Google Shape;299;g783ce67ac1_0_11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783ce67ac1_0_152"/>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305" name="Google Shape;305;g783ce67ac1_0_152"/>
          <p:cNvGraphicFramePr/>
          <p:nvPr/>
        </p:nvGraphicFramePr>
        <p:xfrm>
          <a:off x="63159" y="643353"/>
          <a:ext cx="3000000" cy="3000000"/>
        </p:xfrm>
        <a:graphic>
          <a:graphicData uri="http://schemas.openxmlformats.org/drawingml/2006/table">
            <a:tbl>
              <a:tblPr bandRow="1" firstRow="1">
                <a:noFill/>
                <a:tableStyleId>{DA7E6E65-D877-46FA-B78E-C062FE7EB15C}</a:tableStyleId>
              </a:tblPr>
              <a:tblGrid>
                <a:gridCol w="5435175"/>
                <a:gridCol w="697700"/>
                <a:gridCol w="475700"/>
              </a:tblGrid>
              <a:tr h="3676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S1Q7: </a:t>
                      </a:r>
                      <a:r>
                        <a:rPr b="0" i="0" lang="en-US" sz="1100" u="none" cap="none" strike="noStrike"/>
                        <a:t>How many housing units + jobs per acre in the area?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3">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Density:    0-10                10-25                     25-50                     50-100               100+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S1Q8: </a:t>
                      </a:r>
                      <a:r>
                        <a:rPr b="0" i="0" lang="en-US" sz="1100" u="none" cap="none" strike="noStrike"/>
                        <a:t>How many schools (CCSD, private, or charter) are in the area and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4">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S1Q9: </a:t>
                      </a:r>
                      <a:r>
                        <a:rPr b="0" i="0" lang="en-US" sz="1100" u="none" cap="none" strike="noStrike"/>
                        <a:t>How many p</a:t>
                      </a:r>
                      <a:r>
                        <a:rPr lang="en-US" sz="1100" u="none" cap="none" strike="noStrike"/>
                        <a:t>ublic parks are </a:t>
                      </a:r>
                      <a:r>
                        <a:rPr b="0" i="0" lang="en-US" sz="1100" u="none" cap="none" strike="noStrike"/>
                        <a:t>in the project area or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5">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solidFill>
                      <a:srgbClr val="00FF00"/>
                    </a:solidFill>
                  </a:tcPr>
                </a:tc>
              </a:tr>
              <a:tr h="96312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S1Q10: </a:t>
                      </a:r>
                      <a:r>
                        <a:rPr b="0" i="0" lang="en-US" sz="1100" u="none" cap="none" strike="noStrike"/>
                        <a:t>How many bus stops are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6">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or more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13389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S1Q11: How many bike streets are in the area or within ¼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(bike streets: use City of Las Vegas data, available here:</a:t>
                      </a:r>
                      <a:endParaRPr b="0" sz="1100" u="none" cap="none" strike="noStrike">
                        <a:solidFill>
                          <a:srgbClr val="0432FF"/>
                        </a:solidFill>
                      </a:endParaRPr>
                    </a:p>
                    <a:p>
                      <a:pPr indent="0" lvl="0" marL="0" marR="0" rtl="0" algn="l">
                        <a:lnSpc>
                          <a:spcPct val="100000"/>
                        </a:lnSpc>
                        <a:spcBef>
                          <a:spcPts val="0"/>
                        </a:spcBef>
                        <a:spcAft>
                          <a:spcPts val="0"/>
                        </a:spcAft>
                        <a:buClr>
                          <a:srgbClr val="0432FF"/>
                        </a:buClr>
                        <a:buSzPts val="1100"/>
                        <a:buFont typeface="Calibri"/>
                        <a:buNone/>
                      </a:pPr>
                      <a:r>
                        <a:rPr lang="en-US" sz="1100" u="sng" cap="none" strike="noStrike">
                          <a:solidFill>
                            <a:srgbClr val="0432FF"/>
                          </a:solidFill>
                          <a:hlinkClick r:id="rId7">
                            <a:extLst>
                              <a:ext uri="{A12FA001-AC4F-418D-AE19-62706E023703}">
                                <ahyp:hlinkClr val="tx"/>
                              </a:ext>
                            </a:extLst>
                          </a:hlinkClick>
                        </a:rPr>
                        <a:t>https://geoview-lasvegasnevada-gov.appspot.com/</a:t>
                      </a:r>
                      <a:r>
                        <a:rPr lang="en-US" sz="1100" u="sng" cap="none" strike="noStrike">
                          <a:solidFill>
                            <a:srgbClr val="0432FF"/>
                          </a:solidFill>
                        </a:rPr>
                        <a:t>)</a:t>
                      </a:r>
                      <a:endParaRPr/>
                    </a:p>
                    <a:p>
                      <a:pPr indent="0" lvl="0" marL="0" marR="0" rtl="0" algn="l">
                        <a:lnSpc>
                          <a:spcPct val="100000"/>
                        </a:lnSpc>
                        <a:spcBef>
                          <a:spcPts val="0"/>
                        </a:spcBef>
                        <a:spcAft>
                          <a:spcPts val="0"/>
                        </a:spcAft>
                        <a:buClr>
                          <a:srgbClr val="0432FF"/>
                        </a:buClr>
                        <a:buSzPts val="1100"/>
                        <a:buFont typeface="Calibri"/>
                        <a:buNone/>
                      </a:pPr>
                      <a:r>
                        <a:t/>
                      </a:r>
                      <a:endParaRPr b="1" i="0" sz="11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4</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/4</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1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Low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Medium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High Need</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306" name="Google Shape;306;g783ce67ac1_0_15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783ce67ac1_0_159"/>
          <p:cNvSpPr txBox="1"/>
          <p:nvPr>
            <p:ph type="title"/>
          </p:nvPr>
        </p:nvSpPr>
        <p:spPr>
          <a:xfrm>
            <a:off x="342900" y="2146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S1Q9 Instructions</a:t>
            </a:r>
            <a:endParaRPr sz="4000"/>
          </a:p>
        </p:txBody>
      </p:sp>
      <p:sp>
        <p:nvSpPr>
          <p:cNvPr id="313" name="Google Shape;313;g783ce67ac1_0_159"/>
          <p:cNvSpPr txBox="1"/>
          <p:nvPr>
            <p:ph idx="1" type="body"/>
          </p:nvPr>
        </p:nvSpPr>
        <p:spPr>
          <a:xfrm>
            <a:off x="342900" y="938550"/>
            <a:ext cx="6172200" cy="72669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SzPts val="1800"/>
              <a:buChar char="●"/>
            </a:pPr>
            <a:r>
              <a:rPr lang="en-US" sz="1700"/>
              <a:t>Click on the link for the City of Las Vegas GeoView data, available</a:t>
            </a:r>
            <a:r>
              <a:rPr lang="en-US" sz="1400">
                <a:latin typeface="Arial"/>
                <a:ea typeface="Arial"/>
                <a:cs typeface="Arial"/>
                <a:sym typeface="Arial"/>
              </a:rPr>
              <a:t> </a:t>
            </a:r>
            <a:r>
              <a:rPr lang="en-US" sz="1400" u="sng">
                <a:solidFill>
                  <a:schemeClr val="hlink"/>
                </a:solidFill>
                <a:latin typeface="Arial"/>
                <a:ea typeface="Arial"/>
                <a:cs typeface="Arial"/>
                <a:sym typeface="Arial"/>
                <a:hlinkClick r:id="rId3"/>
              </a:rPr>
              <a:t>h</a:t>
            </a:r>
            <a:r>
              <a:rPr lang="en-US" sz="1700" u="sng">
                <a:solidFill>
                  <a:schemeClr val="hlink"/>
                </a:solidFill>
                <a:hlinkClick r:id="rId4"/>
              </a:rPr>
              <a:t>ere</a:t>
            </a:r>
            <a:r>
              <a:rPr lang="en-US" sz="1700"/>
              <a:t>. </a:t>
            </a:r>
            <a:endParaRPr sz="1700"/>
          </a:p>
          <a:p>
            <a:pPr indent="-336550" lvl="0" marL="457200" rtl="0" algn="l">
              <a:lnSpc>
                <a:spcPct val="115000"/>
              </a:lnSpc>
              <a:spcBef>
                <a:spcPts val="0"/>
              </a:spcBef>
              <a:spcAft>
                <a:spcPts val="0"/>
              </a:spcAft>
              <a:buSzPts val="1700"/>
              <a:buChar char="●"/>
            </a:pPr>
            <a:r>
              <a:rPr lang="en-US" sz="1700"/>
              <a:t>Enter the address for project area inside the text box in the top right corner.</a:t>
            </a:r>
            <a:endParaRPr sz="1700"/>
          </a:p>
          <a:p>
            <a:pPr indent="-336550" lvl="0" marL="457200" rtl="0" algn="l">
              <a:lnSpc>
                <a:spcPct val="115000"/>
              </a:lnSpc>
              <a:spcBef>
                <a:spcPts val="0"/>
              </a:spcBef>
              <a:spcAft>
                <a:spcPts val="0"/>
              </a:spcAft>
              <a:buSzPts val="1700"/>
              <a:buChar char="●"/>
            </a:pPr>
            <a:r>
              <a:rPr lang="en-US" sz="1700"/>
              <a:t>Click on “Layers</a:t>
            </a:r>
            <a:r>
              <a:rPr b="1" lang="en-US" sz="1700"/>
              <a:t>”</a:t>
            </a:r>
            <a:r>
              <a:rPr lang="en-US" sz="1700"/>
              <a:t> under the address bar.</a:t>
            </a:r>
            <a:endParaRPr sz="1700"/>
          </a:p>
          <a:p>
            <a:pPr indent="-336550" lvl="0" marL="457200" rtl="0" algn="l">
              <a:lnSpc>
                <a:spcPct val="115000"/>
              </a:lnSpc>
              <a:spcBef>
                <a:spcPts val="0"/>
              </a:spcBef>
              <a:spcAft>
                <a:spcPts val="0"/>
              </a:spcAft>
              <a:buSzPts val="1700"/>
              <a:buChar char="●"/>
            </a:pPr>
            <a:r>
              <a:rPr lang="en-US" sz="1700"/>
              <a:t>Click on the right-pointing arrow next to “Community Services.”</a:t>
            </a:r>
            <a:endParaRPr sz="1700"/>
          </a:p>
          <a:p>
            <a:pPr indent="-336550" lvl="0" marL="457200" rtl="0" algn="l">
              <a:lnSpc>
                <a:spcPct val="100000"/>
              </a:lnSpc>
              <a:spcBef>
                <a:spcPts val="0"/>
              </a:spcBef>
              <a:spcAft>
                <a:spcPts val="0"/>
              </a:spcAft>
              <a:buSzPts val="1700"/>
              <a:buChar char="●"/>
            </a:pPr>
            <a:r>
              <a:rPr lang="en-US" sz="1700"/>
              <a:t>Check the the “Parks” box</a:t>
            </a:r>
            <a:endParaRPr sz="1700"/>
          </a:p>
          <a:p>
            <a:pPr indent="-336550" lvl="0" marL="457200" rtl="0" algn="l">
              <a:lnSpc>
                <a:spcPct val="100000"/>
              </a:lnSpc>
              <a:spcBef>
                <a:spcPts val="0"/>
              </a:spcBef>
              <a:spcAft>
                <a:spcPts val="0"/>
              </a:spcAft>
              <a:buSzPts val="1700"/>
              <a:buChar char="●"/>
            </a:pPr>
            <a:r>
              <a:rPr lang="en-US" sz="1700"/>
              <a:t>Click on “Legend”</a:t>
            </a:r>
            <a:endParaRPr sz="1700"/>
          </a:p>
          <a:p>
            <a:pPr indent="-336550" lvl="0" marL="457200" rtl="0" algn="l">
              <a:lnSpc>
                <a:spcPct val="100000"/>
              </a:lnSpc>
              <a:spcBef>
                <a:spcPts val="0"/>
              </a:spcBef>
              <a:spcAft>
                <a:spcPts val="0"/>
              </a:spcAft>
              <a:buSzPts val="1700"/>
              <a:buChar char="●"/>
            </a:pPr>
            <a:r>
              <a:rPr lang="en-US" sz="1700"/>
              <a:t>Review the map symbols for each selection. This key will show how each selection is displayed on the interactive web map.</a:t>
            </a:r>
            <a:endParaRPr sz="1700"/>
          </a:p>
          <a:p>
            <a:pPr indent="-336550" lvl="0" marL="457200" rtl="0" algn="l">
              <a:lnSpc>
                <a:spcPct val="100000"/>
              </a:lnSpc>
              <a:spcBef>
                <a:spcPts val="0"/>
              </a:spcBef>
              <a:spcAft>
                <a:spcPts val="0"/>
              </a:spcAft>
              <a:buSzPts val="1700"/>
              <a:buChar char="●"/>
            </a:pPr>
            <a:r>
              <a:rPr lang="en-US" sz="1700"/>
              <a:t>Zoom in and out as needed to see all parks within ½ mile.</a:t>
            </a:r>
            <a:endParaRPr sz="1700"/>
          </a:p>
          <a:p>
            <a:pPr indent="-336550" lvl="0" marL="457200" rtl="0" algn="l">
              <a:lnSpc>
                <a:spcPct val="100000"/>
              </a:lnSpc>
              <a:spcBef>
                <a:spcPts val="0"/>
              </a:spcBef>
              <a:spcAft>
                <a:spcPts val="0"/>
              </a:spcAft>
              <a:buSzPts val="1700"/>
              <a:buChar char="●"/>
            </a:pPr>
            <a:r>
              <a:rPr lang="en-US" sz="1700"/>
              <a:t>Measurement Steps:</a:t>
            </a:r>
            <a:endParaRPr sz="1700"/>
          </a:p>
          <a:p>
            <a:pPr indent="-336550" lvl="1" marL="914400" rtl="0" algn="l">
              <a:lnSpc>
                <a:spcPct val="100000"/>
              </a:lnSpc>
              <a:spcBef>
                <a:spcPts val="0"/>
              </a:spcBef>
              <a:spcAft>
                <a:spcPts val="0"/>
              </a:spcAft>
              <a:buSzPts val="1700"/>
              <a:buChar char="○"/>
            </a:pPr>
            <a:r>
              <a:rPr lang="en-US" sz="1700"/>
              <a:t>Select the ruler icon for the “Measure Tool” in the top right corner. A window will pop-up with instructions for using it.  </a:t>
            </a:r>
            <a:endParaRPr b="1" sz="1700"/>
          </a:p>
          <a:p>
            <a:pPr indent="-336550" lvl="1" marL="914400" rtl="0" algn="l">
              <a:lnSpc>
                <a:spcPct val="100000"/>
              </a:lnSpc>
              <a:spcBef>
                <a:spcPts val="0"/>
              </a:spcBef>
              <a:spcAft>
                <a:spcPts val="0"/>
              </a:spcAft>
              <a:buSzPts val="1700"/>
              <a:buChar char="○"/>
            </a:pPr>
            <a:r>
              <a:rPr lang="en-US" sz="1700"/>
              <a:t>Change the unit of measurement in the text box that says “Length” to “Miles.” </a:t>
            </a:r>
            <a:endParaRPr sz="1700"/>
          </a:p>
          <a:p>
            <a:pPr indent="-336550" lvl="1" marL="914400" rtl="0" algn="l">
              <a:lnSpc>
                <a:spcPct val="100000"/>
              </a:lnSpc>
              <a:spcBef>
                <a:spcPts val="0"/>
              </a:spcBef>
              <a:spcAft>
                <a:spcPts val="0"/>
              </a:spcAft>
              <a:buSzPts val="1700"/>
              <a:buChar char="○"/>
            </a:pPr>
            <a:r>
              <a:rPr lang="en-US" sz="1700"/>
              <a:t>For each park use the “Measure tool” to see how far the park is from the closest edge of the project. </a:t>
            </a:r>
            <a:endParaRPr sz="1700"/>
          </a:p>
          <a:p>
            <a:pPr indent="-336550" lvl="1" marL="914400" rtl="0" algn="l">
              <a:lnSpc>
                <a:spcPct val="100000"/>
              </a:lnSpc>
              <a:spcBef>
                <a:spcPts val="0"/>
              </a:spcBef>
              <a:spcAft>
                <a:spcPts val="0"/>
              </a:spcAft>
              <a:buSzPts val="1700"/>
              <a:buChar char="○"/>
            </a:pPr>
            <a:r>
              <a:rPr lang="en-US" sz="1700"/>
              <a:t>Note the total number of parks within ½ mile.</a:t>
            </a:r>
            <a:endParaRPr sz="1700"/>
          </a:p>
          <a:p>
            <a:pPr indent="-336550" lvl="1" marL="914400" rtl="0" algn="l">
              <a:lnSpc>
                <a:spcPct val="100000"/>
              </a:lnSpc>
              <a:spcBef>
                <a:spcPts val="0"/>
              </a:spcBef>
              <a:spcAft>
                <a:spcPts val="0"/>
              </a:spcAft>
              <a:buSzPts val="1700"/>
              <a:buChar char="○"/>
            </a:pPr>
            <a:r>
              <a:rPr lang="en-US" sz="1700"/>
              <a:t>Record the associated Points.</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t>Click on the ‘X’ icon (above), select the Toggle Sidebar and the “Layers/Legend” menu will re-appear.</a:t>
            </a:r>
            <a:endParaRPr sz="1700"/>
          </a:p>
          <a:p>
            <a:pPr indent="0" lvl="0" marL="0" rtl="0" algn="l">
              <a:lnSpc>
                <a:spcPct val="115000"/>
              </a:lnSpc>
              <a:spcBef>
                <a:spcPts val="1000"/>
              </a:spcBef>
              <a:spcAft>
                <a:spcPts val="0"/>
              </a:spcAft>
              <a:buSzPts val="1800"/>
              <a:buNone/>
            </a:pPr>
            <a:r>
              <a:t/>
            </a:r>
            <a:endParaRPr sz="1600"/>
          </a:p>
        </p:txBody>
      </p:sp>
      <p:sp>
        <p:nvSpPr>
          <p:cNvPr id="314" name="Google Shape;314;g783ce67ac1_0_15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783ce67ac1_0_174"/>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320" name="Google Shape;320;g783ce67ac1_0_174"/>
          <p:cNvGraphicFramePr/>
          <p:nvPr/>
        </p:nvGraphicFramePr>
        <p:xfrm>
          <a:off x="63159" y="643353"/>
          <a:ext cx="3000000" cy="3000000"/>
        </p:xfrm>
        <a:graphic>
          <a:graphicData uri="http://schemas.openxmlformats.org/drawingml/2006/table">
            <a:tbl>
              <a:tblPr bandRow="1" firstRow="1">
                <a:noFill/>
                <a:tableStyleId>{DA7E6E65-D877-46FA-B78E-C062FE7EB15C}</a:tableStyleId>
              </a:tblPr>
              <a:tblGrid>
                <a:gridCol w="5435175"/>
                <a:gridCol w="697700"/>
                <a:gridCol w="475700"/>
              </a:tblGrid>
              <a:tr h="3676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S1Q7: </a:t>
                      </a:r>
                      <a:r>
                        <a:rPr b="0" i="0" lang="en-US" sz="1100" u="none" cap="none" strike="noStrike"/>
                        <a:t>How many housing units + jobs per acre in the area?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3">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Density:    0-10                10-25                     25-50                     50-100               100+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S1Q8: </a:t>
                      </a:r>
                      <a:r>
                        <a:rPr b="0" i="0" lang="en-US" sz="1100" u="none" cap="none" strike="noStrike"/>
                        <a:t>How many schools (CCSD, private, or charter) are in the area and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4">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S1Q9: </a:t>
                      </a:r>
                      <a:r>
                        <a:rPr b="0" i="0" lang="en-US" sz="1100" u="none" cap="none" strike="noStrike"/>
                        <a:t>How many p</a:t>
                      </a:r>
                      <a:r>
                        <a:rPr lang="en-US" sz="1100" u="none" cap="none" strike="noStrike"/>
                        <a:t>ublic parks are</a:t>
                      </a:r>
                      <a:r>
                        <a:rPr b="0" i="0" lang="en-US" sz="1100" u="none" cap="none" strike="noStrike"/>
                        <a:t> in the project area or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5">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S1Q10: </a:t>
                      </a:r>
                      <a:r>
                        <a:rPr b="0" i="0" lang="en-US" sz="1100" u="none" cap="none" strike="noStrike"/>
                        <a:t>How many bus stops are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6">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or more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solidFill>
                      <a:srgbClr val="00FF00"/>
                    </a:solidFill>
                  </a:tcPr>
                </a:tc>
              </a:tr>
              <a:tr h="13389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S1Q11: How many bike streets are in the area or within ¼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(bike streets: use City of Las Vegas data, available here:</a:t>
                      </a:r>
                      <a:endParaRPr b="0" sz="1100" u="none" cap="none" strike="noStrike">
                        <a:solidFill>
                          <a:srgbClr val="0432FF"/>
                        </a:solidFill>
                      </a:endParaRPr>
                    </a:p>
                    <a:p>
                      <a:pPr indent="0" lvl="0" marL="0" marR="0" rtl="0" algn="l">
                        <a:lnSpc>
                          <a:spcPct val="100000"/>
                        </a:lnSpc>
                        <a:spcBef>
                          <a:spcPts val="0"/>
                        </a:spcBef>
                        <a:spcAft>
                          <a:spcPts val="0"/>
                        </a:spcAft>
                        <a:buClr>
                          <a:srgbClr val="0432FF"/>
                        </a:buClr>
                        <a:buSzPts val="1100"/>
                        <a:buFont typeface="Calibri"/>
                        <a:buNone/>
                      </a:pPr>
                      <a:r>
                        <a:rPr lang="en-US" sz="1100" u="sng" cap="none" strike="noStrike">
                          <a:solidFill>
                            <a:srgbClr val="0432FF"/>
                          </a:solidFill>
                          <a:hlinkClick r:id="rId7">
                            <a:extLst>
                              <a:ext uri="{A12FA001-AC4F-418D-AE19-62706E023703}">
                                <ahyp:hlinkClr val="tx"/>
                              </a:ext>
                            </a:extLst>
                          </a:hlinkClick>
                        </a:rPr>
                        <a:t>https://geoview-lasvegasnevada-gov.appspot.com/</a:t>
                      </a:r>
                      <a:r>
                        <a:rPr lang="en-US" sz="1100" u="sng" cap="none" strike="noStrike">
                          <a:solidFill>
                            <a:srgbClr val="0432FF"/>
                          </a:solidFill>
                        </a:rPr>
                        <a:t>)</a:t>
                      </a:r>
                      <a:endParaRPr/>
                    </a:p>
                    <a:p>
                      <a:pPr indent="0" lvl="0" marL="0" marR="0" rtl="0" algn="l">
                        <a:lnSpc>
                          <a:spcPct val="100000"/>
                        </a:lnSpc>
                        <a:spcBef>
                          <a:spcPts val="0"/>
                        </a:spcBef>
                        <a:spcAft>
                          <a:spcPts val="0"/>
                        </a:spcAft>
                        <a:buClr>
                          <a:srgbClr val="0432FF"/>
                        </a:buClr>
                        <a:buSzPts val="1100"/>
                        <a:buFont typeface="Calibri"/>
                        <a:buNone/>
                      </a:pPr>
                      <a:r>
                        <a:t/>
                      </a:r>
                      <a:endParaRPr b="1" i="0" sz="11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4</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/4</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1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Low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Medium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High Need</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321" name="Google Shape;321;g783ce67ac1_0_174"/>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8701af7b45_0_85"/>
          <p:cNvSpPr txBox="1"/>
          <p:nvPr>
            <p:ph type="title"/>
          </p:nvPr>
        </p:nvSpPr>
        <p:spPr>
          <a:xfrm>
            <a:off x="342900" y="19120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S1Q10 Instructions</a:t>
            </a:r>
            <a:endParaRPr sz="4000"/>
          </a:p>
        </p:txBody>
      </p:sp>
      <p:sp>
        <p:nvSpPr>
          <p:cNvPr id="328" name="Google Shape;328;g8701af7b45_0_85"/>
          <p:cNvSpPr txBox="1"/>
          <p:nvPr>
            <p:ph idx="1" type="body"/>
          </p:nvPr>
        </p:nvSpPr>
        <p:spPr>
          <a:xfrm>
            <a:off x="342900" y="1038600"/>
            <a:ext cx="6172200" cy="73245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0"/>
              </a:spcBef>
              <a:spcAft>
                <a:spcPts val="0"/>
              </a:spcAft>
              <a:buSzPts val="1800"/>
              <a:buChar char="●"/>
            </a:pPr>
            <a:r>
              <a:rPr lang="en-US" sz="1700"/>
              <a:t>Click on the link for the City of Las Vegas GeoView data, available</a:t>
            </a:r>
            <a:r>
              <a:rPr lang="en-US" sz="1400">
                <a:latin typeface="Arial"/>
                <a:ea typeface="Arial"/>
                <a:cs typeface="Arial"/>
                <a:sym typeface="Arial"/>
              </a:rPr>
              <a:t> </a:t>
            </a:r>
            <a:r>
              <a:rPr lang="en-US" sz="1700" u="sng">
                <a:solidFill>
                  <a:schemeClr val="hlink"/>
                </a:solidFill>
                <a:hlinkClick r:id="rId3"/>
              </a:rPr>
              <a:t>here</a:t>
            </a:r>
            <a:r>
              <a:rPr lang="en-US" sz="1700"/>
              <a:t>. </a:t>
            </a:r>
            <a:endParaRPr sz="1700"/>
          </a:p>
          <a:p>
            <a:pPr indent="-336550" lvl="0" marL="457200" rtl="0" algn="l">
              <a:lnSpc>
                <a:spcPct val="115000"/>
              </a:lnSpc>
              <a:spcBef>
                <a:spcPts val="0"/>
              </a:spcBef>
              <a:spcAft>
                <a:spcPts val="0"/>
              </a:spcAft>
              <a:buSzPts val="1700"/>
              <a:buChar char="●"/>
            </a:pPr>
            <a:r>
              <a:rPr lang="en-US" sz="1700"/>
              <a:t>Enter the address for project area inside the text box in the top right corner.</a:t>
            </a:r>
            <a:endParaRPr sz="1700"/>
          </a:p>
          <a:p>
            <a:pPr indent="-336550" lvl="0" marL="457200" rtl="0" algn="l">
              <a:lnSpc>
                <a:spcPct val="115000"/>
              </a:lnSpc>
              <a:spcBef>
                <a:spcPts val="0"/>
              </a:spcBef>
              <a:spcAft>
                <a:spcPts val="0"/>
              </a:spcAft>
              <a:buSzPts val="1700"/>
              <a:buChar char="●"/>
            </a:pPr>
            <a:r>
              <a:rPr lang="en-US" sz="1700"/>
              <a:t>Click on “Layers</a:t>
            </a:r>
            <a:r>
              <a:rPr b="1" lang="en-US" sz="1700"/>
              <a:t>”</a:t>
            </a:r>
            <a:r>
              <a:rPr lang="en-US" sz="1700"/>
              <a:t> under the address bar.</a:t>
            </a:r>
            <a:endParaRPr sz="1700"/>
          </a:p>
          <a:p>
            <a:pPr indent="-336550" lvl="0" marL="457200" rtl="0" algn="l">
              <a:lnSpc>
                <a:spcPct val="115000"/>
              </a:lnSpc>
              <a:spcBef>
                <a:spcPts val="0"/>
              </a:spcBef>
              <a:spcAft>
                <a:spcPts val="0"/>
              </a:spcAft>
              <a:buSzPts val="1700"/>
              <a:buChar char="●"/>
            </a:pPr>
            <a:r>
              <a:rPr lang="en-US" sz="1700"/>
              <a:t>Click on the right-pointing arrow next to “Transportation.”</a:t>
            </a:r>
            <a:endParaRPr sz="1700"/>
          </a:p>
          <a:p>
            <a:pPr indent="-336550" lvl="0" marL="457200" rtl="0" algn="l">
              <a:lnSpc>
                <a:spcPct val="100000"/>
              </a:lnSpc>
              <a:spcBef>
                <a:spcPts val="0"/>
              </a:spcBef>
              <a:spcAft>
                <a:spcPts val="0"/>
              </a:spcAft>
              <a:buSzPts val="1700"/>
              <a:buChar char="●"/>
            </a:pPr>
            <a:r>
              <a:rPr lang="en-US" sz="1700"/>
              <a:t>Check the following boxes: “RTC Bus Stops”</a:t>
            </a:r>
            <a:endParaRPr sz="1700"/>
          </a:p>
          <a:p>
            <a:pPr indent="-336550" lvl="0" marL="457200" rtl="0" algn="l">
              <a:lnSpc>
                <a:spcPct val="100000"/>
              </a:lnSpc>
              <a:spcBef>
                <a:spcPts val="0"/>
              </a:spcBef>
              <a:spcAft>
                <a:spcPts val="0"/>
              </a:spcAft>
              <a:buSzPts val="1700"/>
              <a:buChar char="●"/>
            </a:pPr>
            <a:r>
              <a:rPr lang="en-US" sz="1700"/>
              <a:t>Click on “Legend”</a:t>
            </a:r>
            <a:endParaRPr sz="1700"/>
          </a:p>
          <a:p>
            <a:pPr indent="-336550" lvl="0" marL="457200" rtl="0" algn="l">
              <a:lnSpc>
                <a:spcPct val="100000"/>
              </a:lnSpc>
              <a:spcBef>
                <a:spcPts val="0"/>
              </a:spcBef>
              <a:spcAft>
                <a:spcPts val="0"/>
              </a:spcAft>
              <a:buSzPts val="1700"/>
              <a:buChar char="●"/>
            </a:pPr>
            <a:r>
              <a:rPr lang="en-US" sz="1700"/>
              <a:t>Review the map symbols for each selection. This key will show how each selection is displayed on the interactive web map.</a:t>
            </a:r>
            <a:endParaRPr sz="1700"/>
          </a:p>
          <a:p>
            <a:pPr indent="-336550" lvl="0" marL="457200" rtl="0" algn="l">
              <a:lnSpc>
                <a:spcPct val="100000"/>
              </a:lnSpc>
              <a:spcBef>
                <a:spcPts val="0"/>
              </a:spcBef>
              <a:spcAft>
                <a:spcPts val="0"/>
              </a:spcAft>
              <a:buSzPts val="1700"/>
              <a:buChar char="●"/>
            </a:pPr>
            <a:r>
              <a:rPr lang="en-US" sz="1700"/>
              <a:t>Zoom in and out as needed to see all RTC Bus Stops within ½ mile.</a:t>
            </a:r>
            <a:endParaRPr sz="1700"/>
          </a:p>
          <a:p>
            <a:pPr indent="-336550" lvl="0" marL="457200" rtl="0" algn="l">
              <a:lnSpc>
                <a:spcPct val="100000"/>
              </a:lnSpc>
              <a:spcBef>
                <a:spcPts val="0"/>
              </a:spcBef>
              <a:spcAft>
                <a:spcPts val="0"/>
              </a:spcAft>
              <a:buSzPts val="1700"/>
              <a:buChar char="●"/>
            </a:pPr>
            <a:r>
              <a:rPr lang="en-US" sz="1700"/>
              <a:t>Measurement Steps:</a:t>
            </a:r>
            <a:endParaRPr sz="1700"/>
          </a:p>
          <a:p>
            <a:pPr indent="-336550" lvl="1" marL="914400" rtl="0" algn="l">
              <a:lnSpc>
                <a:spcPct val="100000"/>
              </a:lnSpc>
              <a:spcBef>
                <a:spcPts val="0"/>
              </a:spcBef>
              <a:spcAft>
                <a:spcPts val="0"/>
              </a:spcAft>
              <a:buSzPts val="1700"/>
              <a:buChar char="○"/>
            </a:pPr>
            <a:r>
              <a:rPr lang="en-US" sz="1700"/>
              <a:t>Select the ruler icon for the “Measure Tool” in the top right corner. A window will pop-up with instructions for using it.  </a:t>
            </a:r>
            <a:endParaRPr b="1" sz="1700"/>
          </a:p>
          <a:p>
            <a:pPr indent="-336550" lvl="1" marL="914400" rtl="0" algn="l">
              <a:lnSpc>
                <a:spcPct val="100000"/>
              </a:lnSpc>
              <a:spcBef>
                <a:spcPts val="0"/>
              </a:spcBef>
              <a:spcAft>
                <a:spcPts val="0"/>
              </a:spcAft>
              <a:buSzPts val="1700"/>
              <a:buChar char="○"/>
            </a:pPr>
            <a:r>
              <a:rPr lang="en-US" sz="1700"/>
              <a:t>Change the unit of measurement in the text box that says “Length” to “Miles.” </a:t>
            </a:r>
            <a:endParaRPr sz="1700"/>
          </a:p>
          <a:p>
            <a:pPr indent="-336550" lvl="1" marL="914400" rtl="0" algn="l">
              <a:lnSpc>
                <a:spcPct val="100000"/>
              </a:lnSpc>
              <a:spcBef>
                <a:spcPts val="0"/>
              </a:spcBef>
              <a:spcAft>
                <a:spcPts val="0"/>
              </a:spcAft>
              <a:buSzPts val="1700"/>
              <a:buChar char="○"/>
            </a:pPr>
            <a:r>
              <a:rPr lang="en-US" sz="1700"/>
              <a:t>Note the total number of RTC Bus Stops within ½ mile. Use the “Measure tool” if needed.</a:t>
            </a:r>
            <a:endParaRPr sz="1700"/>
          </a:p>
          <a:p>
            <a:pPr indent="-336550" lvl="1" marL="914400" rtl="0" algn="l">
              <a:lnSpc>
                <a:spcPct val="100000"/>
              </a:lnSpc>
              <a:spcBef>
                <a:spcPts val="0"/>
              </a:spcBef>
              <a:spcAft>
                <a:spcPts val="0"/>
              </a:spcAft>
              <a:buSzPts val="1700"/>
              <a:buChar char="○"/>
            </a:pPr>
            <a:r>
              <a:rPr lang="en-US" sz="1700"/>
              <a:t>Record the associated Points.</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t>Click on the ‘X’ icon (above), select the Toggle Sidebar and the “Layers/Legend” menu will re-appear.</a:t>
            </a:r>
            <a:endParaRPr sz="1700"/>
          </a:p>
          <a:p>
            <a:pPr indent="0" lvl="0" marL="0" rtl="0" algn="l">
              <a:lnSpc>
                <a:spcPct val="115000"/>
              </a:lnSpc>
              <a:spcBef>
                <a:spcPts val="1000"/>
              </a:spcBef>
              <a:spcAft>
                <a:spcPts val="0"/>
              </a:spcAft>
              <a:buSzPts val="1800"/>
              <a:buNone/>
            </a:pPr>
            <a:r>
              <a:t/>
            </a:r>
            <a:endParaRPr sz="1600"/>
          </a:p>
        </p:txBody>
      </p:sp>
      <p:sp>
        <p:nvSpPr>
          <p:cNvPr id="329" name="Google Shape;329;g8701af7b45_0_8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783ce67ac1_0_199"/>
          <p:cNvSpPr/>
          <p:nvPr/>
        </p:nvSpPr>
        <p:spPr>
          <a:xfrm>
            <a:off x="1157416" y="120134"/>
            <a:ext cx="45432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7030A0"/>
                </a:solidFill>
                <a:latin typeface="Calibri"/>
                <a:ea typeface="Calibri"/>
                <a:cs typeface="Calibri"/>
                <a:sym typeface="Calibri"/>
              </a:rPr>
              <a:t>Step 1: Assess the area’s need</a:t>
            </a:r>
            <a:endParaRPr b="0" i="0" sz="1400" u="none" cap="none" strike="noStrike">
              <a:solidFill>
                <a:srgbClr val="000000"/>
              </a:solidFill>
              <a:latin typeface="Arial"/>
              <a:ea typeface="Arial"/>
              <a:cs typeface="Arial"/>
              <a:sym typeface="Arial"/>
            </a:endParaRPr>
          </a:p>
        </p:txBody>
      </p:sp>
      <p:graphicFrame>
        <p:nvGraphicFramePr>
          <p:cNvPr id="335" name="Google Shape;335;g783ce67ac1_0_199"/>
          <p:cNvGraphicFramePr/>
          <p:nvPr/>
        </p:nvGraphicFramePr>
        <p:xfrm>
          <a:off x="146289" y="1058993"/>
          <a:ext cx="3000000" cy="3000000"/>
        </p:xfrm>
        <a:graphic>
          <a:graphicData uri="http://schemas.openxmlformats.org/drawingml/2006/table">
            <a:tbl>
              <a:tblPr bandRow="1" firstRow="1">
                <a:noFill/>
                <a:tableStyleId>{DA7E6E65-D877-46FA-B78E-C062FE7EB15C}</a:tableStyleId>
              </a:tblPr>
              <a:tblGrid>
                <a:gridCol w="5435175"/>
                <a:gridCol w="697700"/>
                <a:gridCol w="475700"/>
              </a:tblGrid>
              <a:tr h="3676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needs assessment</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Domain</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S1Q7: </a:t>
                      </a:r>
                      <a:r>
                        <a:rPr b="0" i="0" lang="en-US" sz="1100" u="none" cap="none" strike="noStrike"/>
                        <a:t>How many housing units + jobs per acre in the area?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Smart Location database (c. 2010), available here:</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sng" cap="none" strike="noStrike">
                          <a:solidFill>
                            <a:srgbClr val="0432FF"/>
                          </a:solidFill>
                          <a:hlinkClick r:id="rId3">
                            <a:extLst>
                              <a:ext uri="{A12FA001-AC4F-418D-AE19-62706E023703}">
                                <ahyp:hlinkClr val="tx"/>
                              </a:ext>
                            </a:extLst>
                          </a:hlinkClick>
                        </a:rPr>
                        <a:t>https://geodata.epa.gov/arcgis/rest/services/OA/SmartLocationDatabase/MapServer</a:t>
                      </a:r>
                      <a:r>
                        <a:rPr b="0" i="0"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Density:    0-10                10-25                     25-50                     50-100               100+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1                         2                           3                             4                           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Land Use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S1Q8: </a:t>
                      </a:r>
                      <a:r>
                        <a:rPr b="0" i="0" lang="en-US" sz="1100" u="none" cap="none" strike="noStrike"/>
                        <a:t>How many schools (CCSD, private, or charter) are in the area and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4">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S1Q9: </a:t>
                      </a:r>
                      <a:r>
                        <a:rPr b="0" i="0" lang="en-US" sz="1100" u="none" cap="none" strike="noStrike"/>
                        <a:t>How many p</a:t>
                      </a:r>
                      <a:r>
                        <a:rPr lang="en-US" sz="1100" u="none" cap="none" strike="noStrike"/>
                        <a:t>ublic parks are</a:t>
                      </a:r>
                      <a:r>
                        <a:rPr b="0" i="0" lang="en-US" sz="1100" u="none" cap="none" strike="noStrike"/>
                        <a:t> in the project area or within ½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5">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1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S1Q10: </a:t>
                      </a:r>
                      <a:r>
                        <a:rPr b="0" i="0" lang="en-US" sz="1100" u="none" cap="none" strike="noStrike"/>
                        <a:t>How many bus stops are within ½ mile radi</a:t>
                      </a:r>
                      <a:r>
                        <a:rPr lang="en-US" sz="1100" u="none" cap="none" strike="noStrike"/>
                        <a:t>us</a:t>
                      </a:r>
                      <a:r>
                        <a:rPr b="0" i="0" lang="en-US" sz="1100" u="none" cap="none" strike="noStrike"/>
                        <a:t>?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City of Las Vegas data, available here: </a:t>
                      </a:r>
                      <a:r>
                        <a:rPr lang="en-US" sz="1100" u="sng" cap="none" strike="noStrike">
                          <a:solidFill>
                            <a:srgbClr val="0432FF"/>
                          </a:solidFill>
                          <a:hlinkClick r:id="rId6">
                            <a:extLst>
                              <a:ext uri="{A12FA001-AC4F-418D-AE19-62706E023703}">
                                <ahyp:hlinkClr val="tx"/>
                              </a:ext>
                            </a:extLst>
                          </a:hlinkClick>
                        </a:rPr>
                        <a:t>https://geoview-lasvegasnevada-gov.appspot.com/#</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or more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a:t>
                      </a:r>
                      <a:endParaRPr sz="1400" u="none" cap="none" strike="noStrike"/>
                    </a:p>
                  </a:txBody>
                  <a:tcPr marT="60950" marB="60950" marR="68575" marL="68575"/>
                </a:tc>
              </a:tr>
              <a:tr h="1338975">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S1Q11: How many bike streets are in the area or within ¼ mile radius? </a:t>
                      </a:r>
                      <a:endParaRPr sz="14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(bike streets: use City of Las Vegas data, available here:</a:t>
                      </a:r>
                      <a:endParaRPr b="0" sz="1100" u="none" cap="none" strike="noStrike">
                        <a:solidFill>
                          <a:srgbClr val="0432FF"/>
                        </a:solidFill>
                      </a:endParaRPr>
                    </a:p>
                    <a:p>
                      <a:pPr indent="0" lvl="0" marL="0" marR="0" rtl="0" algn="l">
                        <a:lnSpc>
                          <a:spcPct val="100000"/>
                        </a:lnSpc>
                        <a:spcBef>
                          <a:spcPts val="0"/>
                        </a:spcBef>
                        <a:spcAft>
                          <a:spcPts val="0"/>
                        </a:spcAft>
                        <a:buClr>
                          <a:srgbClr val="0432FF"/>
                        </a:buClr>
                        <a:buSzPts val="1100"/>
                        <a:buFont typeface="Calibri"/>
                        <a:buNone/>
                      </a:pPr>
                      <a:r>
                        <a:rPr lang="en-US" sz="1100" u="sng" cap="none" strike="noStrike">
                          <a:solidFill>
                            <a:srgbClr val="0432FF"/>
                          </a:solidFill>
                          <a:hlinkClick r:id="rId7">
                            <a:extLst>
                              <a:ext uri="{A12FA001-AC4F-418D-AE19-62706E023703}">
                                <ahyp:hlinkClr val="tx"/>
                              </a:ext>
                            </a:extLst>
                          </a:hlinkClick>
                        </a:rPr>
                        <a:t>https://geoview-lasvegasnevada-gov.appspot.com/</a:t>
                      </a:r>
                      <a:r>
                        <a:rPr lang="en-US" sz="1100" u="sng" cap="none" strike="noStrike">
                          <a:solidFill>
                            <a:srgbClr val="0432FF"/>
                          </a:solidFill>
                        </a:rPr>
                        <a:t>)</a:t>
                      </a:r>
                      <a:endParaRPr/>
                    </a:p>
                    <a:p>
                      <a:pPr indent="0" lvl="0" marL="0" marR="0" rtl="0" algn="l">
                        <a:lnSpc>
                          <a:spcPct val="100000"/>
                        </a:lnSpc>
                        <a:spcBef>
                          <a:spcPts val="0"/>
                        </a:spcBef>
                        <a:spcAft>
                          <a:spcPts val="0"/>
                        </a:spcAft>
                        <a:buClr>
                          <a:schemeClr val="dk1"/>
                        </a:buClr>
                        <a:buSzPts val="1100"/>
                        <a:buFont typeface="Calibri"/>
                        <a:buNone/>
                      </a:pPr>
                      <a:r>
                        <a:t/>
                      </a:r>
                      <a:endParaRPr b="1" i="0" sz="11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Number:                 0                                            1                                                &gt;1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                                                 4</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Connectivity</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/4</a:t>
                      </a:r>
                      <a:endParaRPr sz="1400" u="none" cap="none" strike="noStrike"/>
                    </a:p>
                  </a:txBody>
                  <a:tcPr marT="60950" marB="60950" marR="68575" marL="68575">
                    <a:solidFill>
                      <a:srgbClr val="00FF00"/>
                    </a:solidFill>
                  </a:tcPr>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1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Low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Medium Need</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High Need</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chemeClr val="dk1"/>
                        </a:buClr>
                        <a:buSzPts val="1100"/>
                        <a:buFont typeface="Calibri"/>
                        <a:buNone/>
                      </a:pPr>
                      <a:r>
                        <a:t/>
                      </a:r>
                      <a:endParaRPr b="1" i="1" sz="1100" u="none" cap="none" strike="noStrike">
                        <a:solidFill>
                          <a:srgbClr val="FF0000"/>
                        </a:solidFill>
                      </a:endParaRPr>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336" name="Google Shape;336;g783ce67ac1_0_19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783ce67ac1_0_213"/>
          <p:cNvSpPr txBox="1"/>
          <p:nvPr>
            <p:ph type="title"/>
          </p:nvPr>
        </p:nvSpPr>
        <p:spPr>
          <a:xfrm>
            <a:off x="342900" y="13335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S1Q11 Instructions</a:t>
            </a:r>
            <a:endParaRPr sz="4000"/>
          </a:p>
        </p:txBody>
      </p:sp>
      <p:sp>
        <p:nvSpPr>
          <p:cNvPr id="343" name="Google Shape;343;g783ce67ac1_0_213"/>
          <p:cNvSpPr txBox="1"/>
          <p:nvPr>
            <p:ph idx="1" type="body"/>
          </p:nvPr>
        </p:nvSpPr>
        <p:spPr>
          <a:xfrm>
            <a:off x="342900" y="1028700"/>
            <a:ext cx="6172200" cy="70104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SzPts val="1800"/>
              <a:buChar char="●"/>
            </a:pPr>
            <a:r>
              <a:rPr lang="en-US" sz="1600"/>
              <a:t>Click on the link for the City of Las Vegas GeoView data, available</a:t>
            </a:r>
            <a:r>
              <a:rPr lang="en-US" sz="1200">
                <a:latin typeface="Arial"/>
                <a:ea typeface="Arial"/>
                <a:cs typeface="Arial"/>
                <a:sym typeface="Arial"/>
              </a:rPr>
              <a:t> </a:t>
            </a:r>
            <a:r>
              <a:rPr lang="en-US" sz="1600" u="sng">
                <a:solidFill>
                  <a:schemeClr val="hlink"/>
                </a:solidFill>
                <a:hlinkClick r:id="rId3"/>
              </a:rPr>
              <a:t>here</a:t>
            </a:r>
            <a:r>
              <a:rPr lang="en-US" sz="1600"/>
              <a:t>. </a:t>
            </a:r>
            <a:endParaRPr/>
          </a:p>
          <a:p>
            <a:pPr indent="-336550" lvl="0" marL="457200" rtl="0" algn="l">
              <a:lnSpc>
                <a:spcPct val="115000"/>
              </a:lnSpc>
              <a:spcBef>
                <a:spcPts val="0"/>
              </a:spcBef>
              <a:spcAft>
                <a:spcPts val="0"/>
              </a:spcAft>
              <a:buSzPts val="1700"/>
              <a:buChar char="●"/>
            </a:pPr>
            <a:r>
              <a:rPr lang="en-US" sz="1600"/>
              <a:t>Enter the address for project area inside the text box in the top left corner.</a:t>
            </a:r>
            <a:endParaRPr/>
          </a:p>
          <a:p>
            <a:pPr indent="-336550" lvl="0" marL="457200" rtl="0" algn="l">
              <a:lnSpc>
                <a:spcPct val="115000"/>
              </a:lnSpc>
              <a:spcBef>
                <a:spcPts val="0"/>
              </a:spcBef>
              <a:spcAft>
                <a:spcPts val="0"/>
              </a:spcAft>
              <a:buSzPts val="1700"/>
              <a:buChar char="●"/>
            </a:pPr>
            <a:r>
              <a:rPr lang="en-US" sz="1600"/>
              <a:t>Click on “Layers</a:t>
            </a:r>
            <a:r>
              <a:rPr b="1" lang="en-US" sz="1600"/>
              <a:t>”</a:t>
            </a:r>
            <a:r>
              <a:rPr lang="en-US" sz="1600"/>
              <a:t> under the address bar.</a:t>
            </a:r>
            <a:endParaRPr/>
          </a:p>
          <a:p>
            <a:pPr indent="-336550" lvl="0" marL="457200" rtl="0" algn="l">
              <a:lnSpc>
                <a:spcPct val="115000"/>
              </a:lnSpc>
              <a:spcBef>
                <a:spcPts val="0"/>
              </a:spcBef>
              <a:spcAft>
                <a:spcPts val="0"/>
              </a:spcAft>
              <a:buSzPts val="1700"/>
              <a:buChar char="●"/>
            </a:pPr>
            <a:r>
              <a:rPr lang="en-US" sz="1600"/>
              <a:t>Click on the right-pointing arrow next to “Transportation.”</a:t>
            </a:r>
            <a:endParaRPr/>
          </a:p>
          <a:p>
            <a:pPr indent="-336550" lvl="0" marL="457200" rtl="0" algn="l">
              <a:lnSpc>
                <a:spcPct val="100000"/>
              </a:lnSpc>
              <a:spcBef>
                <a:spcPts val="0"/>
              </a:spcBef>
              <a:spcAft>
                <a:spcPts val="0"/>
              </a:spcAft>
              <a:buSzPts val="1700"/>
              <a:buChar char="●"/>
            </a:pPr>
            <a:r>
              <a:rPr lang="en-US" sz="1600"/>
              <a:t>Check “Bike Streets.”</a:t>
            </a:r>
            <a:endParaRPr/>
          </a:p>
          <a:p>
            <a:pPr indent="-336550" lvl="0" marL="457200" rtl="0" algn="l">
              <a:lnSpc>
                <a:spcPct val="100000"/>
              </a:lnSpc>
              <a:spcBef>
                <a:spcPts val="0"/>
              </a:spcBef>
              <a:spcAft>
                <a:spcPts val="0"/>
              </a:spcAft>
              <a:buSzPts val="1700"/>
              <a:buChar char="●"/>
            </a:pPr>
            <a:r>
              <a:rPr lang="en-US" sz="1600"/>
              <a:t>Click on “Legend”</a:t>
            </a:r>
            <a:endParaRPr/>
          </a:p>
          <a:p>
            <a:pPr indent="-330200" lvl="0" marL="457200" rtl="0" algn="l">
              <a:lnSpc>
                <a:spcPct val="115000"/>
              </a:lnSpc>
              <a:spcBef>
                <a:spcPts val="0"/>
              </a:spcBef>
              <a:spcAft>
                <a:spcPts val="0"/>
              </a:spcAft>
              <a:buSzPts val="1600"/>
              <a:buChar char="●"/>
            </a:pPr>
            <a:r>
              <a:rPr lang="en-US" sz="1600"/>
              <a:t>Count and record the number of existing bike streets in the project area or within ¼ mile buffer.</a:t>
            </a:r>
            <a:endParaRPr/>
          </a:p>
          <a:p>
            <a:pPr indent="-336550" lvl="0" marL="457200" rtl="0" algn="l">
              <a:lnSpc>
                <a:spcPct val="100000"/>
              </a:lnSpc>
              <a:spcBef>
                <a:spcPts val="0"/>
              </a:spcBef>
              <a:spcAft>
                <a:spcPts val="0"/>
              </a:spcAft>
              <a:buSzPts val="1700"/>
              <a:buChar char="●"/>
            </a:pPr>
            <a:r>
              <a:rPr lang="en-US" sz="1700"/>
              <a:t>Zoom in and out as needed to see all bike streets within ¼ mile.</a:t>
            </a:r>
            <a:endParaRPr/>
          </a:p>
          <a:p>
            <a:pPr indent="-336550" lvl="0" marL="457200" rtl="0" algn="l">
              <a:lnSpc>
                <a:spcPct val="100000"/>
              </a:lnSpc>
              <a:spcBef>
                <a:spcPts val="0"/>
              </a:spcBef>
              <a:spcAft>
                <a:spcPts val="0"/>
              </a:spcAft>
              <a:buSzPts val="1700"/>
              <a:buChar char="●"/>
            </a:pPr>
            <a:r>
              <a:rPr lang="en-US" sz="1700"/>
              <a:t>Measurement Steps:</a:t>
            </a:r>
            <a:endParaRPr/>
          </a:p>
          <a:p>
            <a:pPr indent="-336550" lvl="1" marL="914400" rtl="0" algn="l">
              <a:lnSpc>
                <a:spcPct val="100000"/>
              </a:lnSpc>
              <a:spcBef>
                <a:spcPts val="0"/>
              </a:spcBef>
              <a:spcAft>
                <a:spcPts val="0"/>
              </a:spcAft>
              <a:buSzPts val="1700"/>
              <a:buChar char="○"/>
            </a:pPr>
            <a:r>
              <a:rPr lang="en-US" sz="1700"/>
              <a:t>Select the ruler icon for the “Measure Tool” in the top right corner. A window will pop-up with instructions for using it.  </a:t>
            </a:r>
            <a:endParaRPr b="1" sz="1700"/>
          </a:p>
          <a:p>
            <a:pPr indent="-336550" lvl="1" marL="914400" rtl="0" algn="l">
              <a:lnSpc>
                <a:spcPct val="100000"/>
              </a:lnSpc>
              <a:spcBef>
                <a:spcPts val="0"/>
              </a:spcBef>
              <a:spcAft>
                <a:spcPts val="0"/>
              </a:spcAft>
              <a:buSzPts val="1700"/>
              <a:buChar char="○"/>
            </a:pPr>
            <a:r>
              <a:rPr lang="en-US" sz="1700"/>
              <a:t>Change the unit of measurement in the text box that says “Length” to “Miles.” </a:t>
            </a:r>
            <a:endParaRPr/>
          </a:p>
          <a:p>
            <a:pPr indent="-336550" lvl="1" marL="914400" rtl="0" algn="l">
              <a:lnSpc>
                <a:spcPct val="100000"/>
              </a:lnSpc>
              <a:spcBef>
                <a:spcPts val="0"/>
              </a:spcBef>
              <a:spcAft>
                <a:spcPts val="0"/>
              </a:spcAft>
              <a:buSzPts val="1700"/>
              <a:buChar char="○"/>
            </a:pPr>
            <a:r>
              <a:rPr lang="en-US" sz="1700"/>
              <a:t>Use the “Measure Tool” to see how far the bike street is from the closest edge of the project. </a:t>
            </a:r>
            <a:endParaRPr/>
          </a:p>
          <a:p>
            <a:pPr indent="-336550" lvl="1" marL="914400" rtl="0" algn="l">
              <a:lnSpc>
                <a:spcPct val="100000"/>
              </a:lnSpc>
              <a:spcBef>
                <a:spcPts val="0"/>
              </a:spcBef>
              <a:spcAft>
                <a:spcPts val="0"/>
              </a:spcAft>
              <a:buSzPts val="1700"/>
              <a:buChar char="○"/>
            </a:pPr>
            <a:r>
              <a:rPr lang="en-US" sz="1700"/>
              <a:t>Note the total number of bike streets within ¼ mile.</a:t>
            </a:r>
            <a:endParaRPr/>
          </a:p>
          <a:p>
            <a:pPr indent="-336550" lvl="1" marL="914400" rtl="0" algn="l">
              <a:lnSpc>
                <a:spcPct val="100000"/>
              </a:lnSpc>
              <a:spcBef>
                <a:spcPts val="0"/>
              </a:spcBef>
              <a:spcAft>
                <a:spcPts val="0"/>
              </a:spcAft>
              <a:buSzPts val="1700"/>
              <a:buChar char="○"/>
            </a:pPr>
            <a:r>
              <a:rPr lang="en-US" sz="1700"/>
              <a:t>Record the associated points.</a:t>
            </a:r>
            <a:endParaRPr sz="1700">
              <a:latin typeface="Arial"/>
              <a:ea typeface="Arial"/>
              <a:cs typeface="Arial"/>
              <a:sym typeface="Arial"/>
            </a:endParaRPr>
          </a:p>
          <a:p>
            <a:pPr indent="-336550" lvl="1" marL="914400" rtl="0" algn="l">
              <a:lnSpc>
                <a:spcPct val="115000"/>
              </a:lnSpc>
              <a:spcBef>
                <a:spcPts val="0"/>
              </a:spcBef>
              <a:spcAft>
                <a:spcPts val="0"/>
              </a:spcAft>
              <a:buSzPts val="1700"/>
              <a:buChar char="○"/>
            </a:pPr>
            <a:r>
              <a:rPr lang="en-US" sz="1700"/>
              <a:t>Click on the ‘X’ icon (above), select the Toggle Sidebar and the “Layers/Legend” menu will re-appear.</a:t>
            </a:r>
            <a:endParaRPr/>
          </a:p>
          <a:p>
            <a:pPr indent="-228600" lvl="0" marL="457200" rtl="0" algn="l">
              <a:lnSpc>
                <a:spcPct val="115000"/>
              </a:lnSpc>
              <a:spcBef>
                <a:spcPts val="0"/>
              </a:spcBef>
              <a:spcAft>
                <a:spcPts val="0"/>
              </a:spcAft>
              <a:buSzPts val="1600"/>
              <a:buNone/>
            </a:pPr>
            <a:r>
              <a:t/>
            </a:r>
            <a:endParaRPr sz="1600"/>
          </a:p>
          <a:p>
            <a:pPr indent="0" lvl="0" marL="914400" rtl="0" algn="l">
              <a:lnSpc>
                <a:spcPct val="107000"/>
              </a:lnSpc>
              <a:spcBef>
                <a:spcPts val="100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600"/>
          </a:p>
        </p:txBody>
      </p:sp>
      <p:sp>
        <p:nvSpPr>
          <p:cNvPr id="344" name="Google Shape;344;g783ce67ac1_0_213"/>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8701af7b45_0_3"/>
          <p:cNvSpPr txBox="1"/>
          <p:nvPr/>
        </p:nvSpPr>
        <p:spPr>
          <a:xfrm>
            <a:off x="563025" y="795874"/>
            <a:ext cx="5935200" cy="1154100"/>
          </a:xfrm>
          <a:prstGeom prst="rect">
            <a:avLst/>
          </a:prstGeom>
          <a:solidFill>
            <a:srgbClr val="FFC000"/>
          </a:solid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7030A0"/>
              </a:buClr>
              <a:buSzPts val="2600"/>
              <a:buFont typeface="Arial"/>
              <a:buChar char="•"/>
            </a:pPr>
            <a:r>
              <a:rPr b="0" i="0" lang="en-US" sz="2600" u="none" cap="none" strike="noStrike">
                <a:solidFill>
                  <a:srgbClr val="7030A0"/>
                </a:solidFill>
                <a:latin typeface="Calibri"/>
                <a:ea typeface="Calibri"/>
                <a:cs typeface="Calibri"/>
                <a:sym typeface="Calibri"/>
              </a:rPr>
              <a:t>Step 1: Assess area’s existing need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8701af7b45_0_3"/>
          <p:cNvSpPr/>
          <p:nvPr/>
        </p:nvSpPr>
        <p:spPr>
          <a:xfrm>
            <a:off x="3221575" y="2088678"/>
            <a:ext cx="414900" cy="369300"/>
          </a:xfrm>
          <a:prstGeom prst="downArrow">
            <a:avLst>
              <a:gd fmla="val 50000" name="adj1"/>
              <a:gd fmla="val 50000" name="adj2"/>
            </a:avLst>
          </a:prstGeom>
          <a:solidFill>
            <a:srgbClr val="A5A5A5"/>
          </a:solidFill>
          <a:ln cap="flat" cmpd="sng" w="9525">
            <a:solidFill>
              <a:srgbClr val="4A7DBA"/>
            </a:solidFill>
            <a:prstDash val="solid"/>
            <a:round/>
            <a:headEnd len="sm" w="sm" type="none"/>
            <a:tailEnd len="sm" w="sm" type="none"/>
          </a:ln>
          <a:effectLst>
            <a:outerShdw blurRad="40000" rotWithShape="0" dir="5400000" dist="23000">
              <a:srgbClr val="000000">
                <a:alpha val="3254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351" name="Google Shape;351;g8701af7b45_0_3"/>
          <p:cNvGraphicFramePr/>
          <p:nvPr/>
        </p:nvGraphicFramePr>
        <p:xfrm>
          <a:off x="555604" y="3472437"/>
          <a:ext cx="3000000" cy="3000000"/>
        </p:xfrm>
        <a:graphic>
          <a:graphicData uri="http://schemas.openxmlformats.org/drawingml/2006/table">
            <a:tbl>
              <a:tblPr bandRow="1" firstRow="1">
                <a:noFill/>
                <a:tableStyleId>{DA7E6E65-D877-46FA-B78E-C062FE7EB15C}</a:tableStyleId>
              </a:tblPr>
              <a:tblGrid>
                <a:gridCol w="1290125"/>
                <a:gridCol w="1513725"/>
                <a:gridCol w="1629525"/>
                <a:gridCol w="1725100"/>
              </a:tblGrid>
              <a:tr h="569500">
                <a:tc>
                  <a:txBody>
                    <a:bodyPr/>
                    <a:lstStyle/>
                    <a:p>
                      <a:pPr indent="0" lvl="0" marL="0" marR="0" rtl="0" algn="ctr">
                        <a:lnSpc>
                          <a:spcPct val="100000"/>
                        </a:lnSpc>
                        <a:spcBef>
                          <a:spcPts val="0"/>
                        </a:spcBef>
                        <a:spcAft>
                          <a:spcPts val="0"/>
                        </a:spcAft>
                        <a:buClr>
                          <a:srgbClr val="000000"/>
                        </a:buClr>
                        <a:buSzPts val="2400"/>
                        <a:buFont typeface="Arial"/>
                        <a:buNone/>
                      </a:pPr>
                      <a:r>
                        <a:t/>
                      </a:r>
                      <a:endParaRPr sz="2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Below 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Above Average</a:t>
                      </a:r>
                      <a:endParaRPr b="0" sz="2400" u="none" cap="none" strike="noStrike">
                        <a:solidFill>
                          <a:srgbClr val="00B050"/>
                        </a:solidFill>
                      </a:endParaRPr>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High</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Medium</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Low</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Minimal potential for benefit</a:t>
                      </a:r>
                      <a:endParaRPr sz="1400" u="none" cap="none" strike="noStrike"/>
                    </a:p>
                  </a:txBody>
                  <a:tcPr marT="42400" marB="42400" marR="84800" marL="84800"/>
                </a:tc>
              </a:tr>
            </a:tbl>
          </a:graphicData>
        </a:graphic>
      </p:graphicFrame>
      <p:sp>
        <p:nvSpPr>
          <p:cNvPr id="352" name="Google Shape;352;g8701af7b45_0_3"/>
          <p:cNvSpPr txBox="1"/>
          <p:nvPr/>
        </p:nvSpPr>
        <p:spPr>
          <a:xfrm>
            <a:off x="1861498" y="2655001"/>
            <a:ext cx="3546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9051"/>
                </a:solidFill>
                <a:latin typeface="Calibri"/>
                <a:ea typeface="Calibri"/>
                <a:cs typeface="Calibri"/>
                <a:sym typeface="Calibri"/>
              </a:rPr>
              <a:t>Existing Infrastructure </a:t>
            </a:r>
            <a:endParaRPr b="0" i="0" sz="1400" u="none" cap="none" strike="noStrike">
              <a:solidFill>
                <a:srgbClr val="000000"/>
              </a:solidFill>
              <a:latin typeface="Arial"/>
              <a:ea typeface="Arial"/>
              <a:cs typeface="Arial"/>
              <a:sym typeface="Arial"/>
            </a:endParaRPr>
          </a:p>
        </p:txBody>
      </p:sp>
      <p:sp>
        <p:nvSpPr>
          <p:cNvPr id="353" name="Google Shape;353;g8701af7b45_0_3"/>
          <p:cNvSpPr txBox="1"/>
          <p:nvPr/>
        </p:nvSpPr>
        <p:spPr>
          <a:xfrm rot="-5400000">
            <a:off x="-1959671" y="5516123"/>
            <a:ext cx="46104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7030A0"/>
                </a:solidFill>
                <a:latin typeface="Calibri"/>
                <a:ea typeface="Calibri"/>
                <a:cs typeface="Calibri"/>
                <a:sym typeface="Calibri"/>
              </a:rPr>
              <a:t>Area Existing Need</a:t>
            </a:r>
            <a:endParaRPr b="0" i="0" sz="1400" u="none" cap="none" strike="noStrike">
              <a:solidFill>
                <a:srgbClr val="000000"/>
              </a:solidFill>
              <a:latin typeface="Arial"/>
              <a:ea typeface="Arial"/>
              <a:cs typeface="Arial"/>
              <a:sym typeface="Arial"/>
            </a:endParaRPr>
          </a:p>
        </p:txBody>
      </p:sp>
      <p:sp>
        <p:nvSpPr>
          <p:cNvPr id="354" name="Google Shape;354;g8701af7b45_0_3"/>
          <p:cNvSpPr txBox="1"/>
          <p:nvPr/>
        </p:nvSpPr>
        <p:spPr>
          <a:xfrm>
            <a:off x="0" y="0"/>
            <a:ext cx="6858000" cy="71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0" i="0" lang="en-US" sz="3900" u="none" cap="none" strike="noStrike">
                <a:solidFill>
                  <a:schemeClr val="dk1"/>
                </a:solidFill>
                <a:latin typeface="Calibri"/>
                <a:ea typeface="Calibri"/>
                <a:cs typeface="Calibri"/>
                <a:sym typeface="Calibri"/>
              </a:rPr>
              <a:t>Assess Existing Need</a:t>
            </a:r>
            <a:endParaRPr b="0" i="0" sz="3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chemeClr val="dk1"/>
              </a:solidFill>
              <a:latin typeface="Calibri"/>
              <a:ea typeface="Calibri"/>
              <a:cs typeface="Calibri"/>
              <a:sym typeface="Calibri"/>
            </a:endParaRPr>
          </a:p>
        </p:txBody>
      </p:sp>
      <p:sp>
        <p:nvSpPr>
          <p:cNvPr id="355" name="Google Shape;355;g8701af7b45_0_3"/>
          <p:cNvSpPr/>
          <p:nvPr/>
        </p:nvSpPr>
        <p:spPr>
          <a:xfrm>
            <a:off x="666850" y="841800"/>
            <a:ext cx="5740500" cy="3693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8701af7b45_0_3"/>
          <p:cNvSpPr/>
          <p:nvPr/>
        </p:nvSpPr>
        <p:spPr>
          <a:xfrm>
            <a:off x="590650" y="4314775"/>
            <a:ext cx="1193400" cy="37605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8701af7b45_0_3"/>
          <p:cNvSpPr txBox="1"/>
          <p:nvPr/>
        </p:nvSpPr>
        <p:spPr>
          <a:xfrm>
            <a:off x="666850" y="1275075"/>
            <a:ext cx="5740500" cy="84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chemeClr val="dk1"/>
                </a:solidFill>
                <a:latin typeface="Calibri"/>
                <a:ea typeface="Calibri"/>
                <a:cs typeface="Calibri"/>
                <a:sym typeface="Calibri"/>
              </a:rPr>
              <a:t>Add up all the points for Step 1 to determine if need is “High,” “Medium,” or “Low”</a:t>
            </a:r>
            <a:endParaRPr b="0" i="1" sz="1600" u="none" cap="none" strike="noStrike">
              <a:solidFill>
                <a:srgbClr val="000000"/>
              </a:solidFill>
              <a:latin typeface="Arial"/>
              <a:ea typeface="Arial"/>
              <a:cs typeface="Arial"/>
              <a:sym typeface="Arial"/>
            </a:endParaRPr>
          </a:p>
        </p:txBody>
      </p:sp>
      <p:sp>
        <p:nvSpPr>
          <p:cNvPr id="358" name="Google Shape;358;g8701af7b45_0_3"/>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
          <p:cNvSpPr/>
          <p:nvPr/>
        </p:nvSpPr>
        <p:spPr>
          <a:xfrm>
            <a:off x="169185" y="420753"/>
            <a:ext cx="638921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9051"/>
                </a:solidFill>
                <a:latin typeface="Calibri"/>
                <a:ea typeface="Calibri"/>
                <a:cs typeface="Calibri"/>
                <a:sym typeface="Calibri"/>
              </a:rPr>
              <a:t>Step 2: Assess existing infrastructure</a:t>
            </a:r>
            <a:endParaRPr b="0" i="0" sz="2800" u="none" cap="none" strike="noStrike">
              <a:solidFill>
                <a:srgbClr val="7030A0"/>
              </a:solidFill>
              <a:latin typeface="Calibri"/>
              <a:ea typeface="Calibri"/>
              <a:cs typeface="Calibri"/>
              <a:sym typeface="Calibri"/>
            </a:endParaRPr>
          </a:p>
        </p:txBody>
      </p:sp>
      <p:graphicFrame>
        <p:nvGraphicFramePr>
          <p:cNvPr id="364" name="Google Shape;364;p5"/>
          <p:cNvGraphicFramePr/>
          <p:nvPr/>
        </p:nvGraphicFramePr>
        <p:xfrm>
          <a:off x="322695" y="1510145"/>
          <a:ext cx="3000000" cy="3000000"/>
        </p:xfrm>
        <a:graphic>
          <a:graphicData uri="http://schemas.openxmlformats.org/drawingml/2006/table">
            <a:tbl>
              <a:tblPr bandRow="1" firstRow="1">
                <a:noFill/>
                <a:tableStyleId>{DA7E6E65-D877-46FA-B78E-C062FE7EB15C}</a:tableStyleId>
              </a:tblPr>
              <a:tblGrid>
                <a:gridCol w="5599675"/>
                <a:gridCol w="636025"/>
              </a:tblGrid>
              <a:tr h="3997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infrastructure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S2Q1: What is the National Walkability Index Score</a:t>
                      </a:r>
                      <a:r>
                        <a:rPr b="0" i="0" lang="en-US" sz="1100" u="none" cap="none" strike="noStrike"/>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National Walkability Score, available here:</a:t>
                      </a:r>
                      <a:r>
                        <a:rPr lang="en-US" sz="1400" u="none" cap="none" strike="noStrike"/>
                        <a:t> </a:t>
                      </a:r>
                      <a:r>
                        <a:rPr lang="en-US" sz="1100" u="sng" cap="none" strike="noStrike">
                          <a:solidFill>
                            <a:schemeClr val="hlink"/>
                          </a:solidFill>
                          <a:latin typeface="Arial"/>
                          <a:ea typeface="Arial"/>
                          <a:cs typeface="Arial"/>
                          <a:sym typeface="Arial"/>
                          <a:hlinkClick r:id="rId3"/>
                        </a:rPr>
                        <a:t>https://geodata.epa.gov/arcgis/rest/services/OA/WalkabilityIndex/MapServer</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Index:         1-5.75                               5.76-10.5                           10.51-15.25                           15.26-20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3.125                                   6.25                                      9.375                                      12.5</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/12.5</a:t>
                      </a:r>
                      <a:endParaRPr sz="1400" u="none" cap="none" strike="noStrike"/>
                    </a:p>
                  </a:txBody>
                  <a:tcPr marT="60950" marB="60950" marR="68575" marL="68575">
                    <a:solidFill>
                      <a:srgbClr val="00FF00"/>
                    </a:solidFill>
                  </a:tcPr>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S2Q2: </a:t>
                      </a:r>
                      <a:r>
                        <a:rPr b="0" i="0" lang="en-US" sz="1100" u="none" cap="none" strike="noStrike"/>
                        <a:t>What is the level of comfort on the closest collector or arterial roadway segment(s)?</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RTC Ped/Bike Plan Level of Comfort Online Tool,, available here: </a:t>
                      </a:r>
                      <a:r>
                        <a:rPr lang="en-US" sz="1100" u="sng" cap="none" strike="noStrike">
                          <a:solidFill>
                            <a:schemeClr val="hlink"/>
                          </a:solidFill>
                        </a:rPr>
                        <a:t>https://rtcsnv.maps.arcgis.com/apps/webappviewer/index.html?id=f3ee5b445fdf48d18e6969ef106c5e09</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Comfort:            Level 4                              Level 3                                Level 2                             Level 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3.125                                   6.25                                      9.375                                12.5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/12.5</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S2Q3: </a:t>
                      </a:r>
                      <a:r>
                        <a:rPr b="0" lang="en-US" sz="1100" u="none" cap="none" strike="noStrike">
                          <a:solidFill>
                            <a:srgbClr val="000000"/>
                          </a:solidFill>
                        </a:rPr>
                        <a:t>What is the average </a:t>
                      </a:r>
                      <a:r>
                        <a:rPr lang="en-US" sz="1100" u="none" cap="none" strike="noStrike">
                          <a:solidFill>
                            <a:srgbClr val="000000"/>
                          </a:solidFill>
                        </a:rPr>
                        <a:t>Microscale Audit of Pedestrian Streetscapes (</a:t>
                      </a:r>
                      <a:r>
                        <a:rPr b="0" lang="en-US" sz="1100" u="none" cap="none" strike="noStrike">
                          <a:solidFill>
                            <a:srgbClr val="000000"/>
                          </a:solidFill>
                        </a:rPr>
                        <a:t>MAPS) mini score for all of the segments in the project area?</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sz="1100" u="none" cap="none" strike="noStrike">
                        <a:solidFill>
                          <a:srgbClr val="000000"/>
                        </a:solidFill>
                      </a:endParaRPr>
                    </a:p>
                    <a:p>
                      <a:pPr indent="0" lvl="0" marL="0" marR="0" rtl="0" algn="l">
                        <a:lnSpc>
                          <a:spcPct val="100000"/>
                        </a:lnSpc>
                        <a:spcBef>
                          <a:spcPts val="0"/>
                        </a:spcBef>
                        <a:spcAft>
                          <a:spcPts val="0"/>
                        </a:spcAft>
                        <a:buClr>
                          <a:srgbClr val="0432FF"/>
                        </a:buClr>
                        <a:buSzPts val="1100"/>
                        <a:buFont typeface="Calibri"/>
                        <a:buNone/>
                      </a:pPr>
                      <a:r>
                        <a:rPr b="0" lang="en-US" sz="1100" u="none" cap="none" strike="noStrike">
                          <a:solidFill>
                            <a:srgbClr val="0432FF"/>
                          </a:solidFill>
                        </a:rPr>
                        <a:t>(conduct MAPS mini for each segment and then average them to get a MAPS mini score. Resources available here: </a:t>
                      </a:r>
                      <a:r>
                        <a:rPr lang="en-US" sz="1100" u="sng" cap="none" strike="noStrike">
                          <a:solidFill>
                            <a:schemeClr val="hlink"/>
                          </a:solidFill>
                          <a:latin typeface="Arial"/>
                          <a:ea typeface="Arial"/>
                          <a:cs typeface="Arial"/>
                          <a:sym typeface="Arial"/>
                          <a:hlinkClick r:id="rId4"/>
                        </a:rPr>
                        <a:t>https://drjimsallis.org/measure_maps.html#MAPSMINI</a:t>
                      </a:r>
                      <a:r>
                        <a:rPr lang="en-US" sz="1100" u="none" cap="none" strike="noStrike">
                          <a:solidFill>
                            <a:srgbClr val="0432FF"/>
                          </a:solidFill>
                        </a:rPr>
                        <a:t>. </a:t>
                      </a:r>
                      <a:endParaRPr b="1"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MAPS Mini Score:   0-1      2-3      4-5    6-7     8-9     10-11   12-13   14-15     16-17     18-19   20-21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2.5       5      7.5       10       12.5      15        17.5         20         22.5         25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/25</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2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Below Average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Average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Above Average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365" name="Google Shape;365;p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783ce67ac1_0_242"/>
          <p:cNvSpPr txBox="1"/>
          <p:nvPr>
            <p:ph type="title"/>
          </p:nvPr>
        </p:nvSpPr>
        <p:spPr>
          <a:xfrm>
            <a:off x="342900" y="190500"/>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S2Q1 Instructions</a:t>
            </a:r>
            <a:endParaRPr sz="4000"/>
          </a:p>
        </p:txBody>
      </p:sp>
      <p:sp>
        <p:nvSpPr>
          <p:cNvPr id="372" name="Google Shape;372;g783ce67ac1_0_242"/>
          <p:cNvSpPr txBox="1"/>
          <p:nvPr>
            <p:ph idx="1" type="body"/>
          </p:nvPr>
        </p:nvSpPr>
        <p:spPr>
          <a:xfrm>
            <a:off x="342900" y="1019175"/>
            <a:ext cx="6172200" cy="7020000"/>
          </a:xfrm>
          <a:prstGeom prst="rect">
            <a:avLst/>
          </a:prstGeom>
          <a:noFill/>
          <a:ln>
            <a:noFill/>
          </a:ln>
        </p:spPr>
        <p:txBody>
          <a:bodyPr anchorCtr="0" anchor="t" bIns="45700" lIns="91425" spcFirstLastPara="1" rIns="91425" wrap="square" tIns="45700">
            <a:noAutofit/>
          </a:bodyPr>
          <a:lstStyle/>
          <a:p>
            <a:pPr indent="-361950" lvl="0" marL="457200" rtl="0" algn="l">
              <a:lnSpc>
                <a:spcPct val="115000"/>
              </a:lnSpc>
              <a:spcBef>
                <a:spcPts val="0"/>
              </a:spcBef>
              <a:spcAft>
                <a:spcPts val="0"/>
              </a:spcAft>
              <a:buSzPts val="2100"/>
              <a:buChar char="●"/>
            </a:pPr>
            <a:r>
              <a:rPr lang="en-US" sz="2100">
                <a:solidFill>
                  <a:srgbClr val="000000"/>
                </a:solidFill>
              </a:rPr>
              <a:t>Click the link provided for the U.S. Environmental Protection Agency (EPA) National Walkability Score, available </a:t>
            </a:r>
            <a:r>
              <a:rPr lang="en-US" sz="2100" u="sng">
                <a:solidFill>
                  <a:schemeClr val="hlink"/>
                </a:solidFill>
                <a:hlinkClick r:id="rId3"/>
              </a:rPr>
              <a:t>here</a:t>
            </a:r>
            <a:r>
              <a:rPr lang="en-US" sz="2100">
                <a:solidFill>
                  <a:srgbClr val="000000"/>
                </a:solidFill>
              </a:rPr>
              <a:t>. </a:t>
            </a:r>
            <a:endParaRPr sz="2100">
              <a:solidFill>
                <a:srgbClr val="000000"/>
              </a:solidFill>
            </a:endParaRPr>
          </a:p>
          <a:p>
            <a:pPr indent="-349250" lvl="0" marL="457200" rtl="0" algn="l">
              <a:lnSpc>
                <a:spcPct val="115000"/>
              </a:lnSpc>
              <a:spcBef>
                <a:spcPts val="0"/>
              </a:spcBef>
              <a:spcAft>
                <a:spcPts val="0"/>
              </a:spcAft>
              <a:buSzPts val="1900"/>
              <a:buChar char="●"/>
            </a:pPr>
            <a:r>
              <a:rPr lang="en-US" sz="1900"/>
              <a:t>Next to “View In,” select “ArcGIS Online Map Viewer” </a:t>
            </a:r>
            <a:endParaRPr b="1" i="1" sz="1900"/>
          </a:p>
          <a:p>
            <a:pPr indent="-361950" lvl="0" marL="457200" rtl="0" algn="l">
              <a:lnSpc>
                <a:spcPct val="115000"/>
              </a:lnSpc>
              <a:spcBef>
                <a:spcPts val="0"/>
              </a:spcBef>
              <a:spcAft>
                <a:spcPts val="0"/>
              </a:spcAft>
              <a:buSzPts val="2100"/>
              <a:buChar char="●"/>
            </a:pPr>
            <a:r>
              <a:rPr lang="en-US" sz="2100"/>
              <a:t>Enter the address for project area inside the text box on the top right.</a:t>
            </a:r>
            <a:endParaRPr b="1" i="1" sz="2100"/>
          </a:p>
          <a:p>
            <a:pPr indent="-361950" lvl="0" marL="457200" rtl="0" algn="l">
              <a:lnSpc>
                <a:spcPct val="115000"/>
              </a:lnSpc>
              <a:spcBef>
                <a:spcPts val="0"/>
              </a:spcBef>
              <a:spcAft>
                <a:spcPts val="0"/>
              </a:spcAft>
              <a:buSzPts val="2100"/>
              <a:buChar char="●"/>
            </a:pPr>
            <a:r>
              <a:rPr lang="en-US" sz="2100"/>
              <a:t>On the left, click on “Basemap” and select “Imagery Hybrid.”</a:t>
            </a:r>
            <a:endParaRPr sz="2100">
              <a:solidFill>
                <a:srgbClr val="000000"/>
              </a:solidFill>
            </a:endParaRPr>
          </a:p>
          <a:p>
            <a:pPr indent="-361950" lvl="0" marL="457200" rtl="0" algn="l">
              <a:lnSpc>
                <a:spcPct val="115000"/>
              </a:lnSpc>
              <a:spcBef>
                <a:spcPts val="0"/>
              </a:spcBef>
              <a:spcAft>
                <a:spcPts val="0"/>
              </a:spcAft>
              <a:buClr>
                <a:srgbClr val="000000"/>
              </a:buClr>
              <a:buSzPts val="2100"/>
              <a:buChar char="●"/>
            </a:pPr>
            <a:r>
              <a:rPr lang="en-US" sz="2100">
                <a:solidFill>
                  <a:srgbClr val="000000"/>
                </a:solidFill>
              </a:rPr>
              <a:t>The Index will be color-coded by area.</a:t>
            </a:r>
            <a:endParaRPr sz="2100">
              <a:solidFill>
                <a:srgbClr val="000000"/>
              </a:solidFill>
            </a:endParaRPr>
          </a:p>
          <a:p>
            <a:pPr indent="-361950" lvl="0" marL="457200" rtl="0" algn="l">
              <a:lnSpc>
                <a:spcPct val="107000"/>
              </a:lnSpc>
              <a:spcBef>
                <a:spcPts val="0"/>
              </a:spcBef>
              <a:spcAft>
                <a:spcPts val="0"/>
              </a:spcAft>
              <a:buClr>
                <a:srgbClr val="000000"/>
              </a:buClr>
              <a:buSzPts val="2100"/>
              <a:buChar char="●"/>
            </a:pPr>
            <a:r>
              <a:rPr lang="en-US" sz="2100">
                <a:solidFill>
                  <a:srgbClr val="000000"/>
                </a:solidFill>
              </a:rPr>
              <a:t> Select the “Legend” menu.</a:t>
            </a:r>
            <a:endParaRPr sz="2100">
              <a:solidFill>
                <a:srgbClr val="000000"/>
              </a:solidFill>
            </a:endParaRPr>
          </a:p>
          <a:p>
            <a:pPr indent="-361950" lvl="1" marL="914400" rtl="0" algn="l">
              <a:lnSpc>
                <a:spcPct val="107000"/>
              </a:lnSpc>
              <a:spcBef>
                <a:spcPts val="0"/>
              </a:spcBef>
              <a:spcAft>
                <a:spcPts val="0"/>
              </a:spcAft>
              <a:buClr>
                <a:srgbClr val="000000"/>
              </a:buClr>
              <a:buSzPts val="2100"/>
              <a:buChar char="○"/>
            </a:pPr>
            <a:r>
              <a:rPr lang="en-US" sz="2100">
                <a:solidFill>
                  <a:srgbClr val="000000"/>
                </a:solidFill>
              </a:rPr>
              <a:t>For value(s), cross-reference color(s) in the project area with the color/number range in the map key.</a:t>
            </a:r>
            <a:endParaRPr sz="2100">
              <a:solidFill>
                <a:srgbClr val="000000"/>
              </a:solidFill>
            </a:endParaRPr>
          </a:p>
          <a:p>
            <a:pPr indent="-361950" lvl="1" marL="914400" rtl="0" algn="l">
              <a:lnSpc>
                <a:spcPct val="107000"/>
              </a:lnSpc>
              <a:spcBef>
                <a:spcPts val="0"/>
              </a:spcBef>
              <a:spcAft>
                <a:spcPts val="0"/>
              </a:spcAft>
              <a:buClr>
                <a:srgbClr val="000000"/>
              </a:buClr>
              <a:buSzPts val="2100"/>
              <a:buChar char="○"/>
            </a:pPr>
            <a:r>
              <a:rPr lang="en-US" sz="2100">
                <a:solidFill>
                  <a:srgbClr val="000000"/>
                </a:solidFill>
              </a:rPr>
              <a:t>If the project area is straddles multiple color-coded zones in the map view, compute the average. </a:t>
            </a:r>
            <a:endParaRPr sz="2100">
              <a:solidFill>
                <a:srgbClr val="000000"/>
              </a:solidFill>
            </a:endParaRPr>
          </a:p>
          <a:p>
            <a:pPr indent="-361950" lvl="1" marL="914400" rtl="0" algn="l">
              <a:lnSpc>
                <a:spcPct val="107000"/>
              </a:lnSpc>
              <a:spcBef>
                <a:spcPts val="0"/>
              </a:spcBef>
              <a:spcAft>
                <a:spcPts val="0"/>
              </a:spcAft>
              <a:buClr>
                <a:srgbClr val="000000"/>
              </a:buClr>
              <a:buSzPts val="2100"/>
              <a:buChar char="○"/>
            </a:pPr>
            <a:r>
              <a:rPr lang="en-US" sz="2100">
                <a:solidFill>
                  <a:srgbClr val="000000"/>
                </a:solidFill>
              </a:rPr>
              <a:t>Record the corresponding points.</a:t>
            </a:r>
            <a:endParaRPr sz="2100">
              <a:solidFill>
                <a:srgbClr val="000000"/>
              </a:solidFill>
            </a:endParaRPr>
          </a:p>
          <a:p>
            <a:pPr indent="0" lvl="0" marL="0" rtl="0" algn="l">
              <a:lnSpc>
                <a:spcPct val="100000"/>
              </a:lnSpc>
              <a:spcBef>
                <a:spcPts val="100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00000"/>
              </a:lnSpc>
              <a:spcBef>
                <a:spcPts val="80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600"/>
          </a:p>
        </p:txBody>
      </p:sp>
      <p:sp>
        <p:nvSpPr>
          <p:cNvPr id="373" name="Google Shape;373;g783ce67ac1_0_24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783ce67ac1_0_258"/>
          <p:cNvSpPr/>
          <p:nvPr/>
        </p:nvSpPr>
        <p:spPr>
          <a:xfrm>
            <a:off x="157750" y="470185"/>
            <a:ext cx="63891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9051"/>
                </a:solidFill>
                <a:latin typeface="Calibri"/>
                <a:ea typeface="Calibri"/>
                <a:cs typeface="Calibri"/>
                <a:sym typeface="Calibri"/>
              </a:rPr>
              <a:t>Step 2: Assess existing infrastructure</a:t>
            </a:r>
            <a:endParaRPr b="0" i="0" sz="2800" u="none" cap="none" strike="noStrike">
              <a:solidFill>
                <a:srgbClr val="7030A0"/>
              </a:solidFill>
              <a:latin typeface="Calibri"/>
              <a:ea typeface="Calibri"/>
              <a:cs typeface="Calibri"/>
              <a:sym typeface="Calibri"/>
            </a:endParaRPr>
          </a:p>
        </p:txBody>
      </p:sp>
      <p:graphicFrame>
        <p:nvGraphicFramePr>
          <p:cNvPr id="379" name="Google Shape;379;g783ce67ac1_0_258"/>
          <p:cNvGraphicFramePr/>
          <p:nvPr/>
        </p:nvGraphicFramePr>
        <p:xfrm>
          <a:off x="311150" y="1841105"/>
          <a:ext cx="3000000" cy="3000000"/>
        </p:xfrm>
        <a:graphic>
          <a:graphicData uri="http://schemas.openxmlformats.org/drawingml/2006/table">
            <a:tbl>
              <a:tblPr bandRow="1" firstRow="1">
                <a:noFill/>
                <a:tableStyleId>{DA7E6E65-D877-46FA-B78E-C062FE7EB15C}</a:tableStyleId>
              </a:tblPr>
              <a:tblGrid>
                <a:gridCol w="5599675"/>
                <a:gridCol w="636025"/>
              </a:tblGrid>
              <a:tr h="3997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infrastructure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S2Q1: What is the National Walkability Index Score?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National Walkability Score, available here:</a:t>
                      </a:r>
                      <a:r>
                        <a:rPr lang="en-US" sz="1400" u="none" cap="none" strike="noStrike"/>
                        <a:t> </a:t>
                      </a:r>
                      <a:r>
                        <a:rPr lang="en-US" sz="1100" u="sng" cap="none" strike="noStrike">
                          <a:solidFill>
                            <a:schemeClr val="hlink"/>
                          </a:solidFill>
                          <a:latin typeface="Arial"/>
                          <a:ea typeface="Arial"/>
                          <a:cs typeface="Arial"/>
                          <a:sym typeface="Arial"/>
                          <a:hlinkClick r:id="rId3"/>
                        </a:rPr>
                        <a:t>https://geodata.epa.gov/arcgis/rest/services/OA/WalkabilityIndex/MapServer</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Index:         1-5.75                               5.76-10.5                           10.51-15.25                           15.26-20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3.125                                   6.25                                      9.375                                      12.5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/12.5</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S2Q2: </a:t>
                      </a:r>
                      <a:r>
                        <a:rPr b="0" i="0" lang="en-US" sz="1100" u="none" cap="none" strike="noStrike"/>
                        <a:t>What is the level of comfort on the closest collector or arterial roadway segment(s)?</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RTC Ped/Bike Plan Level of Comfort Online Tool,, available here: </a:t>
                      </a:r>
                      <a:r>
                        <a:rPr lang="en-US" sz="1100" u="sng" cap="none" strike="noStrike">
                          <a:solidFill>
                            <a:schemeClr val="hlink"/>
                          </a:solidFill>
                        </a:rPr>
                        <a:t>https://rtcsnv.maps.arcgis.com/apps/webappviewer/index.html?id=f3ee5b445fdf48d18e6969ef106c5e09</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Comfort:            Level 4                              Level 3                                Level 2                             Level 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3.125                                   6.25                                      9.375                                12.5</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/12.5</a:t>
                      </a:r>
                      <a:endParaRPr sz="1400" u="none" cap="none" strike="noStrike"/>
                    </a:p>
                  </a:txBody>
                  <a:tcPr marT="60950" marB="60950" marR="68575" marL="68575">
                    <a:solidFill>
                      <a:srgbClr val="00FF00"/>
                    </a:solidFill>
                  </a:tcPr>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S2Q3: </a:t>
                      </a:r>
                      <a:r>
                        <a:rPr b="0" lang="en-US" sz="1100" u="none" cap="none" strike="noStrike">
                          <a:solidFill>
                            <a:srgbClr val="000000"/>
                          </a:solidFill>
                        </a:rPr>
                        <a:t>What is the average </a:t>
                      </a:r>
                      <a:r>
                        <a:rPr lang="en-US" sz="1100" u="none" cap="none" strike="noStrike"/>
                        <a:t>Microscale Audit of Pedestrian Streetscapes (MAPS) </a:t>
                      </a:r>
                      <a:r>
                        <a:rPr b="0" lang="en-US" sz="1100" u="none" cap="none" strike="noStrike">
                          <a:solidFill>
                            <a:srgbClr val="000000"/>
                          </a:solidFill>
                        </a:rPr>
                        <a:t>mini score for all of the segments in the project area?</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sz="1100" u="none" cap="none" strike="noStrike">
                        <a:solidFill>
                          <a:srgbClr val="000000"/>
                        </a:solidFill>
                      </a:endParaRPr>
                    </a:p>
                    <a:p>
                      <a:pPr indent="0" lvl="0" marL="0" marR="0" rtl="0" algn="l">
                        <a:lnSpc>
                          <a:spcPct val="100000"/>
                        </a:lnSpc>
                        <a:spcBef>
                          <a:spcPts val="0"/>
                        </a:spcBef>
                        <a:spcAft>
                          <a:spcPts val="0"/>
                        </a:spcAft>
                        <a:buClr>
                          <a:srgbClr val="0432FF"/>
                        </a:buClr>
                        <a:buSzPts val="1100"/>
                        <a:buFont typeface="Calibri"/>
                        <a:buNone/>
                      </a:pPr>
                      <a:r>
                        <a:rPr b="0" lang="en-US" sz="1100" u="none" cap="none" strike="noStrike">
                          <a:solidFill>
                            <a:srgbClr val="0432FF"/>
                          </a:solidFill>
                        </a:rPr>
                        <a:t>(conduct MAPS mini for each segment and then average them to get a MAPS mini score. Resources available here: </a:t>
                      </a:r>
                      <a:r>
                        <a:rPr lang="en-US" sz="1100" u="sng" cap="none" strike="noStrike">
                          <a:solidFill>
                            <a:schemeClr val="hlink"/>
                          </a:solidFill>
                          <a:latin typeface="Arial"/>
                          <a:ea typeface="Arial"/>
                          <a:cs typeface="Arial"/>
                          <a:sym typeface="Arial"/>
                          <a:hlinkClick r:id="rId4"/>
                        </a:rPr>
                        <a:t>https://drjimsallis.org/measure_maps.html#MAPSMINI</a:t>
                      </a:r>
                      <a:r>
                        <a:rPr lang="en-US" sz="1100" u="none" cap="none" strike="noStrike">
                          <a:solidFill>
                            <a:srgbClr val="0432FF"/>
                          </a:solidFill>
                        </a:rPr>
                        <a:t>. </a:t>
                      </a:r>
                      <a:endParaRPr b="1"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MAPS Mini Score:   0-1      2-3      4-5    6-7     8-9     10-11   12-13   14-15     16-17     18-19   20-21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2.5       5      7.5       10       12.5      15        17.5         20         22.5         25                                        </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/25</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2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Below Average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Average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Above Average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380" name="Google Shape;380;g783ce67ac1_0_258"/>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783ce67ac1_0_265"/>
          <p:cNvSpPr txBox="1"/>
          <p:nvPr>
            <p:ph type="title"/>
          </p:nvPr>
        </p:nvSpPr>
        <p:spPr>
          <a:xfrm>
            <a:off x="356755" y="864"/>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S2Q2 Instructions</a:t>
            </a:r>
            <a:endParaRPr sz="4000"/>
          </a:p>
        </p:txBody>
      </p:sp>
      <p:sp>
        <p:nvSpPr>
          <p:cNvPr id="387" name="Google Shape;387;g783ce67ac1_0_265"/>
          <p:cNvSpPr txBox="1"/>
          <p:nvPr>
            <p:ph idx="1" type="body"/>
          </p:nvPr>
        </p:nvSpPr>
        <p:spPr>
          <a:xfrm>
            <a:off x="315189" y="769788"/>
            <a:ext cx="6213765" cy="8124825"/>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SzPts val="2400"/>
              <a:buChar char="●"/>
            </a:pPr>
            <a:r>
              <a:rPr lang="en-US" sz="2400"/>
              <a:t>Click on the Existing Level of Comfort for bicycling map tool from the Regional Transportation Commission Regional Bicycle and Pedestrian Plan, available </a:t>
            </a:r>
            <a:r>
              <a:rPr lang="en-US" sz="2400" u="sng">
                <a:solidFill>
                  <a:schemeClr val="hlink"/>
                </a:solidFill>
                <a:hlinkClick r:id="rId3"/>
              </a:rPr>
              <a:t>here</a:t>
            </a:r>
            <a:r>
              <a:rPr lang="en-US" sz="2400"/>
              <a:t>. </a:t>
            </a:r>
            <a:endParaRPr/>
          </a:p>
          <a:p>
            <a:pPr indent="-381000" lvl="0" marL="457200" rtl="0" algn="l">
              <a:lnSpc>
                <a:spcPct val="115000"/>
              </a:lnSpc>
              <a:spcBef>
                <a:spcPts val="0"/>
              </a:spcBef>
              <a:spcAft>
                <a:spcPts val="0"/>
              </a:spcAft>
              <a:buSzPts val="2400"/>
              <a:buFont typeface="Arial"/>
              <a:buChar char="●"/>
            </a:pPr>
            <a:r>
              <a:rPr lang="en-US" sz="2400"/>
              <a:t>Enter the address for project area inside the address text box in the top left.</a:t>
            </a:r>
            <a:endParaRPr/>
          </a:p>
          <a:p>
            <a:pPr indent="-381000" lvl="0" marL="457200" rtl="0" algn="l">
              <a:lnSpc>
                <a:spcPct val="115000"/>
              </a:lnSpc>
              <a:spcBef>
                <a:spcPts val="0"/>
              </a:spcBef>
              <a:spcAft>
                <a:spcPts val="0"/>
              </a:spcAft>
              <a:buSzPts val="2400"/>
              <a:buFont typeface="Arial"/>
              <a:buChar char="●"/>
            </a:pPr>
            <a:r>
              <a:rPr lang="en-US" sz="2400"/>
              <a:t>Find the closest collector or arterial roadway to the project area with either a green, blue, orange, or red line on the roadway. </a:t>
            </a:r>
            <a:endParaRPr/>
          </a:p>
          <a:p>
            <a:pPr indent="-381000" lvl="1" marL="914400" rtl="0" algn="l">
              <a:lnSpc>
                <a:spcPct val="115000"/>
              </a:lnSpc>
              <a:spcBef>
                <a:spcPts val="0"/>
              </a:spcBef>
              <a:spcAft>
                <a:spcPts val="0"/>
              </a:spcAft>
              <a:buSzPts val="2400"/>
              <a:buFont typeface="Arial"/>
              <a:buChar char="●"/>
            </a:pPr>
            <a:r>
              <a:rPr lang="en-US" sz="2000"/>
              <a:t>If there is one such line in the project area, record the point value associated with its  corresponding level of comfort. </a:t>
            </a:r>
            <a:endParaRPr/>
          </a:p>
          <a:p>
            <a:pPr indent="-381000" lvl="1" marL="914400" rtl="0" algn="l">
              <a:lnSpc>
                <a:spcPct val="115000"/>
              </a:lnSpc>
              <a:spcBef>
                <a:spcPts val="0"/>
              </a:spcBef>
              <a:spcAft>
                <a:spcPts val="0"/>
              </a:spcAft>
              <a:buSzPts val="2400"/>
              <a:buFont typeface="Arial"/>
              <a:buChar char="●"/>
            </a:pPr>
            <a:r>
              <a:rPr lang="en-US" sz="2000"/>
              <a:t>If there are multiple such line in the project area, average their Levels of Comfort. Round decimal of .5 or more up to the next Level of Comfort and decimals under .5 down.</a:t>
            </a:r>
            <a:endParaRPr/>
          </a:p>
          <a:p>
            <a:pPr indent="-381000" lvl="1" marL="914400" rtl="0" algn="l">
              <a:lnSpc>
                <a:spcPct val="115000"/>
              </a:lnSpc>
              <a:spcBef>
                <a:spcPts val="0"/>
              </a:spcBef>
              <a:spcAft>
                <a:spcPts val="0"/>
              </a:spcAft>
              <a:buSzPts val="2400"/>
              <a:buFont typeface="Arial"/>
              <a:buChar char="●"/>
            </a:pPr>
            <a:r>
              <a:rPr lang="en-US" sz="2000"/>
              <a:t>If there is no such line in the project area, use the measurement tool, which looks like a ruler, to find the closest one. Record the point value associated with its  corresponding level of comfort. </a:t>
            </a:r>
            <a:endParaRPr sz="1600"/>
          </a:p>
          <a:p>
            <a:pPr indent="0" lvl="0" marL="457200" rtl="0" algn="l">
              <a:lnSpc>
                <a:spcPct val="115000"/>
              </a:lnSpc>
              <a:spcBef>
                <a:spcPts val="0"/>
              </a:spcBef>
              <a:spcAft>
                <a:spcPts val="0"/>
              </a:spcAft>
              <a:buSzPts val="1800"/>
              <a:buNone/>
            </a:pPr>
            <a:r>
              <a:t/>
            </a:r>
            <a:endParaRPr sz="1600">
              <a:solidFill>
                <a:srgbClr val="000000"/>
              </a:solidFill>
            </a:endParaRPr>
          </a:p>
          <a:p>
            <a:pPr indent="0" lvl="0" marL="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00000"/>
              </a:lnSpc>
              <a:spcBef>
                <a:spcPts val="80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600"/>
          </a:p>
        </p:txBody>
      </p:sp>
      <p:sp>
        <p:nvSpPr>
          <p:cNvPr id="388" name="Google Shape;388;g783ce67ac1_0_26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783ce67ac1_0_275"/>
          <p:cNvSpPr/>
          <p:nvPr/>
        </p:nvSpPr>
        <p:spPr>
          <a:xfrm>
            <a:off x="157750" y="490712"/>
            <a:ext cx="63891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9051"/>
                </a:solidFill>
                <a:latin typeface="Calibri"/>
                <a:ea typeface="Calibri"/>
                <a:cs typeface="Calibri"/>
                <a:sym typeface="Calibri"/>
              </a:rPr>
              <a:t>Step 2: Assess existing infrastructure</a:t>
            </a:r>
            <a:endParaRPr b="0" i="0" sz="2800" u="none" cap="none" strike="noStrike">
              <a:solidFill>
                <a:srgbClr val="7030A0"/>
              </a:solidFill>
              <a:latin typeface="Calibri"/>
              <a:ea typeface="Calibri"/>
              <a:cs typeface="Calibri"/>
              <a:sym typeface="Calibri"/>
            </a:endParaRPr>
          </a:p>
        </p:txBody>
      </p:sp>
      <p:graphicFrame>
        <p:nvGraphicFramePr>
          <p:cNvPr id="394" name="Google Shape;394;g783ce67ac1_0_275"/>
          <p:cNvGraphicFramePr/>
          <p:nvPr/>
        </p:nvGraphicFramePr>
        <p:xfrm>
          <a:off x="311150" y="1468582"/>
          <a:ext cx="3000000" cy="3000000"/>
        </p:xfrm>
        <a:graphic>
          <a:graphicData uri="http://schemas.openxmlformats.org/drawingml/2006/table">
            <a:tbl>
              <a:tblPr bandRow="1" firstRow="1">
                <a:noFill/>
                <a:tableStyleId>{DA7E6E65-D877-46FA-B78E-C062FE7EB15C}</a:tableStyleId>
              </a:tblPr>
              <a:tblGrid>
                <a:gridCol w="5599675"/>
                <a:gridCol w="636025"/>
              </a:tblGrid>
              <a:tr h="3997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Existing infrastructure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Pts</a:t>
                      </a:r>
                      <a:endParaRPr sz="1400" u="none" cap="none" strike="noStrike"/>
                    </a:p>
                  </a:txBody>
                  <a:tcPr marT="60950" marB="60950" marR="68575" marL="68575"/>
                </a:tc>
              </a:tr>
              <a:tr h="113127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S2Q1: What is the National Walkability Index Score?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EPA National Walkability Score, available here:</a:t>
                      </a:r>
                      <a:r>
                        <a:rPr lang="en-US" sz="1400" u="none" cap="none" strike="noStrike"/>
                        <a:t> </a:t>
                      </a:r>
                      <a:r>
                        <a:rPr lang="en-US" sz="1100" u="sng" cap="none" strike="noStrike">
                          <a:solidFill>
                            <a:schemeClr val="hlink"/>
                          </a:solidFill>
                          <a:latin typeface="Arial"/>
                          <a:ea typeface="Arial"/>
                          <a:cs typeface="Arial"/>
                          <a:sym typeface="Arial"/>
                          <a:hlinkClick r:id="rId3"/>
                        </a:rPr>
                        <a:t>https://geodata.epa.gov/arcgis/rest/services/OA/WalkabilityIndex/MapServer</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Index:         1-5.75                               5.76-10.5                           10.51-15.25                           15.26-20</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3.125                                   6.25                                      9.375                                      12.5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/12.5</a:t>
                      </a:r>
                      <a:endParaRPr sz="1400" u="none" cap="none" strike="noStrike"/>
                    </a:p>
                  </a:txBody>
                  <a:tcPr marT="60950" marB="60950" marR="68575" marL="68575"/>
                </a:tc>
              </a:tr>
              <a:tr h="963125">
                <a:tc>
                  <a:txBody>
                    <a:bodyPr/>
                    <a:lstStyle/>
                    <a:p>
                      <a:pPr indent="0" lvl="0" marL="0" marR="0" rtl="0" algn="l">
                        <a:lnSpc>
                          <a:spcPct val="100000"/>
                        </a:lnSpc>
                        <a:spcBef>
                          <a:spcPts val="0"/>
                        </a:spcBef>
                        <a:spcAft>
                          <a:spcPts val="0"/>
                        </a:spcAft>
                        <a:buClr>
                          <a:schemeClr val="dk1"/>
                        </a:buClr>
                        <a:buSzPts val="1100"/>
                        <a:buFont typeface="Calibri"/>
                        <a:buNone/>
                      </a:pPr>
                      <a:r>
                        <a:rPr lang="en-US" sz="1100" u="none" cap="none" strike="noStrike"/>
                        <a:t>S2Q2: </a:t>
                      </a:r>
                      <a:r>
                        <a:rPr b="0" i="0" lang="en-US" sz="1100" u="none" cap="none" strike="noStrike"/>
                        <a:t>What is the level of comfort on the closest collector or arterial roadway segment(s)?</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p>
                    <a:p>
                      <a:pPr indent="0" lvl="0" marL="0" marR="0" rtl="0" algn="l">
                        <a:lnSpc>
                          <a:spcPct val="100000"/>
                        </a:lnSpc>
                        <a:spcBef>
                          <a:spcPts val="0"/>
                        </a:spcBef>
                        <a:spcAft>
                          <a:spcPts val="0"/>
                        </a:spcAft>
                        <a:buClr>
                          <a:srgbClr val="0432FF"/>
                        </a:buClr>
                        <a:buSzPts val="1100"/>
                        <a:buFont typeface="Calibri"/>
                        <a:buNone/>
                      </a:pPr>
                      <a:r>
                        <a:rPr b="0" i="0" lang="en-US" sz="1100" u="none" cap="none" strike="noStrike">
                          <a:solidFill>
                            <a:srgbClr val="0432FF"/>
                          </a:solidFill>
                        </a:rPr>
                        <a:t>(use RTC Ped/Bike Plan Level of Comfort Online Tool,, available here: </a:t>
                      </a:r>
                      <a:r>
                        <a:rPr lang="en-US" sz="1100" u="sng" cap="none" strike="noStrike">
                          <a:solidFill>
                            <a:schemeClr val="hlink"/>
                          </a:solidFill>
                        </a:rPr>
                        <a:t>https://rtcsnv.maps.arcgis.com/apps/webappviewer/index.html?id=f3ee5b445fdf48d18e6969ef106c5e09</a:t>
                      </a:r>
                      <a:r>
                        <a:rPr lang="en-US" sz="1100" u="none" cap="none" strike="noStrike">
                          <a:solidFill>
                            <a:srgbClr val="0432FF"/>
                          </a:solidFill>
                        </a:rPr>
                        <a:t>)</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 </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Comfort:            Level 4                              Level 3                                Level 2                             Level 1</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3.125                                   6.25                                      9.375                                12.5</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/12.5</a:t>
                      </a:r>
                      <a:endParaRPr sz="1400" u="none" cap="none" strike="noStrike"/>
                    </a:p>
                  </a:txBody>
                  <a:tcPr marT="60950" marB="60950" marR="68575" marL="68575"/>
                </a:tc>
              </a:tr>
              <a:tr h="794950">
                <a:tc>
                  <a:txBody>
                    <a:bodyPr/>
                    <a:lstStyle/>
                    <a:p>
                      <a:pPr indent="0" lvl="0" marL="0" marR="0" rtl="0" algn="l">
                        <a:lnSpc>
                          <a:spcPct val="100000"/>
                        </a:lnSpc>
                        <a:spcBef>
                          <a:spcPts val="0"/>
                        </a:spcBef>
                        <a:spcAft>
                          <a:spcPts val="0"/>
                        </a:spcAft>
                        <a:buClr>
                          <a:srgbClr val="000000"/>
                        </a:buClr>
                        <a:buSzPts val="1100"/>
                        <a:buFont typeface="Calibri"/>
                        <a:buNone/>
                      </a:pPr>
                      <a:r>
                        <a:rPr lang="en-US" sz="1100" u="none" cap="none" strike="noStrike">
                          <a:solidFill>
                            <a:srgbClr val="000000"/>
                          </a:solidFill>
                        </a:rPr>
                        <a:t>S2Q3: </a:t>
                      </a:r>
                      <a:r>
                        <a:rPr b="0" lang="en-US" sz="1100" u="none" cap="none" strike="noStrike">
                          <a:solidFill>
                            <a:srgbClr val="000000"/>
                          </a:solidFill>
                        </a:rPr>
                        <a:t>What is the average</a:t>
                      </a:r>
                      <a:r>
                        <a:rPr lang="en-US" sz="1100" u="none" cap="none" strike="noStrike">
                          <a:solidFill>
                            <a:srgbClr val="000000"/>
                          </a:solidFill>
                        </a:rPr>
                        <a:t> Microscale Audit of Pedestrian Streetscapes</a:t>
                      </a:r>
                      <a:r>
                        <a:rPr b="0" lang="en-US" sz="1100" u="none" cap="none" strike="noStrike">
                          <a:solidFill>
                            <a:srgbClr val="000000"/>
                          </a:solidFill>
                        </a:rPr>
                        <a:t> (</a:t>
                      </a:r>
                      <a:r>
                        <a:rPr b="0" lang="en-US" sz="1100" u="none" cap="none" strike="noStrike">
                          <a:solidFill>
                            <a:srgbClr val="000000"/>
                          </a:solidFill>
                          <a:extLst>
                            <a:ext uri="http://customooxmlschemas.google.com/">
                              <go:slidesCustomData xmlns:go="http://customooxmlschemas.google.com/" textRoundtripDataId="1"/>
                            </a:ext>
                          </a:extLst>
                        </a:rPr>
                        <a:t>MAPS) </a:t>
                      </a:r>
                      <a:r>
                        <a:rPr b="0" lang="en-US" sz="1100" u="none" cap="none" strike="noStrike">
                          <a:solidFill>
                            <a:srgbClr val="000000"/>
                          </a:solidFill>
                        </a:rPr>
                        <a:t>mini score for all of the segments in the project area?</a:t>
                      </a:r>
                      <a:endParaRPr sz="1400" u="none" cap="none" strike="noStrike"/>
                    </a:p>
                    <a:p>
                      <a:pPr indent="0" lvl="0" marL="0" marR="0" rtl="0" algn="l">
                        <a:lnSpc>
                          <a:spcPct val="100000"/>
                        </a:lnSpc>
                        <a:spcBef>
                          <a:spcPts val="0"/>
                        </a:spcBef>
                        <a:spcAft>
                          <a:spcPts val="0"/>
                        </a:spcAft>
                        <a:buClr>
                          <a:schemeClr val="dk1"/>
                        </a:buClr>
                        <a:buSzPts val="1100"/>
                        <a:buFont typeface="Calibri"/>
                        <a:buNone/>
                      </a:pPr>
                      <a:r>
                        <a:t/>
                      </a:r>
                      <a:endParaRPr b="0" sz="1100" u="none" cap="none" strike="noStrike">
                        <a:solidFill>
                          <a:srgbClr val="000000"/>
                        </a:solidFill>
                      </a:endParaRPr>
                    </a:p>
                    <a:p>
                      <a:pPr indent="0" lvl="0" marL="0" marR="0" rtl="0" algn="l">
                        <a:lnSpc>
                          <a:spcPct val="100000"/>
                        </a:lnSpc>
                        <a:spcBef>
                          <a:spcPts val="0"/>
                        </a:spcBef>
                        <a:spcAft>
                          <a:spcPts val="0"/>
                        </a:spcAft>
                        <a:buClr>
                          <a:srgbClr val="0432FF"/>
                        </a:buClr>
                        <a:buSzPts val="1100"/>
                        <a:buFont typeface="Calibri"/>
                        <a:buNone/>
                      </a:pPr>
                      <a:r>
                        <a:rPr b="0" lang="en-US" sz="1100" u="none" cap="none" strike="noStrike">
                          <a:solidFill>
                            <a:srgbClr val="0432FF"/>
                          </a:solidFill>
                        </a:rPr>
                        <a:t>(conduct MAPS mini for each segment and then average them to get a MAPS mini score. Resources available here: </a:t>
                      </a:r>
                      <a:r>
                        <a:rPr lang="en-US" sz="1100" u="sng" cap="none" strike="noStrike">
                          <a:solidFill>
                            <a:schemeClr val="hlink"/>
                          </a:solidFill>
                          <a:latin typeface="Arial"/>
                          <a:ea typeface="Arial"/>
                          <a:cs typeface="Arial"/>
                          <a:sym typeface="Arial"/>
                          <a:hlinkClick r:id="rId4"/>
                        </a:rPr>
                        <a:t>https://drjimsallis.org/measure_maps.html#MAPSMINI</a:t>
                      </a:r>
                      <a:r>
                        <a:rPr lang="en-US" sz="1100" u="none" cap="none" strike="noStrike">
                          <a:solidFill>
                            <a:srgbClr val="0432FF"/>
                          </a:solidFill>
                        </a:rPr>
                        <a:t>. </a:t>
                      </a:r>
                      <a:endParaRPr b="1" sz="1100" u="none" cap="none" strike="noStrike">
                        <a:solidFill>
                          <a:srgbClr val="0432FF"/>
                        </a:solidFill>
                      </a:endParaRPr>
                    </a:p>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rgbClr val="000000"/>
                        </a:solidFill>
                      </a:endParaRPr>
                    </a:p>
                    <a:p>
                      <a:pPr indent="0" lvl="0" marL="0" marR="0" rtl="0" algn="l">
                        <a:lnSpc>
                          <a:spcPct val="100000"/>
                        </a:lnSpc>
                        <a:spcBef>
                          <a:spcPts val="0"/>
                        </a:spcBef>
                        <a:spcAft>
                          <a:spcPts val="0"/>
                        </a:spcAft>
                        <a:buClr>
                          <a:schemeClr val="dk1"/>
                        </a:buClr>
                        <a:buSzPts val="1100"/>
                        <a:buFont typeface="Calibri"/>
                        <a:buNone/>
                      </a:pPr>
                      <a:r>
                        <a:rPr b="1" i="0" lang="en-US" sz="1100" u="none" cap="none" strike="noStrike">
                          <a:solidFill>
                            <a:schemeClr val="dk1"/>
                          </a:solidFill>
                        </a:rPr>
                        <a:t>MAPS Mini Score:   0-1      2-3      4-5    6-7     8-9     10-11   12-13   14-15     16-17     18-19   20-21   </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1" i="0" lang="en-US" sz="1100" u="none" cap="none" strike="noStrike">
                          <a:solidFill>
                            <a:srgbClr val="FF0000"/>
                          </a:solidFill>
                        </a:rPr>
                        <a:t>Points:                       0          2.5       5      7.5       10       12.5      15        17.5         20         22.5         25                                        </a:t>
                      </a:r>
                      <a:endParaRPr sz="1400" u="none" cap="none" strike="noStrike"/>
                    </a:p>
                  </a:txBody>
                  <a:tcPr marT="60950" marB="60950" marR="68575" marL="68575">
                    <a:solidFill>
                      <a:srgbClr val="00FF00"/>
                    </a:solidFill>
                  </a:tcPr>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/25</a:t>
                      </a:r>
                      <a:endParaRPr sz="1400" u="none" cap="none" strike="noStrike"/>
                    </a:p>
                  </a:txBody>
                  <a:tcPr marT="60950" marB="60950" marR="68575" marL="68575">
                    <a:solidFill>
                      <a:srgbClr val="00FF00"/>
                    </a:solidFill>
                  </a:tcPr>
                </a:tc>
              </a:tr>
              <a:tr h="794950">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Step 2 Points</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0-17 points: Below Average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18-32 points: Average</a:t>
                      </a:r>
                      <a:endParaRPr sz="1400" u="none" cap="none" strike="noStrike"/>
                    </a:p>
                    <a:p>
                      <a:pPr indent="0" lvl="0" marL="0" marR="0" rtl="0" algn="l">
                        <a:lnSpc>
                          <a:spcPct val="100000"/>
                        </a:lnSpc>
                        <a:spcBef>
                          <a:spcPts val="0"/>
                        </a:spcBef>
                        <a:spcAft>
                          <a:spcPts val="0"/>
                        </a:spcAft>
                        <a:buClr>
                          <a:srgbClr val="FF0000"/>
                        </a:buClr>
                        <a:buSzPts val="1100"/>
                        <a:buFont typeface="Calibri"/>
                        <a:buNone/>
                      </a:pPr>
                      <a:r>
                        <a:rPr b="0" i="1" lang="en-US" sz="1100" u="none" cap="none" strike="noStrike">
                          <a:solidFill>
                            <a:srgbClr val="FF0000"/>
                          </a:solidFill>
                        </a:rPr>
                        <a:t>33-50: Above Average</a:t>
                      </a:r>
                      <a:endParaRPr sz="1400" u="none" cap="none" strike="noStrike"/>
                    </a:p>
                  </a:txBody>
                  <a:tcPr marT="60950" marB="60950" marR="68575" marL="68575"/>
                </a:tc>
                <a:tc>
                  <a:txBody>
                    <a:bodyPr/>
                    <a:lstStyle/>
                    <a:p>
                      <a:pPr indent="0" lvl="0" marL="0" marR="0" rtl="0" algn="l">
                        <a:lnSpc>
                          <a:spcPct val="100000"/>
                        </a:lnSpc>
                        <a:spcBef>
                          <a:spcPts val="0"/>
                        </a:spcBef>
                        <a:spcAft>
                          <a:spcPts val="0"/>
                        </a:spcAft>
                        <a:buClr>
                          <a:srgbClr val="FF0000"/>
                        </a:buClr>
                        <a:buSzPts val="1100"/>
                        <a:buFont typeface="Calibri"/>
                        <a:buNone/>
                      </a:pPr>
                      <a:r>
                        <a:rPr b="1" i="1" lang="en-US" sz="1100" u="none" cap="none" strike="noStrike">
                          <a:solidFill>
                            <a:srgbClr val="FF0000"/>
                          </a:solidFill>
                        </a:rPr>
                        <a:t>     /50</a:t>
                      </a:r>
                      <a:endParaRPr sz="1400" u="none" cap="none" strike="noStrike"/>
                    </a:p>
                  </a:txBody>
                  <a:tcPr marT="60950" marB="60950" marR="68575" marL="68575"/>
                </a:tc>
              </a:tr>
            </a:tbl>
          </a:graphicData>
        </a:graphic>
      </p:graphicFrame>
      <p:sp>
        <p:nvSpPr>
          <p:cNvPr id="395" name="Google Shape;395;g783ce67ac1_0_275"/>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783ce67ac1_0_282"/>
          <p:cNvSpPr txBox="1"/>
          <p:nvPr>
            <p:ph type="title"/>
          </p:nvPr>
        </p:nvSpPr>
        <p:spPr>
          <a:xfrm>
            <a:off x="342900" y="180975"/>
            <a:ext cx="6172200" cy="723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800"/>
              <a:buNone/>
            </a:pPr>
            <a:r>
              <a:rPr lang="en-US" sz="4000"/>
              <a:t>S2Q3 Instructions</a:t>
            </a:r>
            <a:endParaRPr sz="4000"/>
          </a:p>
        </p:txBody>
      </p:sp>
      <p:sp>
        <p:nvSpPr>
          <p:cNvPr id="402" name="Google Shape;402;g783ce67ac1_0_282"/>
          <p:cNvSpPr txBox="1"/>
          <p:nvPr>
            <p:ph idx="1" type="body"/>
          </p:nvPr>
        </p:nvSpPr>
        <p:spPr>
          <a:xfrm>
            <a:off x="342900" y="1028700"/>
            <a:ext cx="6172200" cy="6858000"/>
          </a:xfrm>
          <a:prstGeom prst="rect">
            <a:avLst/>
          </a:prstGeom>
          <a:noFill/>
          <a:ln>
            <a:noFill/>
          </a:ln>
        </p:spPr>
        <p:txBody>
          <a:bodyPr anchorCtr="0" anchor="t" bIns="45700" lIns="91425" spcFirstLastPara="1" rIns="91425" wrap="square" tIns="45700">
            <a:noAutofit/>
          </a:bodyPr>
          <a:lstStyle/>
          <a:p>
            <a:pPr indent="-342900" lvl="0" marL="457200" rtl="0" algn="l">
              <a:lnSpc>
                <a:spcPct val="107000"/>
              </a:lnSpc>
              <a:spcBef>
                <a:spcPts val="0"/>
              </a:spcBef>
              <a:spcAft>
                <a:spcPts val="0"/>
              </a:spcAft>
              <a:buSzPts val="1800"/>
              <a:buChar char="●"/>
            </a:pPr>
            <a:r>
              <a:rPr lang="en-US" sz="2400"/>
              <a:t>Click the link provided for the MAPS Mini Survey; available </a:t>
            </a:r>
            <a:r>
              <a:rPr lang="en-US" sz="2400" u="sng">
                <a:solidFill>
                  <a:srgbClr val="666699"/>
                </a:solidFill>
                <a:hlinkClick r:id="rId3">
                  <a:extLst>
                    <a:ext uri="{A12FA001-AC4F-418D-AE19-62706E023703}">
                      <ahyp:hlinkClr val="tx"/>
                    </a:ext>
                  </a:extLst>
                </a:hlinkClick>
              </a:rPr>
              <a:t>here</a:t>
            </a:r>
            <a:r>
              <a:rPr lang="en-US" sz="2700"/>
              <a:t>. </a:t>
            </a:r>
            <a:endParaRPr sz="2700"/>
          </a:p>
          <a:p>
            <a:pPr indent="-381000" lvl="0" marL="457200" rtl="0" algn="l">
              <a:lnSpc>
                <a:spcPct val="107000"/>
              </a:lnSpc>
              <a:spcBef>
                <a:spcPts val="0"/>
              </a:spcBef>
              <a:spcAft>
                <a:spcPts val="0"/>
              </a:spcAft>
              <a:buSzPts val="2400"/>
              <a:buChar char="●"/>
            </a:pPr>
            <a:r>
              <a:rPr lang="en-US" sz="2400"/>
              <a:t>Select “MAPS Mini Survey” to open the survey</a:t>
            </a:r>
            <a:endParaRPr sz="2400"/>
          </a:p>
          <a:p>
            <a:pPr indent="-381000" lvl="0" marL="457200" rtl="0" algn="l">
              <a:lnSpc>
                <a:spcPct val="115000"/>
              </a:lnSpc>
              <a:spcBef>
                <a:spcPts val="0"/>
              </a:spcBef>
              <a:spcAft>
                <a:spcPts val="0"/>
              </a:spcAft>
              <a:buSzPts val="2400"/>
              <a:buChar char="●"/>
            </a:pPr>
            <a:r>
              <a:rPr lang="en-US" sz="2400"/>
              <a:t>The “MAPS Mini Protocol” and “MAPS Mini Picture Guide” provides field procedures for data collection with a more in-depth understanding of how to assess segments during the survey for each question.</a:t>
            </a:r>
            <a:endParaRPr sz="2400"/>
          </a:p>
          <a:p>
            <a:pPr indent="-381000" lvl="0" marL="457200" rtl="0" algn="l">
              <a:lnSpc>
                <a:spcPct val="107000"/>
              </a:lnSpc>
              <a:spcBef>
                <a:spcPts val="0"/>
              </a:spcBef>
              <a:spcAft>
                <a:spcPts val="0"/>
              </a:spcAft>
              <a:buSzPts val="2400"/>
              <a:buChar char="●"/>
            </a:pPr>
            <a:r>
              <a:rPr lang="en-US" sz="2400"/>
              <a:t>Complete the “MAPS Mini Survey” for each segment – i.e., block. Average the MAPS Mini points for all segments.</a:t>
            </a:r>
            <a:endParaRPr sz="2400"/>
          </a:p>
          <a:p>
            <a:pPr indent="-381000" lvl="0" marL="457200" rtl="0" algn="l">
              <a:lnSpc>
                <a:spcPct val="107000"/>
              </a:lnSpc>
              <a:spcBef>
                <a:spcPts val="0"/>
              </a:spcBef>
              <a:spcAft>
                <a:spcPts val="0"/>
              </a:spcAft>
              <a:buSzPts val="2400"/>
              <a:buChar char="●"/>
            </a:pPr>
            <a:r>
              <a:rPr lang="en-US" sz="2400"/>
              <a:t>Use the MAPS Mini Points to derive and record the corresponding DST points.</a:t>
            </a:r>
            <a:endParaRPr sz="2400"/>
          </a:p>
          <a:p>
            <a:pPr indent="-381000" lvl="0" marL="457200" rtl="0" algn="l">
              <a:lnSpc>
                <a:spcPct val="107000"/>
              </a:lnSpc>
              <a:spcBef>
                <a:spcPts val="0"/>
              </a:spcBef>
              <a:spcAft>
                <a:spcPts val="0"/>
              </a:spcAft>
              <a:buSzPts val="2400"/>
              <a:buChar char="●"/>
            </a:pPr>
            <a:r>
              <a:rPr i="1" lang="en-US" sz="2400"/>
              <a:t>Note: the MAPS Mini Survey may also be completed using online maps, though the information may not be as up-to-date. </a:t>
            </a:r>
            <a:endParaRPr i="1" sz="2400"/>
          </a:p>
          <a:p>
            <a:pPr indent="0" lvl="0" marL="0" rtl="0" algn="l">
              <a:lnSpc>
                <a:spcPct val="107000"/>
              </a:lnSpc>
              <a:spcBef>
                <a:spcPts val="1000"/>
              </a:spcBef>
              <a:spcAft>
                <a:spcPts val="0"/>
              </a:spcAft>
              <a:buSzPts val="1800"/>
              <a:buNone/>
            </a:pPr>
            <a:r>
              <a:t/>
            </a:r>
            <a:endParaRPr sz="1800"/>
          </a:p>
          <a:p>
            <a:pPr indent="0" lvl="0" marL="0" rtl="0" algn="l">
              <a:lnSpc>
                <a:spcPct val="107000"/>
              </a:lnSpc>
              <a:spcBef>
                <a:spcPts val="0"/>
              </a:spcBef>
              <a:spcAft>
                <a:spcPts val="0"/>
              </a:spcAft>
              <a:buSzPts val="1800"/>
              <a:buNone/>
            </a:pPr>
            <a:r>
              <a:t/>
            </a:r>
            <a:endParaRPr sz="1800"/>
          </a:p>
          <a:p>
            <a:pPr indent="0" lvl="0" marL="457200" rtl="0" algn="l">
              <a:lnSpc>
                <a:spcPct val="115000"/>
              </a:lnSpc>
              <a:spcBef>
                <a:spcPts val="0"/>
              </a:spcBef>
              <a:spcAft>
                <a:spcPts val="0"/>
              </a:spcAft>
              <a:buSzPts val="1800"/>
              <a:buNone/>
            </a:pPr>
            <a:r>
              <a:t/>
            </a:r>
            <a:endParaRPr sz="1600">
              <a:solidFill>
                <a:srgbClr val="000000"/>
              </a:solidFill>
            </a:endParaRPr>
          </a:p>
          <a:p>
            <a:pPr indent="0" lvl="0" marL="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400"/>
          </a:p>
          <a:p>
            <a:pPr indent="0" lvl="0" marL="0" rtl="0" algn="l">
              <a:lnSpc>
                <a:spcPct val="100000"/>
              </a:lnSpc>
              <a:spcBef>
                <a:spcPts val="80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457200" rtl="0" algn="l">
              <a:lnSpc>
                <a:spcPct val="100000"/>
              </a:lnSpc>
              <a:spcBef>
                <a:spcPts val="360"/>
              </a:spcBef>
              <a:spcAft>
                <a:spcPts val="0"/>
              </a:spcAft>
              <a:buSzPts val="1800"/>
              <a:buNone/>
            </a:pPr>
            <a:r>
              <a:t/>
            </a:r>
            <a:endParaRPr sz="1400"/>
          </a:p>
          <a:p>
            <a:pPr indent="0" lvl="0" marL="0" rtl="0" algn="l">
              <a:lnSpc>
                <a:spcPct val="115000"/>
              </a:lnSpc>
              <a:spcBef>
                <a:spcPts val="0"/>
              </a:spcBef>
              <a:spcAft>
                <a:spcPts val="0"/>
              </a:spcAft>
              <a:buSzPts val="1800"/>
              <a:buNone/>
            </a:pPr>
            <a:r>
              <a:t/>
            </a:r>
            <a:endParaRPr sz="1600"/>
          </a:p>
        </p:txBody>
      </p:sp>
      <p:sp>
        <p:nvSpPr>
          <p:cNvPr id="403" name="Google Shape;403;g783ce67ac1_0_282"/>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8701af7b45_0_117"/>
          <p:cNvSpPr txBox="1"/>
          <p:nvPr/>
        </p:nvSpPr>
        <p:spPr>
          <a:xfrm>
            <a:off x="486825" y="1042450"/>
            <a:ext cx="5935200" cy="1355700"/>
          </a:xfrm>
          <a:prstGeom prst="rect">
            <a:avLst/>
          </a:prstGeom>
          <a:solidFill>
            <a:srgbClr val="FFC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9051"/>
              </a:buClr>
              <a:buSzPts val="2600"/>
              <a:buFont typeface="Arial"/>
              <a:buChar char="•"/>
            </a:pPr>
            <a:r>
              <a:rPr b="0" i="0" lang="en-US" sz="2600" u="none" cap="none" strike="noStrike">
                <a:solidFill>
                  <a:srgbClr val="009051"/>
                </a:solidFill>
                <a:latin typeface="Calibri"/>
                <a:ea typeface="Calibri"/>
                <a:cs typeface="Calibri"/>
                <a:sym typeface="Calibri"/>
              </a:rPr>
              <a:t>Step 2: Assess existing infrastructure</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8701af7b45_0_117"/>
          <p:cNvSpPr/>
          <p:nvPr/>
        </p:nvSpPr>
        <p:spPr>
          <a:xfrm>
            <a:off x="3221575" y="2468177"/>
            <a:ext cx="414900" cy="523200"/>
          </a:xfrm>
          <a:prstGeom prst="downArrow">
            <a:avLst>
              <a:gd fmla="val 50000" name="adj1"/>
              <a:gd fmla="val 50000" name="adj2"/>
            </a:avLst>
          </a:prstGeom>
          <a:solidFill>
            <a:srgbClr val="A5A5A5"/>
          </a:solidFill>
          <a:ln cap="flat" cmpd="sng" w="9525">
            <a:solidFill>
              <a:srgbClr val="4A7DBA"/>
            </a:solidFill>
            <a:prstDash val="solid"/>
            <a:round/>
            <a:headEnd len="sm" w="sm" type="none"/>
            <a:tailEnd len="sm" w="sm" type="none"/>
          </a:ln>
          <a:effectLst>
            <a:outerShdw blurRad="40000" rotWithShape="0" dir="5400000" dist="23000">
              <a:srgbClr val="000000">
                <a:alpha val="3254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410" name="Google Shape;410;g8701af7b45_0_117"/>
          <p:cNvGraphicFramePr/>
          <p:nvPr/>
        </p:nvGraphicFramePr>
        <p:xfrm>
          <a:off x="555604" y="3472437"/>
          <a:ext cx="3000000" cy="3000000"/>
        </p:xfrm>
        <a:graphic>
          <a:graphicData uri="http://schemas.openxmlformats.org/drawingml/2006/table">
            <a:tbl>
              <a:tblPr bandRow="1" firstRow="1">
                <a:noFill/>
                <a:tableStyleId>{DA7E6E65-D877-46FA-B78E-C062FE7EB15C}</a:tableStyleId>
              </a:tblPr>
              <a:tblGrid>
                <a:gridCol w="1290125"/>
                <a:gridCol w="1513725"/>
                <a:gridCol w="1629525"/>
                <a:gridCol w="1725100"/>
              </a:tblGrid>
              <a:tr h="569500">
                <a:tc>
                  <a:txBody>
                    <a:bodyPr/>
                    <a:lstStyle/>
                    <a:p>
                      <a:pPr indent="0" lvl="0" marL="0" marR="0" rtl="0" algn="ctr">
                        <a:lnSpc>
                          <a:spcPct val="100000"/>
                        </a:lnSpc>
                        <a:spcBef>
                          <a:spcPts val="0"/>
                        </a:spcBef>
                        <a:spcAft>
                          <a:spcPts val="0"/>
                        </a:spcAft>
                        <a:buClr>
                          <a:srgbClr val="000000"/>
                        </a:buClr>
                        <a:buSzPts val="2400"/>
                        <a:buFont typeface="Arial"/>
                        <a:buNone/>
                      </a:pPr>
                      <a:r>
                        <a:t/>
                      </a:r>
                      <a:endParaRPr sz="2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Below 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Above Average</a:t>
                      </a:r>
                      <a:endParaRPr b="0" sz="2400" u="none" cap="none" strike="noStrike">
                        <a:solidFill>
                          <a:srgbClr val="00B050"/>
                        </a:solidFill>
                      </a:endParaRPr>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High</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Medium</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Low</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Minimal potential for benefit</a:t>
                      </a:r>
                      <a:endParaRPr sz="1400" u="none" cap="none" strike="noStrike"/>
                    </a:p>
                  </a:txBody>
                  <a:tcPr marT="42400" marB="42400" marR="84800" marL="84800"/>
                </a:tc>
              </a:tr>
            </a:tbl>
          </a:graphicData>
        </a:graphic>
      </p:graphicFrame>
      <p:sp>
        <p:nvSpPr>
          <p:cNvPr id="411" name="Google Shape;411;g8701af7b45_0_117"/>
          <p:cNvSpPr txBox="1"/>
          <p:nvPr/>
        </p:nvSpPr>
        <p:spPr>
          <a:xfrm>
            <a:off x="1861498" y="2883601"/>
            <a:ext cx="3546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9051"/>
                </a:solidFill>
                <a:latin typeface="Calibri"/>
                <a:ea typeface="Calibri"/>
                <a:cs typeface="Calibri"/>
                <a:sym typeface="Calibri"/>
              </a:rPr>
              <a:t>Existing Infrastructure </a:t>
            </a:r>
            <a:endParaRPr b="0" i="0" sz="1400" u="none" cap="none" strike="noStrike">
              <a:solidFill>
                <a:srgbClr val="000000"/>
              </a:solidFill>
              <a:latin typeface="Arial"/>
              <a:ea typeface="Arial"/>
              <a:cs typeface="Arial"/>
              <a:sym typeface="Arial"/>
            </a:endParaRPr>
          </a:p>
        </p:txBody>
      </p:sp>
      <p:sp>
        <p:nvSpPr>
          <p:cNvPr id="412" name="Google Shape;412;g8701af7b45_0_117"/>
          <p:cNvSpPr txBox="1"/>
          <p:nvPr/>
        </p:nvSpPr>
        <p:spPr>
          <a:xfrm rot="-5400000">
            <a:off x="-1959671" y="5516123"/>
            <a:ext cx="46104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7030A0"/>
                </a:solidFill>
                <a:latin typeface="Calibri"/>
                <a:ea typeface="Calibri"/>
                <a:cs typeface="Calibri"/>
                <a:sym typeface="Calibri"/>
              </a:rPr>
              <a:t>Area Existing Need</a:t>
            </a:r>
            <a:endParaRPr b="0" i="0" sz="1400" u="none" cap="none" strike="noStrike">
              <a:solidFill>
                <a:srgbClr val="000000"/>
              </a:solidFill>
              <a:latin typeface="Arial"/>
              <a:ea typeface="Arial"/>
              <a:cs typeface="Arial"/>
              <a:sym typeface="Arial"/>
            </a:endParaRPr>
          </a:p>
        </p:txBody>
      </p:sp>
      <p:sp>
        <p:nvSpPr>
          <p:cNvPr id="413" name="Google Shape;413;g8701af7b45_0_117"/>
          <p:cNvSpPr txBox="1"/>
          <p:nvPr/>
        </p:nvSpPr>
        <p:spPr>
          <a:xfrm>
            <a:off x="0" y="0"/>
            <a:ext cx="6858000" cy="71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0" i="0" lang="en-US" sz="3900" u="none" cap="none" strike="noStrike">
                <a:solidFill>
                  <a:schemeClr val="dk1"/>
                </a:solidFill>
                <a:latin typeface="Calibri"/>
                <a:ea typeface="Calibri"/>
                <a:cs typeface="Calibri"/>
                <a:sym typeface="Calibri"/>
              </a:rPr>
              <a:t>Assess Existing Infrastructure</a:t>
            </a:r>
            <a:endParaRPr b="0" i="0" sz="3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chemeClr val="dk1"/>
              </a:solidFill>
              <a:latin typeface="Calibri"/>
              <a:ea typeface="Calibri"/>
              <a:cs typeface="Calibri"/>
              <a:sym typeface="Calibri"/>
            </a:endParaRPr>
          </a:p>
        </p:txBody>
      </p:sp>
      <p:sp>
        <p:nvSpPr>
          <p:cNvPr id="414" name="Google Shape;414;g8701af7b45_0_117"/>
          <p:cNvSpPr/>
          <p:nvPr/>
        </p:nvSpPr>
        <p:spPr>
          <a:xfrm>
            <a:off x="590650" y="1299000"/>
            <a:ext cx="5740500" cy="3693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g8701af7b45_0_117"/>
          <p:cNvSpPr/>
          <p:nvPr/>
        </p:nvSpPr>
        <p:spPr>
          <a:xfrm>
            <a:off x="1861500" y="3472425"/>
            <a:ext cx="4801500" cy="8508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8701af7b45_0_117"/>
          <p:cNvSpPr txBox="1"/>
          <p:nvPr/>
        </p:nvSpPr>
        <p:spPr>
          <a:xfrm>
            <a:off x="486900" y="1674600"/>
            <a:ext cx="5935200" cy="43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chemeClr val="dk1"/>
                </a:solidFill>
                <a:latin typeface="Calibri"/>
                <a:ea typeface="Calibri"/>
                <a:cs typeface="Calibri"/>
                <a:sym typeface="Calibri"/>
              </a:rPr>
              <a:t>Add up all the points for Step 2 to determine if infrastructure is “Below Average,” “Average,” or “Above Average”</a:t>
            </a:r>
            <a:endParaRPr b="0" i="0" sz="1400" u="none" cap="none" strike="noStrike">
              <a:solidFill>
                <a:srgbClr val="000000"/>
              </a:solidFill>
              <a:latin typeface="Arial"/>
              <a:ea typeface="Arial"/>
              <a:cs typeface="Arial"/>
              <a:sym typeface="Arial"/>
            </a:endParaRPr>
          </a:p>
        </p:txBody>
      </p:sp>
      <p:sp>
        <p:nvSpPr>
          <p:cNvPr id="417" name="Google Shape;417;g8701af7b45_0_11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7"/>
          <p:cNvSpPr txBox="1"/>
          <p:nvPr/>
        </p:nvSpPr>
        <p:spPr>
          <a:xfrm>
            <a:off x="457200" y="767300"/>
            <a:ext cx="6039000" cy="2099700"/>
          </a:xfrm>
          <a:prstGeom prst="rect">
            <a:avLst/>
          </a:prstGeom>
          <a:solidFill>
            <a:srgbClr val="FFC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C00000"/>
              </a:buClr>
              <a:buSzPts val="2600"/>
              <a:buFont typeface="Arial"/>
              <a:buChar char="•"/>
            </a:pPr>
            <a:r>
              <a:rPr b="0" i="0" lang="en-US" sz="26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423" name="Google Shape;423;p27"/>
          <p:cNvSpPr/>
          <p:nvPr/>
        </p:nvSpPr>
        <p:spPr>
          <a:xfrm>
            <a:off x="3221575" y="2944978"/>
            <a:ext cx="414900" cy="427500"/>
          </a:xfrm>
          <a:prstGeom prst="downArrow">
            <a:avLst>
              <a:gd fmla="val 50000" name="adj1"/>
              <a:gd fmla="val 50000" name="adj2"/>
            </a:avLst>
          </a:prstGeom>
          <a:solidFill>
            <a:srgbClr val="A5A5A5"/>
          </a:solidFill>
          <a:ln cap="flat" cmpd="sng" w="9525">
            <a:solidFill>
              <a:srgbClr val="4A7DBA"/>
            </a:solidFill>
            <a:prstDash val="solid"/>
            <a:round/>
            <a:headEnd len="sm" w="sm" type="none"/>
            <a:tailEnd len="sm" w="sm" type="none"/>
          </a:ln>
          <a:effectLst>
            <a:outerShdw blurRad="40000" rotWithShape="0" dir="5400000" dist="23000">
              <a:srgbClr val="000000">
                <a:alpha val="3254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424" name="Google Shape;424;p27"/>
          <p:cNvGraphicFramePr/>
          <p:nvPr/>
        </p:nvGraphicFramePr>
        <p:xfrm>
          <a:off x="555604" y="3853437"/>
          <a:ext cx="3000000" cy="3000000"/>
        </p:xfrm>
        <a:graphic>
          <a:graphicData uri="http://schemas.openxmlformats.org/drawingml/2006/table">
            <a:tbl>
              <a:tblPr bandRow="1" firstRow="1">
                <a:noFill/>
                <a:tableStyleId>{DA7E6E65-D877-46FA-B78E-C062FE7EB15C}</a:tableStyleId>
              </a:tblPr>
              <a:tblGrid>
                <a:gridCol w="1290125"/>
                <a:gridCol w="1513725"/>
                <a:gridCol w="1629525"/>
                <a:gridCol w="1725100"/>
              </a:tblGrid>
              <a:tr h="569500">
                <a:tc>
                  <a:txBody>
                    <a:bodyPr/>
                    <a:lstStyle/>
                    <a:p>
                      <a:pPr indent="0" lvl="0" marL="0" marR="0" rtl="0" algn="ctr">
                        <a:lnSpc>
                          <a:spcPct val="100000"/>
                        </a:lnSpc>
                        <a:spcBef>
                          <a:spcPts val="0"/>
                        </a:spcBef>
                        <a:spcAft>
                          <a:spcPts val="0"/>
                        </a:spcAft>
                        <a:buClr>
                          <a:srgbClr val="000000"/>
                        </a:buClr>
                        <a:buSzPts val="2400"/>
                        <a:buFont typeface="Arial"/>
                        <a:buNone/>
                      </a:pPr>
                      <a:r>
                        <a:t/>
                      </a:r>
                      <a:endParaRPr sz="2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Below 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Average</a:t>
                      </a:r>
                      <a:endParaRPr b="0" sz="2400" u="none" cap="none" strike="noStrike">
                        <a:solidFill>
                          <a:srgbClr val="00B050"/>
                        </a:solidFill>
                      </a:endParaRPr>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00B050"/>
                          </a:solidFill>
                        </a:rPr>
                        <a:t>Above Average</a:t>
                      </a:r>
                      <a:endParaRPr b="0" sz="2400" u="none" cap="none" strike="noStrike">
                        <a:solidFill>
                          <a:srgbClr val="00B050"/>
                        </a:solidFill>
                      </a:endParaRPr>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High</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Medium</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Best</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r>
              <a:tr h="126472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7030A0"/>
                          </a:solidFill>
                        </a:rPr>
                        <a:t>Low</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Better</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 Good</a:t>
                      </a:r>
                      <a:endParaRPr sz="1400" u="none" cap="none" strike="noStrike"/>
                    </a:p>
                  </a:txBody>
                  <a:tcPr marT="42400" marB="42400" marR="84800" marL="84800"/>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solidFill>
                            <a:srgbClr val="C00000"/>
                          </a:solidFill>
                        </a:rPr>
                        <a:t>Minimal potential for benefit</a:t>
                      </a:r>
                      <a:endParaRPr sz="1400" u="none" cap="none" strike="noStrike"/>
                    </a:p>
                  </a:txBody>
                  <a:tcPr marT="42400" marB="42400" marR="84800" marL="84800"/>
                </a:tc>
              </a:tr>
            </a:tbl>
          </a:graphicData>
        </a:graphic>
      </p:graphicFrame>
      <p:sp>
        <p:nvSpPr>
          <p:cNvPr id="425" name="Google Shape;425;p27"/>
          <p:cNvSpPr txBox="1"/>
          <p:nvPr/>
        </p:nvSpPr>
        <p:spPr>
          <a:xfrm>
            <a:off x="1861498" y="3340801"/>
            <a:ext cx="3546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9051"/>
                </a:solidFill>
                <a:latin typeface="Calibri"/>
                <a:ea typeface="Calibri"/>
                <a:cs typeface="Calibri"/>
                <a:sym typeface="Calibri"/>
              </a:rPr>
              <a:t>Existing Infrastructure </a:t>
            </a:r>
            <a:endParaRPr b="0" i="0" sz="1400" u="none" cap="none" strike="noStrike">
              <a:solidFill>
                <a:srgbClr val="000000"/>
              </a:solidFill>
              <a:latin typeface="Arial"/>
              <a:ea typeface="Arial"/>
              <a:cs typeface="Arial"/>
              <a:sym typeface="Arial"/>
            </a:endParaRPr>
          </a:p>
        </p:txBody>
      </p:sp>
      <p:sp>
        <p:nvSpPr>
          <p:cNvPr id="426" name="Google Shape;426;p27"/>
          <p:cNvSpPr txBox="1"/>
          <p:nvPr/>
        </p:nvSpPr>
        <p:spPr>
          <a:xfrm rot="-5400000">
            <a:off x="-1959671" y="5820923"/>
            <a:ext cx="4610400" cy="523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7030A0"/>
                </a:solidFill>
                <a:latin typeface="Calibri"/>
                <a:ea typeface="Calibri"/>
                <a:cs typeface="Calibri"/>
                <a:sym typeface="Calibri"/>
              </a:rPr>
              <a:t>Area Existing Need</a:t>
            </a:r>
            <a:endParaRPr b="0" i="0" sz="1400" u="none" cap="none" strike="noStrike">
              <a:solidFill>
                <a:srgbClr val="000000"/>
              </a:solidFill>
              <a:latin typeface="Arial"/>
              <a:ea typeface="Arial"/>
              <a:cs typeface="Arial"/>
              <a:sym typeface="Arial"/>
            </a:endParaRPr>
          </a:p>
        </p:txBody>
      </p:sp>
      <p:sp>
        <p:nvSpPr>
          <p:cNvPr id="427" name="Google Shape;427;p27"/>
          <p:cNvSpPr txBox="1"/>
          <p:nvPr/>
        </p:nvSpPr>
        <p:spPr>
          <a:xfrm>
            <a:off x="0" y="0"/>
            <a:ext cx="6858000" cy="71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900"/>
              <a:buFont typeface="Arial"/>
              <a:buNone/>
            </a:pPr>
            <a:r>
              <a:rPr b="0" i="0" lang="en-US" sz="3900" u="none" cap="none" strike="noStrike">
                <a:solidFill>
                  <a:schemeClr val="dk1"/>
                </a:solidFill>
                <a:latin typeface="Calibri"/>
                <a:ea typeface="Calibri"/>
                <a:cs typeface="Calibri"/>
                <a:sym typeface="Calibri"/>
              </a:rPr>
              <a:t>Select Infrastructure</a:t>
            </a:r>
            <a:endParaRPr b="0" i="0" sz="39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4400"/>
              <a:buFont typeface="Arial"/>
              <a:buNone/>
            </a:pPr>
            <a:r>
              <a:t/>
            </a:r>
            <a:endParaRPr b="0" i="0" sz="4400" u="none" cap="none" strike="noStrike">
              <a:solidFill>
                <a:schemeClr val="dk1"/>
              </a:solidFill>
              <a:latin typeface="Calibri"/>
              <a:ea typeface="Calibri"/>
              <a:cs typeface="Calibri"/>
              <a:sym typeface="Calibri"/>
            </a:endParaRPr>
          </a:p>
        </p:txBody>
      </p:sp>
      <p:sp>
        <p:nvSpPr>
          <p:cNvPr id="428" name="Google Shape;428;p27"/>
          <p:cNvSpPr/>
          <p:nvPr/>
        </p:nvSpPr>
        <p:spPr>
          <a:xfrm>
            <a:off x="584175" y="1024675"/>
            <a:ext cx="5740500" cy="3693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7"/>
          <p:cNvSpPr/>
          <p:nvPr/>
        </p:nvSpPr>
        <p:spPr>
          <a:xfrm>
            <a:off x="1861500" y="4691625"/>
            <a:ext cx="4801500" cy="37131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7"/>
          <p:cNvSpPr/>
          <p:nvPr/>
        </p:nvSpPr>
        <p:spPr>
          <a:xfrm>
            <a:off x="6354200" y="76923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7"/>
          <p:cNvSpPr/>
          <p:nvPr/>
        </p:nvSpPr>
        <p:spPr>
          <a:xfrm>
            <a:off x="6354200" y="64731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7"/>
          <p:cNvSpPr/>
          <p:nvPr/>
        </p:nvSpPr>
        <p:spPr>
          <a:xfrm>
            <a:off x="6354200" y="51777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7"/>
          <p:cNvSpPr/>
          <p:nvPr/>
        </p:nvSpPr>
        <p:spPr>
          <a:xfrm>
            <a:off x="4677800" y="51777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7"/>
          <p:cNvSpPr/>
          <p:nvPr/>
        </p:nvSpPr>
        <p:spPr>
          <a:xfrm>
            <a:off x="3030300" y="52032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7"/>
          <p:cNvSpPr/>
          <p:nvPr/>
        </p:nvSpPr>
        <p:spPr>
          <a:xfrm>
            <a:off x="3030300" y="64986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7"/>
          <p:cNvSpPr/>
          <p:nvPr/>
        </p:nvSpPr>
        <p:spPr>
          <a:xfrm>
            <a:off x="3030300" y="77178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7"/>
          <p:cNvSpPr/>
          <p:nvPr/>
        </p:nvSpPr>
        <p:spPr>
          <a:xfrm>
            <a:off x="4706700" y="77178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7"/>
          <p:cNvSpPr/>
          <p:nvPr/>
        </p:nvSpPr>
        <p:spPr>
          <a:xfrm>
            <a:off x="4706700" y="6498600"/>
            <a:ext cx="247800" cy="254100"/>
          </a:xfrm>
          <a:prstGeom prst="bracketPair">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7"/>
          <p:cNvSpPr txBox="1"/>
          <p:nvPr/>
        </p:nvSpPr>
        <p:spPr>
          <a:xfrm>
            <a:off x="607125" y="1479775"/>
            <a:ext cx="5650800" cy="12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1" lang="en-US" sz="1300" u="none" cap="none" strike="noStrike">
                <a:solidFill>
                  <a:schemeClr val="dk1"/>
                </a:solidFill>
                <a:latin typeface="Calibri"/>
                <a:ea typeface="Calibri"/>
                <a:cs typeface="Calibri"/>
                <a:sym typeface="Calibri"/>
              </a:rPr>
              <a:t>Based on Steps 1 &amp; 2, determine which set of recommendations to pursue. Place an “X” in the box where the Area Existing Need Score (Step 1 Score) and the Existing Infrastructure Score (Step 2 Score) meet. Then, attempt to integrate each recommendation in the corresponding column during Step 3 Analysis. </a:t>
            </a:r>
            <a:endParaRPr b="0" i="1"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1" lang="en-US" sz="1300" u="none" cap="none" strike="noStrike">
                <a:solidFill>
                  <a:schemeClr val="dk1"/>
                </a:solidFill>
                <a:latin typeface="Calibri"/>
                <a:ea typeface="Calibri"/>
                <a:cs typeface="Calibri"/>
                <a:sym typeface="Calibri"/>
              </a:rPr>
              <a:t>Note: Not every infrastructure recommendation is appropriate for every project. If specific infrastructure is not appropriate, explain why in the “N/A” column</a:t>
            </a:r>
            <a:endParaRPr b="0" i="0" sz="1500" u="none" cap="none" strike="noStrike">
              <a:solidFill>
                <a:schemeClr val="dk1"/>
              </a:solidFill>
              <a:latin typeface="Arial"/>
              <a:ea typeface="Arial"/>
              <a:cs typeface="Arial"/>
              <a:sym typeface="Arial"/>
            </a:endParaRPr>
          </a:p>
        </p:txBody>
      </p:sp>
      <p:sp>
        <p:nvSpPr>
          <p:cNvPr id="440" name="Google Shape;440;p2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graphicFrame>
        <p:nvGraphicFramePr>
          <p:cNvPr id="445" name="Google Shape;445;p6"/>
          <p:cNvGraphicFramePr/>
          <p:nvPr/>
        </p:nvGraphicFramePr>
        <p:xfrm>
          <a:off x="188159" y="576330"/>
          <a:ext cx="3000000" cy="3000000"/>
        </p:xfrm>
        <a:graphic>
          <a:graphicData uri="http://schemas.openxmlformats.org/drawingml/2006/table">
            <a:tbl>
              <a:tblPr bandRow="1" firstRow="1">
                <a:noFill/>
                <a:tableStyleId>{DA7E6E65-D877-46FA-B78E-C062FE7EB15C}</a:tableStyleId>
              </a:tblPr>
              <a:tblGrid>
                <a:gridCol w="1217300"/>
                <a:gridCol w="1229575"/>
                <a:gridCol w="1307700"/>
                <a:gridCol w="1583000"/>
                <a:gridCol w="1122525"/>
              </a:tblGrid>
              <a:tr h="9232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extLst>
                            <a:ext uri="http://customooxmlschemas.google.com/">
                              <go:slidesCustomData xmlns:go="http://customooxmlschemas.google.com/" textRoundtripDataId="2"/>
                            </a:ext>
                          </a:extLst>
                        </a:rPr>
                        <a:t>Category </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Good for health promotion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Better for health promotion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Best for health promotion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N/A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i="1" lang="en-US" sz="1100" u="none" cap="none" strike="noStrike"/>
                        <a:t>(If a rec is not selected, explain &amp; document why it is not appropriate</a:t>
                      </a:r>
                      <a:r>
                        <a:rPr lang="en-US" sz="1100" u="none" cap="none" strike="noStrike"/>
                        <a:t>)</a:t>
                      </a:r>
                      <a:endParaRPr sz="1200" u="none" cap="none" strike="noStrike"/>
                    </a:p>
                  </a:txBody>
                  <a:tcPr marT="45725" marB="45725" marR="91450" marL="91450"/>
                </a:tc>
              </a:tr>
              <a:tr h="4467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Speed limit</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3</a:t>
                      </a:r>
                      <a:r>
                        <a:rPr lang="en-US" sz="1200" u="none" cap="none" strike="noStrike">
                          <a:extLst>
                            <a:ext uri="http://customooxmlschemas.google.com/">
                              <go:slidesCustomData xmlns:go="http://customooxmlschemas.google.com/" textRoundtripDataId="3"/>
                            </a:ext>
                          </a:extLst>
                        </a:rPr>
                        <a:t>5 mph</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30 mph</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25 mph</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r h="32644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Traffic calming</a:t>
                      </a:r>
                      <a:endParaRPr b="1" sz="12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US" sz="1200" u="none" cap="none" strike="noStrike"/>
                        <a:t>Reduce lane widths </a:t>
                      </a:r>
                      <a:r>
                        <a:rPr lang="en-US" sz="1200" u="none" cap="none" strike="noStrike">
                          <a:solidFill>
                            <a:schemeClr val="dk1"/>
                          </a:solidFill>
                        </a:rPr>
                        <a:t>with centerlines, edge lines or other pavement markings</a:t>
                      </a:r>
                      <a:endParaRPr sz="12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Reduce lane widths with raised center medians to discourage passing in two-way turn lanes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Install painted curb extensions at crosswalks.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Install painted chicanes with lane delineators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Reduce lane widths and/or reduce number of lanes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raised center medians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raised curb extensions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curb extensions and chicanes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extLst>
                            <a:ext uri="http://customooxmlschemas.google.com/">
                              <go:slidesCustomData xmlns:go="http://customooxmlschemas.google.com/" textRoundtripDataId="4"/>
                            </a:ext>
                          </a:extLst>
                        </a:rPr>
                        <a:t>Install speed warning </a:t>
                      </a:r>
                      <a:r>
                        <a:rPr lang="en-US" sz="1200" u="none" cap="none" strike="noStrike"/>
                        <a:t>flashing beacons.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r h="32644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Sidewalks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Ensure minimum 4-ft clear width in sidewalk.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Repair trip hazards. </a:t>
                      </a:r>
                      <a:br>
                        <a:rPr lang="en-US" sz="1200" u="none" cap="none" strike="noStrike">
                          <a:solidFill>
                            <a:schemeClr val="dk1"/>
                          </a:solidFill>
                        </a:rPr>
                      </a:b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Verify sidewalks and ramp transitions are PROWAG compliant.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Ensure minimum 5-ft clear width in sidewalk.</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Repair trip hazards.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Verify sidewalks and ramp transitions are PROWAG compliant.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detached sidewalks.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wide sidewalks, preferably 10-ft min.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Repair trip hazards.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Verify sidewalks and ramp transitions are PROWAG compliant.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detached sidewalks with parklets.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bl>
          </a:graphicData>
        </a:graphic>
      </p:graphicFrame>
      <p:sp>
        <p:nvSpPr>
          <p:cNvPr id="446" name="Google Shape;446;p6"/>
          <p:cNvSpPr/>
          <p:nvPr/>
        </p:nvSpPr>
        <p:spPr>
          <a:xfrm>
            <a:off x="104850" y="0"/>
            <a:ext cx="66483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447" name="Google Shape;447;p6"/>
          <p:cNvSpPr/>
          <p:nvPr/>
        </p:nvSpPr>
        <p:spPr>
          <a:xfrm>
            <a:off x="1343890" y="593405"/>
            <a:ext cx="5325951" cy="1138413"/>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aphicFrame>
        <p:nvGraphicFramePr>
          <p:cNvPr id="453" name="Google Shape;453;p7"/>
          <p:cNvGraphicFramePr/>
          <p:nvPr/>
        </p:nvGraphicFramePr>
        <p:xfrm>
          <a:off x="147419" y="647161"/>
          <a:ext cx="3000000" cy="3000000"/>
        </p:xfrm>
        <a:graphic>
          <a:graphicData uri="http://schemas.openxmlformats.org/drawingml/2006/table">
            <a:tbl>
              <a:tblPr bandRow="1" firstRow="1">
                <a:noFill/>
                <a:tableStyleId>{DA7E6E65-D877-46FA-B78E-C062FE7EB15C}</a:tableStyleId>
              </a:tblPr>
              <a:tblGrid>
                <a:gridCol w="891675"/>
                <a:gridCol w="1355775"/>
                <a:gridCol w="1497875"/>
                <a:gridCol w="1957450"/>
                <a:gridCol w="871300"/>
              </a:tblGrid>
              <a:tr h="1423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Category</a:t>
                      </a:r>
                      <a:endParaRPr sz="1200" u="none" cap="none" strike="noStrike"/>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Good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Better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Best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N/A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i="1" lang="en-US" sz="1000" u="none" cap="none" strike="noStrike"/>
                        <a:t>(If a rec is not selected, explain  &amp; document why it is not appropriate</a:t>
                      </a:r>
                      <a:r>
                        <a:rPr lang="en-US" sz="1000" u="none" cap="none" strike="noStrike"/>
                        <a:t>)</a:t>
                      </a:r>
                      <a:endParaRPr sz="1050" u="none" cap="none" strike="noStrike"/>
                    </a:p>
                  </a:txBody>
                  <a:tcPr marT="45725" marB="45725" marR="91450" marL="91450">
                    <a:lnL cap="flat" cmpd="sng" w="12700">
                      <a:solidFill>
                        <a:schemeClr val="lt1"/>
                      </a:solidFill>
                      <a:prstDash val="solid"/>
                      <a:round/>
                      <a:headEnd len="sm" w="sm" type="none"/>
                      <a:tailEnd len="sm" w="sm" type="none"/>
                    </a:lnL>
                  </a:tcP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1"/>
                          </a:solidFill>
                          <a:extLst>
                            <a:ext uri="http://customooxmlschemas.google.com/">
                              <go:slidesCustomData xmlns:go="http://customooxmlschemas.google.com/" textRoundtripDataId="5"/>
                            </a:ext>
                          </a:extLst>
                        </a:rPr>
                        <a:t>Crosswalks </a:t>
                      </a:r>
                      <a:r>
                        <a:rPr b="1" lang="en-US" sz="1200" u="none" cap="none" strike="noStrike">
                          <a:solidFill>
                            <a:schemeClr val="dk1"/>
                          </a:solidFill>
                        </a:rPr>
                        <a:t>&amp;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chemeClr val="dk1"/>
                          </a:solidFill>
                        </a:rPr>
                        <a:t>signalized Intersections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latin typeface="Calibri"/>
                          <a:ea typeface="Calibri"/>
                          <a:cs typeface="Calibri"/>
                          <a:sym typeface="Calibri"/>
                        </a:rPr>
                        <a:t>Install crosswalk markings, warning signs and yield markings. </a:t>
                      </a:r>
                      <a:endParaRPr sz="1400" u="none" cap="none" strike="noStrike"/>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latin typeface="Calibri"/>
                          <a:ea typeface="Calibri"/>
                          <a:cs typeface="Calibri"/>
                          <a:sym typeface="Calibri"/>
                        </a:rPr>
                        <a:t>Install PROWAG- compliant sidewalk ramps and push buttons.</a:t>
                      </a:r>
                      <a:endParaRPr sz="1400" u="none" cap="none" strike="noStrike"/>
                    </a:p>
                    <a:p>
                      <a:pPr indent="0" lvl="0" marL="0" marR="0" rtl="0" algn="l">
                        <a:lnSpc>
                          <a:spcPct val="100000"/>
                        </a:lnSpc>
                        <a:spcBef>
                          <a:spcPts val="0"/>
                        </a:spcBef>
                        <a:spcAft>
                          <a:spcPts val="0"/>
                        </a:spcAft>
                        <a:buClr>
                          <a:schemeClr val="dk1"/>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lang="en-US" sz="1200" u="none" cap="none" strike="noStrike">
                          <a:solidFill>
                            <a:schemeClr val="dk1"/>
                          </a:solidFill>
                          <a:latin typeface="Calibri"/>
                          <a:ea typeface="Calibri"/>
                          <a:cs typeface="Calibri"/>
                          <a:sym typeface="Calibri"/>
                        </a:rPr>
                        <a:t>Install audible messages at signalized crosswalks and use ped crossing speed of 3.5 ft per second.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crosswalk markings, warning signs, and yield markings.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PROWAG-compliant directional sidewalk ramps and push buttons.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6"/>
                            </a:ext>
                          </a:extLst>
                        </a:rPr>
                        <a:t>Provide PROWAG- compliant directional </a:t>
                      </a:r>
                      <a:r>
                        <a:rPr lang="en-US" sz="1200" u="none" cap="none" strike="noStrike">
                          <a:extLst>
                            <a:ext uri="http://customooxmlschemas.google.com/">
                              <go:slidesCustomData xmlns:go="http://customooxmlschemas.google.com/" textRoundtripDataId="7"/>
                            </a:ext>
                          </a:extLst>
                        </a:rPr>
                        <a:t>sidewalk</a:t>
                      </a: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8"/>
                            </a:ext>
                          </a:extLst>
                        </a:rPr>
                        <a:t> Ramps.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9"/>
                            </a:ext>
                          </a:extLst>
                        </a:rPr>
                        <a:t>Install pedestrian activated flash</a:t>
                      </a:r>
                      <a:r>
                        <a:rPr lang="en-US" sz="1200" u="none" cap="none" strike="noStrike">
                          <a:extLst>
                            <a:ext uri="http://customooxmlschemas.google.com/">
                              <go:slidesCustomData xmlns:go="http://customooxmlschemas.google.com/" textRoundtripDataId="10"/>
                            </a:ext>
                          </a:extLst>
                        </a:rPr>
                        <a:t>ing beacons</a:t>
                      </a: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11"/>
                            </a:ext>
                          </a:extLst>
                        </a:rPr>
                        <a:t>.</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Calibri"/>
                          <a:ea typeface="Calibri"/>
                          <a:cs typeface="Calibri"/>
                          <a:sym typeface="Calibri"/>
                        </a:rPr>
                        <a:t>Install median refuge.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Calibri"/>
                          <a:ea typeface="Calibri"/>
                          <a:cs typeface="Calibri"/>
                          <a:sym typeface="Calibri"/>
                        </a:rPr>
                        <a:t>Install painted curb extensions.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Calibri"/>
                          <a:ea typeface="Calibri"/>
                          <a:cs typeface="Calibri"/>
                          <a:sym typeface="Calibri"/>
                        </a:rPr>
                        <a:t>Improve lighting at sidewalk ramp and through crosswalks.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leading ped interval.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No Right on Red during ped peak hours.   </a:t>
                      </a:r>
                      <a:endParaRPr sz="14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pedestrian activated (sensors) flashers or signals.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Provide PROWAG compliant directional SW Ramps.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advanced warning flashers.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Shorten crossing distance by installing curb extensions.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median refuge with Danish offset at mid-block crosswalks.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pedestrian guide fencing to discourage jaywalking.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leading ped interval.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Reduce walking speed to </a:t>
                      </a:r>
                      <a:r>
                        <a:rPr lang="en-US" sz="1200" u="none" cap="none" strike="noStrike"/>
                        <a:t>3 ft</a:t>
                      </a:r>
                      <a:r>
                        <a:rPr lang="en-US" sz="1200" u="none" cap="none" strike="noStrike">
                          <a:solidFill>
                            <a:schemeClr val="dk1"/>
                          </a:solidFill>
                          <a:latin typeface="Calibri"/>
                          <a:ea typeface="Calibri"/>
                          <a:cs typeface="Calibri"/>
                          <a:sym typeface="Calibri"/>
                        </a:rPr>
                        <a:t>/sec at locations with high numbers of seniors or people with disabilities.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No Right on red.</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Eliminate permissive left-turns during pedestrian peak hours.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12"/>
                            </a:ext>
                          </a:extLst>
                        </a:rPr>
                        <a:t>Install signal timing to utilize exclusive pedestrian phase.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shade structures on corners. </a:t>
                      </a:r>
                      <a:endParaRPr sz="14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bl>
          </a:graphicData>
        </a:graphic>
      </p:graphicFrame>
      <p:sp>
        <p:nvSpPr>
          <p:cNvPr id="454" name="Google Shape;454;p7"/>
          <p:cNvSpPr/>
          <p:nvPr/>
        </p:nvSpPr>
        <p:spPr>
          <a:xfrm>
            <a:off x="188150" y="63100"/>
            <a:ext cx="65742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455" name="Google Shape;455;p7"/>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graphicFrame>
        <p:nvGraphicFramePr>
          <p:cNvPr id="460" name="Google Shape;460;p8"/>
          <p:cNvGraphicFramePr/>
          <p:nvPr/>
        </p:nvGraphicFramePr>
        <p:xfrm>
          <a:off x="188159" y="1030580"/>
          <a:ext cx="3000000" cy="3000000"/>
        </p:xfrm>
        <a:graphic>
          <a:graphicData uri="http://schemas.openxmlformats.org/drawingml/2006/table">
            <a:tbl>
              <a:tblPr bandRow="1" firstRow="1">
                <a:noFill/>
                <a:tableStyleId>{DA7E6E65-D877-46FA-B78E-C062FE7EB15C}</a:tableStyleId>
              </a:tblPr>
              <a:tblGrid>
                <a:gridCol w="1217300"/>
                <a:gridCol w="1388525"/>
                <a:gridCol w="1349250"/>
                <a:gridCol w="1532400"/>
                <a:gridCol w="972625"/>
              </a:tblGrid>
              <a:tr h="9538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Category</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Good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Better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Best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N/A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i="1" lang="en-US" sz="1000" u="none" cap="none" strike="noStrike"/>
                        <a:t>(If a rec is not selected, explain &amp; document why it is not appropriate</a:t>
                      </a:r>
                      <a:r>
                        <a:rPr lang="en-US" sz="1000" u="none" cap="none" strike="noStrike"/>
                        <a:t>)</a:t>
                      </a:r>
                      <a:endParaRPr sz="1050" u="none" cap="none" strike="noStrike"/>
                    </a:p>
                  </a:txBody>
                  <a:tcPr marT="45725" marB="45725" marR="91450" marL="91450">
                    <a:lnL cap="flat" cmpd="sng" w="12700">
                      <a:solidFill>
                        <a:schemeClr val="lt1"/>
                      </a:solidFill>
                      <a:prstDash val="solid"/>
                      <a:round/>
                      <a:headEnd len="sm" w="sm" type="none"/>
                      <a:tailEnd len="sm" w="sm" type="none"/>
                    </a:lnL>
                  </a:tcPr>
                </a:tc>
              </a:tr>
              <a:tr h="6019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Bicycle improvements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exclusive bike lanes with applicable signs and markings.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extLst>
                            <a:ext uri="http://customooxmlschemas.google.com/">
                              <go:slidesCustomData xmlns:go="http://customooxmlschemas.google.com/" textRoundtripDataId="13"/>
                            </a:ext>
                          </a:extLst>
                        </a:rPr>
                        <a:t>Install bike racks near commercial businesses. </a:t>
                      </a:r>
                      <a:endParaRPr sz="14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buffered bike lanes with applicable signs and markings.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Add green bike legend panels.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14"/>
                            </a:ext>
                          </a:extLst>
                        </a:rPr>
                        <a:t>Install bike boxes at intersections using paint or other materials.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bike racks near commercial businesses.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rPr lang="en-US" sz="1200" u="none" cap="none" strike="noStrike"/>
                        <a:t>Consider whether it is possible to extend bike improvements to connect to pre-existing bike infrastructure</a:t>
                      </a:r>
                      <a:endParaRPr sz="14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protected bike lanes with raised barrier and/or physical delineators/posts.</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green bike lane markings through transitions or conflict locations.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bike signals and bike detectors at signalized intersections.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a:t>
                      </a:r>
                      <a:r>
                        <a:rPr lang="en-US" sz="1200" u="none" cap="none" strike="noStrike"/>
                        <a:t>wayfinding</a:t>
                      </a:r>
                      <a:r>
                        <a:rPr lang="en-US" sz="1200" u="none" cap="none" strike="noStrike">
                          <a:solidFill>
                            <a:schemeClr val="dk1"/>
                          </a:solidFill>
                        </a:rPr>
                        <a:t> signs.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bike lockers near transit stops or commercial hubs.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t>Consider whether it is possible to extend bike improvements to connect to pre-existing bike infrastructure</a:t>
                      </a:r>
                      <a:endParaRPr sz="14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45725" marB="45725" marR="91450" marL="91450"/>
                </a:tc>
              </a:tr>
            </a:tbl>
          </a:graphicData>
        </a:graphic>
      </p:graphicFrame>
      <p:sp>
        <p:nvSpPr>
          <p:cNvPr id="461" name="Google Shape;461;p8"/>
          <p:cNvSpPr/>
          <p:nvPr/>
        </p:nvSpPr>
        <p:spPr>
          <a:xfrm>
            <a:off x="188150" y="80050"/>
            <a:ext cx="65625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462" name="Google Shape;462;p8"/>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graphicFrame>
        <p:nvGraphicFramePr>
          <p:cNvPr id="467" name="Google Shape;467;p9"/>
          <p:cNvGraphicFramePr/>
          <p:nvPr/>
        </p:nvGraphicFramePr>
        <p:xfrm>
          <a:off x="160449" y="531848"/>
          <a:ext cx="3000000" cy="3000000"/>
        </p:xfrm>
        <a:graphic>
          <a:graphicData uri="http://schemas.openxmlformats.org/drawingml/2006/table">
            <a:tbl>
              <a:tblPr bandRow="1" firstRow="1">
                <a:noFill/>
                <a:tableStyleId>{DA7E6E65-D877-46FA-B78E-C062FE7EB15C}</a:tableStyleId>
              </a:tblPr>
              <a:tblGrid>
                <a:gridCol w="1072600"/>
                <a:gridCol w="1343900"/>
                <a:gridCol w="1482425"/>
                <a:gridCol w="1662550"/>
                <a:gridCol w="1012675"/>
              </a:tblGrid>
              <a:tr h="117067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Category</a:t>
                      </a:r>
                      <a:endParaRPr sz="1200" u="none" cap="none" strike="noStrike"/>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Good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Better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Best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N/A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i="1" lang="en-US" sz="1000" u="none" cap="none" strike="noStrike"/>
                        <a:t>(If a rec is not selected, explain &amp; document why it is not appropriate</a:t>
                      </a:r>
                      <a:r>
                        <a:rPr lang="en-US" sz="1000" u="none" cap="none" strike="noStrike"/>
                        <a:t>)</a:t>
                      </a:r>
                      <a:endParaRPr sz="1050" u="none" cap="none" strike="noStrike"/>
                    </a:p>
                  </a:txBody>
                  <a:tcPr marT="45725" marB="45725" marR="91450" marL="91450">
                    <a:lnL cap="flat" cmpd="sng" w="12700">
                      <a:solidFill>
                        <a:schemeClr val="lt1"/>
                      </a:solidFill>
                      <a:prstDash val="solid"/>
                      <a:round/>
                      <a:headEnd len="sm" w="sm" type="none"/>
                      <a:tailEnd len="sm" w="sm" type="none"/>
                    </a:lnL>
                  </a:tcPr>
                </a:tc>
              </a:tr>
              <a:tr h="28054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Access Management</a:t>
                      </a:r>
                      <a:endParaRPr sz="1400" u="none" cap="none" strike="noStrike"/>
                    </a:p>
                  </a:txBody>
                  <a:tcPr marT="45725" marB="45725" marR="91450" marL="91450"/>
                </a:tc>
                <a:tc>
                  <a:txBody>
                    <a:bodyPr/>
                    <a:lstStyle/>
                    <a:p>
                      <a:pPr indent="0" lvl="0" marL="0" marR="0" rtl="0" algn="l">
                        <a:lnSpc>
                          <a:spcPct val="115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Reduce the number of driveways and increase driveway spacing. </a:t>
                      </a:r>
                      <a:endParaRPr sz="1400" u="none" cap="none" strike="noStrike"/>
                    </a:p>
                  </a:txBody>
                  <a:tcPr marT="63500" marB="63500" marR="63500" marL="63500">
                    <a:lnT cap="flat" cmpd="sng" w="38100">
                      <a:solidFill>
                        <a:schemeClr val="lt1"/>
                      </a:solidFill>
                      <a:prstDash val="solid"/>
                      <a:round/>
                      <a:headEnd len="sm" w="sm" type="none"/>
                      <a:tailEnd len="sm" w="sm" type="none"/>
                    </a:lnT>
                  </a:tcPr>
                </a:tc>
                <a:tc>
                  <a:txBody>
                    <a:bodyPr/>
                    <a:lstStyle/>
                    <a:p>
                      <a:pPr indent="0" lvl="0" marL="0" marR="0" rtl="0" algn="l">
                        <a:lnSpc>
                          <a:spcPct val="115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raised center medians to define vehicle ingress and egress locations and turning movements.  </a:t>
                      </a:r>
                      <a:endParaRPr sz="1400" u="none" cap="none" strike="noStrike"/>
                    </a:p>
                    <a:p>
                      <a:pPr indent="0" lvl="0" marL="0" marR="0" rtl="0" algn="l">
                        <a:lnSpc>
                          <a:spcPct val="115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Upgrade ramps at driveways to PROWAG.</a:t>
                      </a:r>
                      <a:endParaRPr sz="1400" u="none" cap="none" strike="noStrike"/>
                    </a:p>
                  </a:txBody>
                  <a:tcPr marT="63500" marB="63500" marR="63500" marL="63500">
                    <a:lnT cap="flat" cmpd="sng" w="38100">
                      <a:solidFill>
                        <a:schemeClr val="lt1"/>
                      </a:solidFill>
                      <a:prstDash val="solid"/>
                      <a:round/>
                      <a:headEnd len="sm" w="sm" type="none"/>
                      <a:tailEnd len="sm" w="sm" type="none"/>
                    </a:lnT>
                  </a:tcPr>
                </a:tc>
                <a:tc>
                  <a:txBody>
                    <a:bodyPr/>
                    <a:lstStyle/>
                    <a:p>
                      <a:pPr indent="0" lvl="0" marL="0" marR="0" rtl="0" algn="l">
                        <a:lnSpc>
                          <a:spcPct val="115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Reduce driveway radius to slow drivers and improve pedestrian visibility.  </a:t>
                      </a:r>
                      <a:endParaRPr sz="1400" u="none" cap="none" strike="noStrike"/>
                    </a:p>
                    <a:p>
                      <a:pPr indent="0" lvl="0" marL="0" marR="0" rtl="0" algn="l">
                        <a:lnSpc>
                          <a:spcPct val="115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Upgrade ramps at driveways to PROWAG.</a:t>
                      </a:r>
                      <a:endParaRPr sz="1400" u="none" cap="none" strike="noStrike"/>
                    </a:p>
                    <a:p>
                      <a:pPr indent="0" lvl="0" marL="0" marR="0" rtl="0" algn="l">
                        <a:lnSpc>
                          <a:spcPct val="115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Require commercial businesses owners to acquire cross-access agreements and share driveways and parking.    </a:t>
                      </a:r>
                      <a:endParaRPr sz="1400" u="none" cap="none" strike="noStrike"/>
                    </a:p>
                  </a:txBody>
                  <a:tcPr marT="63500" marB="63500" marR="63500" marL="6350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45725" marB="45725" marR="91450" marL="91450"/>
                </a:tc>
              </a:tr>
              <a:tr h="44125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Visibility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Remove all walls, shrubs, trees, and signs out of sight lines.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t>Install lighting to meet minimum intersection light levels, per Clark County Uniform Standard Drawing (AUSD) 300.S3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Remove all walls, shrubs, trees, and signs out of sight lines.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Ensure that all utilities are out of sight lines. </a:t>
                      </a:r>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t>Meet sidewalk illumination light levels of 0.2 FC minimum average along sidewalk</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Calibri"/>
                          <a:ea typeface="Calibri"/>
                          <a:cs typeface="Calibri"/>
                          <a:sym typeface="Calibri"/>
                        </a:rPr>
                        <a:t>Meet minimum </a:t>
                      </a: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15"/>
                            </a:ext>
                          </a:extLst>
                        </a:rPr>
                        <a:t>pedestrian illuminance level of 2.0 FC minimum average on corners and through enti</a:t>
                      </a:r>
                      <a:r>
                        <a:rPr lang="en-US" sz="1200" u="none" cap="none" strike="noStrike">
                          <a:solidFill>
                            <a:schemeClr val="dk1"/>
                          </a:solidFill>
                          <a:latin typeface="Calibri"/>
                          <a:ea typeface="Calibri"/>
                          <a:cs typeface="Calibri"/>
                          <a:sym typeface="Calibri"/>
                        </a:rPr>
                        <a:t>re crosswalk.</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Remove all walls, shrubs, trees, and signs out of sight lines.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rPr>
                        <a:t>Ensure that all utilities are out of sight lines. </a:t>
                      </a:r>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lang="en-US" sz="1200" u="none" cap="none" strike="noStrike"/>
                        <a:t>Meet high sidewalk illumination light levels of 0.2 FC along sidewalk</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Meet highest pedestrian illuminance levels of 3.4 </a:t>
                      </a:r>
                      <a:r>
                        <a:rPr lang="en-US" sz="1200" u="none" cap="none" strike="noStrike">
                          <a:solidFill>
                            <a:schemeClr val="dk1"/>
                          </a:solidFill>
                          <a:latin typeface="Calibri"/>
                          <a:ea typeface="Calibri"/>
                          <a:cs typeface="Calibri"/>
                          <a:sym typeface="Calibri"/>
                          <a:extLst>
                            <a:ext uri="http://customooxmlschemas.google.com/">
                              <go:slidesCustomData xmlns:go="http://customooxmlschemas.google.com/" textRoundtripDataId="16"/>
                            </a:ext>
                          </a:extLst>
                        </a:rPr>
                        <a:t>FC</a:t>
                      </a:r>
                      <a:r>
                        <a:rPr lang="en-US" sz="1200" u="none" cap="none" strike="noStrike">
                          <a:solidFill>
                            <a:schemeClr val="dk1"/>
                          </a:solidFill>
                          <a:latin typeface="Calibri"/>
                          <a:ea typeface="Calibri"/>
                          <a:cs typeface="Calibri"/>
                          <a:sym typeface="Calibri"/>
                        </a:rPr>
                        <a:t> minimum average on corners and through entire crosswalk.</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txBody>
                  <a:tcPr marT="45725" marB="45725" marR="91450" marL="91450"/>
                </a:tc>
              </a:tr>
            </a:tbl>
          </a:graphicData>
        </a:graphic>
      </p:graphicFrame>
      <p:sp>
        <p:nvSpPr>
          <p:cNvPr id="468" name="Google Shape;468;p9"/>
          <p:cNvSpPr/>
          <p:nvPr/>
        </p:nvSpPr>
        <p:spPr>
          <a:xfrm>
            <a:off x="148822" y="-24530"/>
            <a:ext cx="66135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469" name="Google Shape;469;p9"/>
          <p:cNvSpPr txBox="1"/>
          <p:nvPr>
            <p:ph idx="11" type="ftr"/>
          </p:nvPr>
        </p:nvSpPr>
        <p:spPr>
          <a:xfrm>
            <a:off x="2343150" y="8475135"/>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graphicFrame>
        <p:nvGraphicFramePr>
          <p:cNvPr id="474" name="Google Shape;474;p10"/>
          <p:cNvGraphicFramePr/>
          <p:nvPr/>
        </p:nvGraphicFramePr>
        <p:xfrm>
          <a:off x="94434" y="648708"/>
          <a:ext cx="3000000" cy="3000000"/>
        </p:xfrm>
        <a:graphic>
          <a:graphicData uri="http://schemas.openxmlformats.org/drawingml/2006/table">
            <a:tbl>
              <a:tblPr bandRow="1" firstRow="1">
                <a:noFill/>
                <a:tableStyleId>{DA7E6E65-D877-46FA-B78E-C062FE7EB15C}</a:tableStyleId>
              </a:tblPr>
              <a:tblGrid>
                <a:gridCol w="1016600"/>
                <a:gridCol w="1366675"/>
                <a:gridCol w="1474850"/>
                <a:gridCol w="1924575"/>
                <a:gridCol w="853825"/>
              </a:tblGrid>
              <a:tr h="3708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Category</a:t>
                      </a:r>
                      <a:endParaRPr sz="1200" u="none" cap="none" strike="noStrike"/>
                    </a:p>
                  </a:txBody>
                  <a:tcPr marT="45725" marB="45725" marR="91450" marL="91450">
                    <a:lnR cap="flat" cmpd="sng" w="12700">
                      <a:solidFill>
                        <a:schemeClr val="lt1"/>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Good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Better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Best for health promotion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N/A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i="1" lang="en-US" sz="1000" u="none" cap="none" strike="noStrike"/>
                        <a:t>(If a rec is not selected, explain &amp; document why it is not appropriate</a:t>
                      </a:r>
                      <a:r>
                        <a:rPr lang="en-US" sz="1000" u="none" cap="none" strike="noStrike"/>
                        <a:t>)</a:t>
                      </a:r>
                      <a:endParaRPr sz="1050" u="none" cap="none" strike="noStrike"/>
                    </a:p>
                  </a:txBody>
                  <a:tcPr marT="45725" marB="45725" marR="91450" marL="91450">
                    <a:lnL cap="flat" cmpd="sng" w="12700">
                      <a:solidFill>
                        <a:schemeClr val="lt1"/>
                      </a:solidFill>
                      <a:prstDash val="solid"/>
                      <a:round/>
                      <a:headEnd len="sm" w="sm" type="none"/>
                      <a:tailEnd len="sm" w="sm" type="none"/>
                    </a:lnL>
                  </a:tcP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Bicycle &amp; pedestrian connectivity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Evaluate project vicinity to nearby pedestrian att</a:t>
                      </a:r>
                      <a:r>
                        <a:rPr lang="en-US" sz="1200" u="none" cap="none" strike="noStrike">
                          <a:solidFill>
                            <a:schemeClr val="dk1"/>
                          </a:solidFill>
                          <a:extLst>
                            <a:ext uri="http://customooxmlschemas.google.com/">
                              <go:slidesCustomData xmlns:go="http://customooxmlschemas.google.com/" textRoundtripDataId="17"/>
                            </a:ext>
                          </a:extLst>
                        </a:rPr>
                        <a:t>ractors (parks, retail, schools, trails) and install interim </a:t>
                      </a:r>
                      <a:r>
                        <a:rPr lang="en-US" sz="1200" u="none" cap="none" strike="noStrike">
                          <a:extLst>
                            <a:ext uri="http://customooxmlschemas.google.com/">
                              <go:slidesCustomData xmlns:go="http://customooxmlschemas.google.com/" textRoundtripDataId="18"/>
                            </a:ext>
                          </a:extLst>
                        </a:rPr>
                        <a:t>asphalt concrete</a:t>
                      </a:r>
                      <a:r>
                        <a:rPr lang="en-US" sz="1200" u="none" cap="none" strike="noStrike">
                          <a:solidFill>
                            <a:schemeClr val="dk1"/>
                          </a:solidFill>
                          <a:extLst>
                            <a:ext uri="http://customooxmlschemas.google.com/">
                              <go:slidesCustomData xmlns:go="http://customooxmlschemas.google.com/" textRoundtripDataId="19"/>
                            </a:ext>
                          </a:extLst>
                        </a:rPr>
                        <a:t> path(s) connections</a:t>
                      </a:r>
                      <a:r>
                        <a:rPr lang="en-US" sz="1200" u="none" cap="none" strike="noStrike">
                          <a:solidFill>
                            <a:schemeClr val="dk1"/>
                          </a:solidFill>
                        </a:rPr>
                        <a:t> to corners or existing improvements.    </a:t>
                      </a:r>
                      <a:endParaRPr sz="1400" u="none" cap="none" strike="noStrike"/>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Evaluate project vicinity to nearby pedestrian attractors and install crosswalks, warning signs, sidewalk ramps and AC paths for connectivity.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shaded bus shelters behind sidewalk.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Minimize or eliminate adjacent </a:t>
                      </a:r>
                      <a:r>
                        <a:rPr lang="en-US" sz="1200" u="none" cap="none" strike="noStrike"/>
                        <a:t>sawtooths</a:t>
                      </a:r>
                      <a:r>
                        <a:rPr lang="en-US" sz="1200" u="none" cap="none" strike="noStrike">
                          <a:solidFill>
                            <a:schemeClr val="dk1"/>
                          </a:solidFill>
                          <a:latin typeface="Calibri"/>
                          <a:ea typeface="Calibri"/>
                          <a:cs typeface="Calibri"/>
                          <a:sym typeface="Calibri"/>
                        </a:rPr>
                        <a:t> beyond project boundary.</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Evaluate projects vicinity to nearby pedestrian attractors,</a:t>
                      </a:r>
                      <a:r>
                        <a:rPr lang="en-US" sz="1200" u="none" cap="none" strike="noStrike">
                          <a:solidFill>
                            <a:schemeClr val="dk1"/>
                          </a:solidFill>
                        </a:rPr>
                        <a:t> install interim crosswalks and AC paths accordingly,</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chemeClr val="dk1"/>
                          </a:solidFill>
                          <a:latin typeface="Calibri"/>
                          <a:ea typeface="Calibri"/>
                          <a:cs typeface="Calibri"/>
                          <a:sym typeface="Calibri"/>
                        </a:rPr>
                        <a:t> and install permanent improvements, curb, gutter, sidewalk, streetlights, and provide connections to existing bike and pedestrian infrastructure.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shaded bus shelters behind sidewalk.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Fill missing sidewalk gaps with permanent sidewalk and lighting improvements.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t>Consider the possibility of installing permanent improvements beyond project boundary to eliminate sawtooths</a:t>
                      </a:r>
                      <a:r>
                        <a:rPr lang="en-US" sz="1200" u="none" cap="none" strike="noStrike">
                          <a:solidFill>
                            <a:schemeClr val="dk1"/>
                          </a:solidFill>
                          <a:latin typeface="Calibri"/>
                          <a:ea typeface="Calibri"/>
                          <a:cs typeface="Calibri"/>
                          <a:sym typeface="Calibri"/>
                        </a:rPr>
                        <a:t>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latin typeface="Calibri"/>
                        <a:ea typeface="Calibri"/>
                        <a:cs typeface="Calibri"/>
                        <a:sym typeface="Calibri"/>
                      </a:endParaRPr>
                    </a:p>
                  </a:txBody>
                  <a:tcPr marT="45725" marB="45725" marR="91450" marL="91450">
                    <a:lnT cap="flat" cmpd="sng" w="38100">
                      <a:solidFill>
                        <a:schemeClr val="lt1"/>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Aesthetics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Install shade trees.</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t>Install </a:t>
                      </a:r>
                      <a:r>
                        <a:rPr lang="en-US" sz="1200" u="none" cap="none" strike="noStrike">
                          <a:solidFill>
                            <a:schemeClr val="dk1"/>
                          </a:solidFill>
                        </a:rPr>
                        <a:t>shade trees.  </a:t>
                      </a:r>
                      <a:endParaRPr sz="1400" u="none" cap="none" strike="noStrike"/>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p>
                    <a:p>
                      <a:pPr indent="0" lvl="0" marL="0" marR="0" rtl="0" algn="l">
                        <a:lnSpc>
                          <a:spcPct val="100000"/>
                        </a:lnSpc>
                        <a:spcBef>
                          <a:spcPts val="0"/>
                        </a:spcBef>
                        <a:spcAft>
                          <a:spcPts val="0"/>
                        </a:spcAft>
                        <a:buClr>
                          <a:schemeClr val="dk1"/>
                        </a:buClr>
                        <a:buSzPts val="1200"/>
                        <a:buFont typeface="Calibri"/>
                        <a:buNone/>
                      </a:pPr>
                      <a:r>
                        <a:rPr lang="en-US" sz="1200" u="none" cap="none" strike="noStrike"/>
                        <a:t>Install active wayfinding signage/maps.</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rPr>
                        <a:t>Install regularly spaced shade trees, and park benches.</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t>Install active wayfinding signage/maps.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t/>
                      </a:r>
                      <a:endParaRPr sz="1200" u="none" cap="none" strike="noStrike">
                        <a:solidFill>
                          <a:schemeClr val="dk1"/>
                        </a:solidFill>
                      </a:endParaRPr>
                    </a:p>
                    <a:p>
                      <a:pPr indent="0" lvl="0" marL="0" marR="0" rtl="0" algn="l">
                        <a:lnSpc>
                          <a:spcPct val="100000"/>
                        </a:lnSpc>
                        <a:spcBef>
                          <a:spcPts val="0"/>
                        </a:spcBef>
                        <a:spcAft>
                          <a:spcPts val="0"/>
                        </a:spcAft>
                        <a:buClr>
                          <a:schemeClr val="dk1"/>
                        </a:buClr>
                        <a:buSzPts val="1200"/>
                        <a:buFont typeface="Calibri"/>
                        <a:buNone/>
                      </a:pPr>
                      <a:r>
                        <a:rPr lang="en-US" sz="1200" u="none" cap="none" strike="noStrike">
                          <a:solidFill>
                            <a:schemeClr val="dk1"/>
                          </a:solidFill>
                          <a:latin typeface="Calibri"/>
                          <a:ea typeface="Calibri"/>
                          <a:cs typeface="Calibri"/>
                          <a:sym typeface="Calibri"/>
                        </a:rPr>
                        <a:t>Install decorative crosswalks.</a:t>
                      </a:r>
                      <a:endParaRPr sz="1200" u="none" cap="none" strike="noStrike">
                        <a:solidFill>
                          <a:schemeClr val="dk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bl>
          </a:graphicData>
        </a:graphic>
      </p:graphicFrame>
      <p:sp>
        <p:nvSpPr>
          <p:cNvPr id="475" name="Google Shape;475;p10"/>
          <p:cNvSpPr/>
          <p:nvPr/>
        </p:nvSpPr>
        <p:spPr>
          <a:xfrm>
            <a:off x="188150" y="3225"/>
            <a:ext cx="6562500" cy="58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00000"/>
                </a:solidFill>
                <a:latin typeface="Calibri"/>
                <a:ea typeface="Calibri"/>
                <a:cs typeface="Calibri"/>
                <a:sym typeface="Calibri"/>
              </a:rPr>
              <a:t>Step 3: Select proposed infrastructure</a:t>
            </a:r>
            <a:endParaRPr b="0" i="0" sz="1400" u="none" cap="none" strike="noStrike">
              <a:solidFill>
                <a:srgbClr val="000000"/>
              </a:solidFill>
              <a:latin typeface="Arial"/>
              <a:ea typeface="Arial"/>
              <a:cs typeface="Arial"/>
              <a:sym typeface="Arial"/>
            </a:endParaRPr>
          </a:p>
        </p:txBody>
      </p:sp>
      <p:sp>
        <p:nvSpPr>
          <p:cNvPr id="476" name="Google Shape;476;p10"/>
          <p:cNvSpPr txBox="1"/>
          <p:nvPr>
            <p:ph idx="11" type="ftr"/>
          </p:nvPr>
        </p:nvSpPr>
        <p:spPr>
          <a:xfrm>
            <a:off x="2161847" y="8786898"/>
            <a:ext cx="2171700" cy="48683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V9B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2019-07-16T14:43:04Z</dcterms:created>
  <dc:creator>Max Gakh</dc:creator>
</cp:coreProperties>
</file>